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6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Cumulative (₹ Cr)</c:v>
                </c:pt>
              </c:strCache>
            </c:strRef>
          </c:tx>
          <c:spPr>
            <a:solidFill>
              <a:srgbClr val="0D9488"/>
            </a:solidFill>
            <a:effectLst/>
          </c:spPr>
          <c:invertIfNegative val="0"/>
          <c:dLbls>
            <c:numFmt formatCode="#,##0" sourceLinked="0"/>
            <c:spPr>
              <a:noFill/>
              <a:ln>
                <a:noFill/>
              </a:ln>
              <a:effectLst/>
            </c:spPr>
            <c:txPr>
              <a:bodyPr/>
              <a:lstStyle/>
              <a:p>
                <a:pPr>
                  <a:defRPr sz="650" b="0" i="0" u="none" strike="noStrike">
                    <a:solidFill>
                      <a:srgbClr val="33415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Mar-23</c:v>
                </c:pt>
                <c:pt idx="1">
                  <c:v>Jun-23</c:v>
                </c:pt>
                <c:pt idx="2">
                  <c:v>Sep-23</c:v>
                </c:pt>
                <c:pt idx="3">
                  <c:v>Dec-23</c:v>
                </c:pt>
                <c:pt idx="4">
                  <c:v>Mar-24</c:v>
                </c:pt>
                <c:pt idx="5">
                  <c:v>Jun-24</c:v>
                </c:pt>
                <c:pt idx="6">
                  <c:v>Sep-24</c:v>
                </c:pt>
                <c:pt idx="7">
                  <c:v>Dec-24</c:v>
                </c:pt>
                <c:pt idx="8">
                  <c:v>Mar-25</c:v>
                </c:pt>
                <c:pt idx="9">
                  <c:v>Jun-25</c:v>
                </c:pt>
                <c:pt idx="10">
                  <c:v>Sep-25</c:v>
                </c:pt>
                <c:pt idx="11">
                  <c:v>Dec-25</c:v>
                </c:pt>
                <c:pt idx="12">
                  <c:v>Mar-26</c:v>
                </c:pt>
                <c:pt idx="13">
                  <c:v>Jun-26</c:v>
                </c:pt>
              </c:strCache>
            </c:strRef>
          </c:cat>
          <c:val>
            <c:numRef>
              <c:f>Sheet1!$B$2:$B$15</c:f>
              <c:numCache>
                <c:formatCode>General</c:formatCode>
                <c:ptCount val="14"/>
                <c:pt idx="0">
                  <c:v>80</c:v>
                </c:pt>
                <c:pt idx="1">
                  <c:v>99</c:v>
                </c:pt>
                <c:pt idx="2">
                  <c:v>118</c:v>
                </c:pt>
                <c:pt idx="3">
                  <c:v>164</c:v>
                </c:pt>
                <c:pt idx="4">
                  <c:v>469</c:v>
                </c:pt>
                <c:pt idx="5">
                  <c:v>823</c:v>
                </c:pt>
                <c:pt idx="6">
                  <c:v>1285</c:v>
                </c:pt>
                <c:pt idx="7">
                  <c:v>1792</c:v>
                </c:pt>
                <c:pt idx="8">
                  <c:v>2399</c:v>
                </c:pt>
                <c:pt idx="9">
                  <c:v>2999</c:v>
                </c:pt>
                <c:pt idx="10">
                  <c:v>3680</c:v>
                </c:pt>
                <c:pt idx="11">
                  <c:v>4374</c:v>
                </c:pt>
                <c:pt idx="12">
                  <c:v>5065</c:v>
                </c:pt>
                <c:pt idx="13">
                  <c:v>5701</c:v>
                </c:pt>
              </c:numCache>
            </c:numRef>
          </c:val>
          <c:extLst>
            <c:ext xmlns:c16="http://schemas.microsoft.com/office/drawing/2014/chart" uri="{C3380CC4-5D6E-409C-BE32-E72D297353CC}">
              <c16:uniqueId val="{00000000-0A97-4478-817E-08FC4F07CE2C}"/>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6400"/>
        </c:scaling>
        <c:delete val="0"/>
        <c:axPos val="l"/>
        <c:majorGridlines>
          <c:spPr>
            <a:ln w="9525" cap="flat">
              <a:solidFill>
                <a:srgbClr val="E5EA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8262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640080" y="640080"/>
            <a:ext cx="7315200" cy="274320"/>
          </a:xfrm>
          <a:prstGeom prst="rect">
            <a:avLst/>
          </a:prstGeom>
          <a:noFill/>
          <a:ln/>
        </p:spPr>
        <p:txBody>
          <a:bodyPr wrap="square" rtlCol="0" anchor="ctr"/>
          <a:lstStyle/>
          <a:p>
            <a:pPr marL="0" indent="0">
              <a:buNone/>
            </a:pPr>
            <a:r>
              <a:rPr lang="en-US" sz="1000" b="1" kern="0" spc="200" dirty="0">
                <a:solidFill>
                  <a:srgbClr val="0D9488"/>
                </a:solidFill>
              </a:rPr>
              <a:t>PROPOSAL  ·  STRICTLY CONFIDENTIAL</a:t>
            </a:r>
            <a:endParaRPr lang="en-US" sz="1000" dirty="0"/>
          </a:p>
        </p:txBody>
      </p:sp>
      <p:sp>
        <p:nvSpPr>
          <p:cNvPr id="3" name="Text 1"/>
          <p:cNvSpPr/>
          <p:nvPr/>
        </p:nvSpPr>
        <p:spPr>
          <a:xfrm>
            <a:off x="640080" y="1143000"/>
            <a:ext cx="9735954" cy="1463040"/>
          </a:xfrm>
          <a:prstGeom prst="rect">
            <a:avLst/>
          </a:prstGeom>
          <a:noFill/>
          <a:ln/>
        </p:spPr>
        <p:txBody>
          <a:bodyPr wrap="square" rtlCol="0" anchor="ctr"/>
          <a:lstStyle/>
          <a:p>
            <a:pPr marL="0" indent="0">
              <a:lnSpc>
                <a:spcPts val="4400"/>
              </a:lnSpc>
              <a:buNone/>
            </a:pPr>
            <a:r>
              <a:rPr lang="en-US" sz="3800" b="1" dirty="0">
                <a:solidFill>
                  <a:srgbClr val="FFFFFF"/>
                </a:solidFill>
              </a:rPr>
              <a:t>Flow : Rental &amp; Freight</a:t>
            </a:r>
            <a:endParaRPr lang="en-US" sz="3800" dirty="0"/>
          </a:p>
          <a:p>
            <a:pPr marL="0" indent="0">
              <a:lnSpc>
                <a:spcPts val="4400"/>
              </a:lnSpc>
              <a:buNone/>
            </a:pPr>
            <a:r>
              <a:rPr lang="en-US" sz="3800" b="1" dirty="0">
                <a:solidFill>
                  <a:srgbClr val="FFFFFF"/>
                </a:solidFill>
              </a:rPr>
              <a:t>Invoice Automation</a:t>
            </a:r>
            <a:endParaRPr lang="en-US" sz="3800" dirty="0"/>
          </a:p>
        </p:txBody>
      </p:sp>
      <p:sp>
        <p:nvSpPr>
          <p:cNvPr id="4" name="Text 2"/>
          <p:cNvSpPr/>
          <p:nvPr/>
        </p:nvSpPr>
        <p:spPr>
          <a:xfrm>
            <a:off x="640080" y="2743200"/>
            <a:ext cx="7863840" cy="731520"/>
          </a:xfrm>
          <a:prstGeom prst="rect">
            <a:avLst/>
          </a:prstGeom>
          <a:noFill/>
          <a:ln/>
        </p:spPr>
        <p:txBody>
          <a:bodyPr wrap="square" rtlCol="0" anchor="ctr"/>
          <a:lstStyle/>
          <a:p>
            <a:pPr marL="0" indent="0">
              <a:lnSpc>
                <a:spcPts val="2000"/>
              </a:lnSpc>
              <a:buNone/>
            </a:pPr>
            <a:r>
              <a:rPr lang="en-US" sz="1300" dirty="0">
                <a:solidFill>
                  <a:srgbClr val="A8C5DA"/>
                </a:solidFill>
              </a:rPr>
              <a:t>Agreement-governed invoice processing for BigBasket — from landlord bill to Oracle Fusion posting, with maker-checker control at every step.</a:t>
            </a:r>
            <a:endParaRPr lang="en-US" sz="1300" dirty="0"/>
          </a:p>
        </p:txBody>
      </p:sp>
      <p:sp>
        <p:nvSpPr>
          <p:cNvPr id="5" name="Text 3"/>
          <p:cNvSpPr/>
          <p:nvPr/>
        </p:nvSpPr>
        <p:spPr>
          <a:xfrm>
            <a:off x="640080" y="3886200"/>
            <a:ext cx="2560320" cy="548640"/>
          </a:xfrm>
          <a:prstGeom prst="rect">
            <a:avLst/>
          </a:prstGeom>
          <a:noFill/>
          <a:ln/>
        </p:spPr>
        <p:txBody>
          <a:bodyPr wrap="square" rtlCol="0" anchor="ctr"/>
          <a:lstStyle/>
          <a:p>
            <a:pPr marL="0" indent="0">
              <a:buNone/>
            </a:pPr>
            <a:r>
              <a:rPr lang="en-US" sz="3000" b="1" dirty="0">
                <a:solidFill>
                  <a:srgbClr val="0D9488"/>
                </a:solidFill>
              </a:rPr>
              <a:t>3,300</a:t>
            </a:r>
            <a:endParaRPr lang="en-US" sz="3000" dirty="0"/>
          </a:p>
        </p:txBody>
      </p:sp>
      <p:sp>
        <p:nvSpPr>
          <p:cNvPr id="6" name="Text 4"/>
          <p:cNvSpPr/>
          <p:nvPr/>
        </p:nvSpPr>
        <p:spPr>
          <a:xfrm>
            <a:off x="640080" y="4434840"/>
            <a:ext cx="2560320" cy="457200"/>
          </a:xfrm>
          <a:prstGeom prst="rect">
            <a:avLst/>
          </a:prstGeom>
          <a:noFill/>
          <a:ln/>
        </p:spPr>
        <p:txBody>
          <a:bodyPr wrap="square" rtlCol="0" anchor="ctr"/>
          <a:lstStyle/>
          <a:p>
            <a:pPr marL="0" indent="0">
              <a:buNone/>
            </a:pPr>
            <a:r>
              <a:rPr lang="en-US" sz="950" dirty="0">
                <a:solidFill>
                  <a:srgbClr val="A8C5DA"/>
                </a:solidFill>
              </a:rPr>
              <a:t>Bills Automated / Month</a:t>
            </a:r>
            <a:endParaRPr lang="en-US" sz="950" dirty="0"/>
          </a:p>
        </p:txBody>
      </p:sp>
      <p:sp>
        <p:nvSpPr>
          <p:cNvPr id="7" name="Text 5"/>
          <p:cNvSpPr/>
          <p:nvPr/>
        </p:nvSpPr>
        <p:spPr>
          <a:xfrm>
            <a:off x="3429000" y="3886200"/>
            <a:ext cx="2560320" cy="548640"/>
          </a:xfrm>
          <a:prstGeom prst="rect">
            <a:avLst/>
          </a:prstGeom>
          <a:noFill/>
          <a:ln/>
        </p:spPr>
        <p:txBody>
          <a:bodyPr wrap="square" rtlCol="0" anchor="ctr"/>
          <a:lstStyle/>
          <a:p>
            <a:pPr marL="0" indent="0">
              <a:buNone/>
            </a:pPr>
            <a:r>
              <a:rPr lang="en-US" sz="3000" b="1" dirty="0">
                <a:solidFill>
                  <a:srgbClr val="0D9488"/>
                </a:solidFill>
              </a:rPr>
              <a:t>1,500</a:t>
            </a:r>
            <a:endParaRPr lang="en-US" sz="3000" dirty="0"/>
          </a:p>
        </p:txBody>
      </p:sp>
      <p:sp>
        <p:nvSpPr>
          <p:cNvPr id="8" name="Text 6"/>
          <p:cNvSpPr/>
          <p:nvPr/>
        </p:nvSpPr>
        <p:spPr>
          <a:xfrm>
            <a:off x="3429000" y="4434840"/>
            <a:ext cx="2560320" cy="457200"/>
          </a:xfrm>
          <a:prstGeom prst="rect">
            <a:avLst/>
          </a:prstGeom>
          <a:noFill/>
          <a:ln/>
        </p:spPr>
        <p:txBody>
          <a:bodyPr wrap="square" rtlCol="0" anchor="ctr"/>
          <a:lstStyle/>
          <a:p>
            <a:pPr marL="0" indent="0">
              <a:buNone/>
            </a:pPr>
            <a:r>
              <a:rPr lang="en-US" sz="950" dirty="0">
                <a:solidFill>
                  <a:srgbClr val="A8C5DA"/>
                </a:solidFill>
              </a:rPr>
              <a:t>Rental Locations Governed</a:t>
            </a:r>
            <a:endParaRPr lang="en-US" sz="950" dirty="0"/>
          </a:p>
        </p:txBody>
      </p:sp>
      <p:sp>
        <p:nvSpPr>
          <p:cNvPr id="9" name="Text 7"/>
          <p:cNvSpPr/>
          <p:nvPr/>
        </p:nvSpPr>
        <p:spPr>
          <a:xfrm>
            <a:off x="6217920" y="3886200"/>
            <a:ext cx="2560320" cy="548640"/>
          </a:xfrm>
          <a:prstGeom prst="rect">
            <a:avLst/>
          </a:prstGeom>
          <a:noFill/>
          <a:ln/>
        </p:spPr>
        <p:txBody>
          <a:bodyPr wrap="square" rtlCol="0" anchor="ctr"/>
          <a:lstStyle/>
          <a:p>
            <a:pPr marL="0" indent="0">
              <a:buNone/>
            </a:pPr>
            <a:r>
              <a:rPr lang="en-US" sz="3000" b="1" dirty="0">
                <a:solidFill>
                  <a:srgbClr val="0D9488"/>
                </a:solidFill>
              </a:rPr>
              <a:t>100%</a:t>
            </a:r>
            <a:endParaRPr lang="en-US" sz="3000" dirty="0"/>
          </a:p>
        </p:txBody>
      </p:sp>
      <p:sp>
        <p:nvSpPr>
          <p:cNvPr id="10" name="Text 8"/>
          <p:cNvSpPr/>
          <p:nvPr/>
        </p:nvSpPr>
        <p:spPr>
          <a:xfrm>
            <a:off x="6217920" y="4434840"/>
            <a:ext cx="2560320" cy="457200"/>
          </a:xfrm>
          <a:prstGeom prst="rect">
            <a:avLst/>
          </a:prstGeom>
          <a:noFill/>
          <a:ln/>
        </p:spPr>
        <p:txBody>
          <a:bodyPr wrap="square" rtlCol="0" anchor="ctr"/>
          <a:lstStyle/>
          <a:p>
            <a:pPr marL="0" indent="0">
              <a:buNone/>
            </a:pPr>
            <a:r>
              <a:rPr lang="en-US" sz="950" dirty="0">
                <a:solidFill>
                  <a:srgbClr val="A8C5DA"/>
                </a:solidFill>
              </a:rPr>
              <a:t>Agreement-Matched</a:t>
            </a:r>
            <a:endParaRPr lang="en-US" sz="950" dirty="0"/>
          </a:p>
        </p:txBody>
      </p:sp>
      <p:sp>
        <p:nvSpPr>
          <p:cNvPr id="11" name="Text 9"/>
          <p:cNvSpPr/>
          <p:nvPr/>
        </p:nvSpPr>
        <p:spPr>
          <a:xfrm>
            <a:off x="9006840" y="3886200"/>
            <a:ext cx="2560320" cy="548640"/>
          </a:xfrm>
          <a:prstGeom prst="rect">
            <a:avLst/>
          </a:prstGeom>
          <a:noFill/>
          <a:ln/>
        </p:spPr>
        <p:txBody>
          <a:bodyPr wrap="square" rtlCol="0" anchor="ctr"/>
          <a:lstStyle/>
          <a:p>
            <a:pPr marL="0" indent="0">
              <a:buNone/>
            </a:pPr>
            <a:r>
              <a:rPr lang="en-US" sz="3000" b="1" dirty="0">
                <a:solidFill>
                  <a:srgbClr val="0D9488"/>
                </a:solidFill>
              </a:rPr>
              <a:t>Zero</a:t>
            </a:r>
            <a:endParaRPr lang="en-US" sz="3000" dirty="0"/>
          </a:p>
        </p:txBody>
      </p:sp>
      <p:sp>
        <p:nvSpPr>
          <p:cNvPr id="12" name="Text 10"/>
          <p:cNvSpPr/>
          <p:nvPr/>
        </p:nvSpPr>
        <p:spPr>
          <a:xfrm>
            <a:off x="9006840" y="4434840"/>
            <a:ext cx="2560320" cy="457200"/>
          </a:xfrm>
          <a:prstGeom prst="rect">
            <a:avLst/>
          </a:prstGeom>
          <a:noFill/>
          <a:ln/>
        </p:spPr>
        <p:txBody>
          <a:bodyPr wrap="square" rtlCol="0" anchor="ctr"/>
          <a:lstStyle/>
          <a:p>
            <a:pPr marL="0" indent="0">
              <a:buNone/>
            </a:pPr>
            <a:r>
              <a:rPr lang="en-US" sz="950" dirty="0">
                <a:solidFill>
                  <a:srgbClr val="A8C5DA"/>
                </a:solidFill>
              </a:rPr>
              <a:t>ERP Team Effort at Go-Live</a:t>
            </a:r>
            <a:endParaRPr lang="en-US" sz="950" dirty="0"/>
          </a:p>
        </p:txBody>
      </p:sp>
      <p:sp>
        <p:nvSpPr>
          <p:cNvPr id="13" name="Shape 11"/>
          <p:cNvSpPr/>
          <p:nvPr/>
        </p:nvSpPr>
        <p:spPr>
          <a:xfrm>
            <a:off x="640080" y="5257800"/>
            <a:ext cx="10881360" cy="0"/>
          </a:xfrm>
          <a:prstGeom prst="line">
            <a:avLst/>
          </a:prstGeom>
          <a:noFill/>
          <a:ln w="12700">
            <a:solidFill>
              <a:srgbClr val="1A5276"/>
            </a:solidFill>
            <a:prstDash val="solid"/>
          </a:ln>
        </p:spPr>
      </p:sp>
      <p:sp>
        <p:nvSpPr>
          <p:cNvPr id="14" name="Text 12"/>
          <p:cNvSpPr/>
          <p:nvPr/>
        </p:nvSpPr>
        <p:spPr>
          <a:xfrm>
            <a:off x="640080" y="5440680"/>
            <a:ext cx="10881360" cy="274320"/>
          </a:xfrm>
          <a:prstGeom prst="rect">
            <a:avLst/>
          </a:prstGeom>
          <a:noFill/>
          <a:ln/>
        </p:spPr>
        <p:txBody>
          <a:bodyPr wrap="square" rtlCol="0" anchor="ctr"/>
          <a:lstStyle/>
          <a:p>
            <a:pPr marL="0" indent="0">
              <a:buNone/>
            </a:pPr>
            <a:r>
              <a:rPr lang="en-US" sz="900" b="1" kern="0" spc="100" dirty="0">
                <a:solidFill>
                  <a:srgbClr val="0D9488"/>
                </a:solidFill>
              </a:rPr>
              <a:t>NOT A SCANNING TOOL  ·  A CONTRACT-TO-PAYMENT CONTROL PLATFORM  ·  8-WEEK DEPLOYMENT</a:t>
            </a:r>
            <a:endParaRPr lang="en-US" sz="900" dirty="0"/>
          </a:p>
        </p:txBody>
      </p:sp>
      <p:sp>
        <p:nvSpPr>
          <p:cNvPr id="15" name="Text 13"/>
          <p:cNvSpPr/>
          <p:nvPr/>
        </p:nvSpPr>
        <p:spPr>
          <a:xfrm>
            <a:off x="640080" y="6309360"/>
            <a:ext cx="10881360" cy="274320"/>
          </a:xfrm>
          <a:prstGeom prst="rect">
            <a:avLst/>
          </a:prstGeom>
          <a:noFill/>
          <a:ln/>
        </p:spPr>
        <p:txBody>
          <a:bodyPr wrap="square" rtlCol="0" anchor="ctr"/>
          <a:lstStyle/>
          <a:p>
            <a:pPr marL="0" indent="0">
              <a:buNone/>
            </a:pPr>
            <a:r>
              <a:rPr lang="en-US" sz="850" dirty="0">
                <a:solidFill>
                  <a:srgbClr val="64748B"/>
                </a:solidFill>
              </a:rPr>
              <a:t>billiontech.ai  ·  Prepared for Mr. Pranam R P  ·  July 2026</a:t>
            </a:r>
            <a:endParaRPr lang="en-US" sz="850" dirty="0"/>
          </a:p>
        </p:txBody>
      </p:sp>
      <p:pic>
        <p:nvPicPr>
          <p:cNvPr id="16" name="Picture 15">
            <a:extLst>
              <a:ext uri="{FF2B5EF4-FFF2-40B4-BE49-F238E27FC236}">
                <a16:creationId xmlns:a16="http://schemas.microsoft.com/office/drawing/2014/main" id="{8424385E-2A7E-7CA5-F692-56141A15E520}"/>
              </a:ext>
            </a:extLst>
          </p:cNvPr>
          <p:cNvPicPr>
            <a:picLocks noChangeAspect="1"/>
          </p:cNvPicPr>
          <p:nvPr/>
        </p:nvPicPr>
        <p:blipFill>
          <a:blip r:embed="rId3"/>
          <a:stretch>
            <a:fillRect/>
          </a:stretch>
        </p:blipFill>
        <p:spPr>
          <a:xfrm>
            <a:off x="676175" y="128887"/>
            <a:ext cx="2016493" cy="35670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B"/>
        </a:solidFill>
        <a:effectLst/>
      </p:bgPr>
    </p:bg>
    <p:spTree>
      <p:nvGrpSpPr>
        <p:cNvPr id="1" name=""/>
        <p:cNvGrpSpPr/>
        <p:nvPr/>
      </p:nvGrpSpPr>
      <p:grpSpPr>
        <a:xfrm>
          <a:off x="0" y="0"/>
          <a:ext cx="0" cy="0"/>
          <a:chOff x="0" y="0"/>
          <a:chExt cx="0" cy="0"/>
        </a:xfrm>
      </p:grpSpPr>
      <p:sp>
        <p:nvSpPr>
          <p:cNvPr id="2" name="Text 0"/>
          <p:cNvSpPr/>
          <p:nvPr/>
        </p:nvSpPr>
        <p:spPr>
          <a:xfrm>
            <a:off x="502920" y="347472"/>
            <a:ext cx="11155680" cy="411480"/>
          </a:xfrm>
          <a:prstGeom prst="rect">
            <a:avLst/>
          </a:prstGeom>
          <a:noFill/>
          <a:ln/>
        </p:spPr>
        <p:txBody>
          <a:bodyPr wrap="square" rtlCol="0" anchor="ctr"/>
          <a:lstStyle/>
          <a:p>
            <a:pPr marL="0" indent="0">
              <a:buNone/>
            </a:pPr>
            <a:r>
              <a:rPr lang="en-US" sz="2300" b="1" dirty="0">
                <a:solidFill>
                  <a:srgbClr val="0D1B2A"/>
                </a:solidFill>
              </a:rPr>
              <a:t>Understanding the Requirement  |  What We Heard From You</a:t>
            </a:r>
            <a:endParaRPr lang="en-US" sz="2300" dirty="0"/>
          </a:p>
        </p:txBody>
      </p:sp>
      <p:sp>
        <p:nvSpPr>
          <p:cNvPr id="3" name="Text 1"/>
          <p:cNvSpPr/>
          <p:nvPr/>
        </p:nvSpPr>
        <p:spPr>
          <a:xfrm>
            <a:off x="502920" y="786384"/>
            <a:ext cx="11155680" cy="384048"/>
          </a:xfrm>
          <a:prstGeom prst="rect">
            <a:avLst/>
          </a:prstGeom>
          <a:noFill/>
          <a:ln/>
        </p:spPr>
        <p:txBody>
          <a:bodyPr wrap="square" rtlCol="0" anchor="ctr"/>
          <a:lstStyle/>
          <a:p>
            <a:pPr marL="0" indent="0">
              <a:buNone/>
            </a:pPr>
            <a:r>
              <a:rPr lang="en-US" sz="1150" dirty="0">
                <a:solidFill>
                  <a:srgbClr val="64748B"/>
                </a:solidFill>
              </a:rPr>
              <a:t>Two high-volume, agreement-governed payables streams — each with its own capture problem, its own verification burden, and its own control requirement.</a:t>
            </a:r>
            <a:endParaRPr lang="en-US" sz="1150" dirty="0"/>
          </a:p>
        </p:txBody>
      </p:sp>
      <p:sp>
        <p:nvSpPr>
          <p:cNvPr id="4" name="Shape 2"/>
          <p:cNvSpPr/>
          <p:nvPr/>
        </p:nvSpPr>
        <p:spPr>
          <a:xfrm>
            <a:off x="502920" y="1371600"/>
            <a:ext cx="5486400" cy="2880360"/>
          </a:xfrm>
          <a:prstGeom prst="roundRect">
            <a:avLst>
              <a:gd name="adj" fmla="val 1905"/>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5" name="Text 3"/>
          <p:cNvSpPr/>
          <p:nvPr/>
        </p:nvSpPr>
        <p:spPr>
          <a:xfrm>
            <a:off x="777240" y="1554480"/>
            <a:ext cx="2926080" cy="274320"/>
          </a:xfrm>
          <a:prstGeom prst="rect">
            <a:avLst/>
          </a:prstGeom>
          <a:noFill/>
          <a:ln/>
        </p:spPr>
        <p:txBody>
          <a:bodyPr wrap="square" rtlCol="0" anchor="ctr"/>
          <a:lstStyle/>
          <a:p>
            <a:pPr marL="0" indent="0">
              <a:buNone/>
            </a:pPr>
            <a:r>
              <a:rPr lang="en-US" sz="1000" b="1" kern="0" spc="100" dirty="0">
                <a:solidFill>
                  <a:srgbClr val="0D9488"/>
                </a:solidFill>
              </a:rPr>
              <a:t>RENTAL BILLS</a:t>
            </a:r>
            <a:endParaRPr lang="en-US" sz="1000" dirty="0"/>
          </a:p>
        </p:txBody>
      </p:sp>
      <p:sp>
        <p:nvSpPr>
          <p:cNvPr id="6" name="Text 4"/>
          <p:cNvSpPr/>
          <p:nvPr/>
        </p:nvSpPr>
        <p:spPr>
          <a:xfrm>
            <a:off x="3703320" y="1554480"/>
            <a:ext cx="2057400" cy="274320"/>
          </a:xfrm>
          <a:prstGeom prst="rect">
            <a:avLst/>
          </a:prstGeom>
          <a:noFill/>
          <a:ln/>
        </p:spPr>
        <p:txBody>
          <a:bodyPr wrap="square" rtlCol="0" anchor="ctr"/>
          <a:lstStyle/>
          <a:p>
            <a:pPr marL="0" indent="0" algn="r">
              <a:buNone/>
            </a:pPr>
            <a:r>
              <a:rPr lang="en-US" sz="1100" b="1" dirty="0">
                <a:solidFill>
                  <a:srgbClr val="0D1B2A"/>
                </a:solidFill>
              </a:rPr>
              <a:t>1,500 bills / month</a:t>
            </a:r>
            <a:endParaRPr lang="en-US" sz="1100" dirty="0"/>
          </a:p>
        </p:txBody>
      </p:sp>
      <p:sp>
        <p:nvSpPr>
          <p:cNvPr id="7" name="Text 5"/>
          <p:cNvSpPr/>
          <p:nvPr/>
        </p:nvSpPr>
        <p:spPr>
          <a:xfrm>
            <a:off x="777240" y="1965960"/>
            <a:ext cx="4983480" cy="2148840"/>
          </a:xfrm>
          <a:prstGeom prst="rect">
            <a:avLst/>
          </a:prstGeom>
          <a:noFill/>
          <a:ln/>
        </p:spPr>
        <p:txBody>
          <a:bodyPr wrap="square" rtlCol="0" anchor="ctr"/>
          <a:lstStyle/>
          <a:p>
            <a:pPr marL="342900" indent="-342900">
              <a:lnSpc>
                <a:spcPts val="1400"/>
              </a:lnSpc>
              <a:spcAft>
                <a:spcPts val="600"/>
              </a:spcAft>
              <a:buSzPct val="100000"/>
              <a:buChar char="•"/>
            </a:pPr>
            <a:r>
              <a:rPr lang="en-US" sz="1050" dirty="0">
                <a:solidFill>
                  <a:srgbClr val="334155"/>
                </a:solidFill>
              </a:rPr>
              <a:t>~1,500 rental locations, each billing monthly</a:t>
            </a:r>
            <a:endParaRPr lang="en-US" sz="1050" dirty="0"/>
          </a:p>
          <a:p>
            <a:pPr marL="342900" indent="-342900">
              <a:lnSpc>
                <a:spcPts val="1400"/>
              </a:lnSpc>
              <a:spcAft>
                <a:spcPts val="600"/>
              </a:spcAft>
              <a:buSzPct val="100000"/>
              <a:buChar char="•"/>
            </a:pPr>
            <a:r>
              <a:rPr lang="en-US" sz="1050" dirty="0">
                <a:solidFill>
                  <a:srgbClr val="334155"/>
                </a:solidFill>
              </a:rPr>
              <a:t>Landlords submit in different formats and channels — email, PDF, image, hard copy</a:t>
            </a:r>
            <a:endParaRPr lang="en-US" sz="1050" dirty="0"/>
          </a:p>
          <a:p>
            <a:pPr marL="342900" indent="-342900">
              <a:lnSpc>
                <a:spcPts val="1400"/>
              </a:lnSpc>
              <a:spcAft>
                <a:spcPts val="600"/>
              </a:spcAft>
              <a:buSzPct val="100000"/>
              <a:buChar char="•"/>
            </a:pPr>
            <a:r>
              <a:rPr lang="en-US" sz="1050" dirty="0">
                <a:solidFill>
                  <a:srgbClr val="334155"/>
                </a:solidFill>
              </a:rPr>
              <a:t>Every bill must be checked against the rental agreement</a:t>
            </a:r>
            <a:endParaRPr lang="en-US" sz="1050" dirty="0"/>
          </a:p>
          <a:p>
            <a:pPr marL="342900" indent="-342900">
              <a:lnSpc>
                <a:spcPts val="1400"/>
              </a:lnSpc>
              <a:spcAft>
                <a:spcPts val="600"/>
              </a:spcAft>
              <a:buSzPct val="100000"/>
              <a:buChar char="•"/>
            </a:pPr>
            <a:r>
              <a:rPr lang="en-US" sz="1050" dirty="0">
                <a:solidFill>
                  <a:srgbClr val="334155"/>
                </a:solidFill>
              </a:rPr>
              <a:t>Escalation clauses must be applied correctly and on time</a:t>
            </a:r>
            <a:endParaRPr lang="en-US" sz="1050" dirty="0"/>
          </a:p>
          <a:p>
            <a:pPr marL="342900" indent="-342900">
              <a:lnSpc>
                <a:spcPts val="1400"/>
              </a:lnSpc>
              <a:spcAft>
                <a:spcPts val="600"/>
              </a:spcAft>
              <a:buSzPct val="100000"/>
              <a:buChar char="•"/>
            </a:pPr>
            <a:r>
              <a:rPr lang="en-US" sz="1050" dirty="0">
                <a:solidFill>
                  <a:srgbClr val="334155"/>
                </a:solidFill>
              </a:rPr>
              <a:t>Maker verifies · Checker approves — no exceptions</a:t>
            </a:r>
            <a:endParaRPr lang="en-US" sz="1050" dirty="0"/>
          </a:p>
        </p:txBody>
      </p:sp>
      <p:sp>
        <p:nvSpPr>
          <p:cNvPr id="8" name="Shape 6"/>
          <p:cNvSpPr/>
          <p:nvPr/>
        </p:nvSpPr>
        <p:spPr>
          <a:xfrm>
            <a:off x="6172200" y="1371600"/>
            <a:ext cx="5486400" cy="2880360"/>
          </a:xfrm>
          <a:prstGeom prst="roundRect">
            <a:avLst>
              <a:gd name="adj" fmla="val 1905"/>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9" name="Text 7"/>
          <p:cNvSpPr/>
          <p:nvPr/>
        </p:nvSpPr>
        <p:spPr>
          <a:xfrm>
            <a:off x="6446520" y="1554480"/>
            <a:ext cx="2926080" cy="274320"/>
          </a:xfrm>
          <a:prstGeom prst="rect">
            <a:avLst/>
          </a:prstGeom>
          <a:noFill/>
          <a:ln/>
        </p:spPr>
        <p:txBody>
          <a:bodyPr wrap="square" rtlCol="0" anchor="ctr"/>
          <a:lstStyle/>
          <a:p>
            <a:pPr marL="0" indent="0">
              <a:buNone/>
            </a:pPr>
            <a:r>
              <a:rPr lang="en-US" sz="1000" b="1" kern="0" spc="100" dirty="0">
                <a:solidFill>
                  <a:srgbClr val="0D9488"/>
                </a:solidFill>
              </a:rPr>
              <a:t>FREIGHT BILLS</a:t>
            </a:r>
            <a:endParaRPr lang="en-US" sz="1000" dirty="0"/>
          </a:p>
        </p:txBody>
      </p:sp>
      <p:sp>
        <p:nvSpPr>
          <p:cNvPr id="10" name="Text 8"/>
          <p:cNvSpPr/>
          <p:nvPr/>
        </p:nvSpPr>
        <p:spPr>
          <a:xfrm>
            <a:off x="9372600" y="1554480"/>
            <a:ext cx="2057400" cy="274320"/>
          </a:xfrm>
          <a:prstGeom prst="rect">
            <a:avLst/>
          </a:prstGeom>
          <a:noFill/>
          <a:ln/>
        </p:spPr>
        <p:txBody>
          <a:bodyPr wrap="square" rtlCol="0" anchor="ctr"/>
          <a:lstStyle/>
          <a:p>
            <a:pPr marL="0" indent="0" algn="r">
              <a:buNone/>
            </a:pPr>
            <a:r>
              <a:rPr lang="en-US" sz="1100" b="1" dirty="0">
                <a:solidFill>
                  <a:srgbClr val="0D1B2A"/>
                </a:solidFill>
              </a:rPr>
              <a:t>1,800 bills / month</a:t>
            </a:r>
            <a:endParaRPr lang="en-US" sz="1100" dirty="0"/>
          </a:p>
        </p:txBody>
      </p:sp>
      <p:sp>
        <p:nvSpPr>
          <p:cNvPr id="11" name="Text 9"/>
          <p:cNvSpPr/>
          <p:nvPr/>
        </p:nvSpPr>
        <p:spPr>
          <a:xfrm>
            <a:off x="6446520" y="1965960"/>
            <a:ext cx="4983480" cy="2148840"/>
          </a:xfrm>
          <a:prstGeom prst="rect">
            <a:avLst/>
          </a:prstGeom>
          <a:noFill/>
          <a:ln/>
        </p:spPr>
        <p:txBody>
          <a:bodyPr wrap="square" rtlCol="0" anchor="ctr"/>
          <a:lstStyle/>
          <a:p>
            <a:pPr marL="342900" indent="-342900">
              <a:lnSpc>
                <a:spcPts val="1400"/>
              </a:lnSpc>
              <a:spcAft>
                <a:spcPts val="600"/>
              </a:spcAft>
              <a:buSzPct val="100000"/>
              <a:buChar char="•"/>
            </a:pPr>
            <a:r>
              <a:rPr lang="en-US" sz="1050" dirty="0">
                <a:solidFill>
                  <a:srgbClr val="334155"/>
                </a:solidFill>
              </a:rPr>
              <a:t>~1,800 freight invoices monthly across transporters</a:t>
            </a:r>
            <a:endParaRPr lang="en-US" sz="1050" dirty="0"/>
          </a:p>
          <a:p>
            <a:pPr marL="342900" indent="-342900">
              <a:lnSpc>
                <a:spcPts val="1400"/>
              </a:lnSpc>
              <a:spcAft>
                <a:spcPts val="600"/>
              </a:spcAft>
              <a:buSzPct val="100000"/>
              <a:buChar char="•"/>
            </a:pPr>
            <a:r>
              <a:rPr lang="en-US" sz="1050" dirty="0">
                <a:solidFill>
                  <a:srgbClr val="334155"/>
                </a:solidFill>
              </a:rPr>
              <a:t>Multi-channel arrival — email, scanned copy, portal upload</a:t>
            </a:r>
            <a:endParaRPr lang="en-US" sz="1050" dirty="0"/>
          </a:p>
          <a:p>
            <a:pPr marL="342900" indent="-342900">
              <a:lnSpc>
                <a:spcPts val="1400"/>
              </a:lnSpc>
              <a:spcAft>
                <a:spcPts val="600"/>
              </a:spcAft>
              <a:buSzPct val="100000"/>
              <a:buChar char="•"/>
            </a:pPr>
            <a:r>
              <a:rPr lang="en-US" sz="1050" dirty="0">
                <a:solidFill>
                  <a:srgbClr val="334155"/>
                </a:solidFill>
              </a:rPr>
              <a:t>Supporting attachments (LR, POD, weighment) travel with the bill</a:t>
            </a:r>
            <a:endParaRPr lang="en-US" sz="1050" dirty="0"/>
          </a:p>
          <a:p>
            <a:pPr marL="342900" indent="-342900">
              <a:lnSpc>
                <a:spcPts val="1400"/>
              </a:lnSpc>
              <a:spcAft>
                <a:spcPts val="600"/>
              </a:spcAft>
              <a:buSzPct val="100000"/>
              <a:buChar char="•"/>
            </a:pPr>
            <a:r>
              <a:rPr lang="en-US" sz="1050" dirty="0">
                <a:solidFill>
                  <a:srgbClr val="334155"/>
                </a:solidFill>
              </a:rPr>
              <a:t>Rate validation against contracted freight terms</a:t>
            </a:r>
            <a:endParaRPr lang="en-US" sz="1050" dirty="0"/>
          </a:p>
          <a:p>
            <a:pPr marL="342900" indent="-342900">
              <a:lnSpc>
                <a:spcPts val="1400"/>
              </a:lnSpc>
              <a:spcAft>
                <a:spcPts val="600"/>
              </a:spcAft>
              <a:buSzPct val="100000"/>
              <a:buChar char="•"/>
            </a:pPr>
            <a:r>
              <a:rPr lang="en-US" sz="1050" dirty="0">
                <a:solidFill>
                  <a:srgbClr val="334155"/>
                </a:solidFill>
              </a:rPr>
              <a:t>Maker verifies · Checker approves — full audit trail</a:t>
            </a:r>
            <a:endParaRPr lang="en-US" sz="1050" dirty="0"/>
          </a:p>
        </p:txBody>
      </p:sp>
      <p:sp>
        <p:nvSpPr>
          <p:cNvPr id="12" name="Shape 10"/>
          <p:cNvSpPr/>
          <p:nvPr/>
        </p:nvSpPr>
        <p:spPr>
          <a:xfrm>
            <a:off x="502920" y="4434840"/>
            <a:ext cx="11155680" cy="1600200"/>
          </a:xfrm>
          <a:prstGeom prst="roundRect">
            <a:avLst>
              <a:gd name="adj" fmla="val 3429"/>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13" name="Text 11"/>
          <p:cNvSpPr/>
          <p:nvPr/>
        </p:nvSpPr>
        <p:spPr>
          <a:xfrm>
            <a:off x="777240" y="4590288"/>
            <a:ext cx="10607040" cy="274320"/>
          </a:xfrm>
          <a:prstGeom prst="rect">
            <a:avLst/>
          </a:prstGeom>
          <a:noFill/>
          <a:ln/>
        </p:spPr>
        <p:txBody>
          <a:bodyPr wrap="square" rtlCol="0" anchor="ctr"/>
          <a:lstStyle/>
          <a:p>
            <a:pPr marL="0" indent="0">
              <a:buNone/>
            </a:pPr>
            <a:r>
              <a:rPr lang="en-US" sz="950" b="1" kern="0" spc="100" dirty="0">
                <a:solidFill>
                  <a:srgbClr val="0D1B2A"/>
                </a:solidFill>
              </a:rPr>
              <a:t>THE TWO CONSTRAINTS YOU SET — AND HOW THIS PROPOSAL RESPECTS THEM</a:t>
            </a:r>
            <a:endParaRPr lang="en-US" sz="950" dirty="0"/>
          </a:p>
        </p:txBody>
      </p:sp>
      <p:sp>
        <p:nvSpPr>
          <p:cNvPr id="14" name="Shape 12"/>
          <p:cNvSpPr/>
          <p:nvPr/>
        </p:nvSpPr>
        <p:spPr>
          <a:xfrm>
            <a:off x="777240" y="4956048"/>
            <a:ext cx="5212080" cy="914400"/>
          </a:xfrm>
          <a:prstGeom prst="roundRect">
            <a:avLst>
              <a:gd name="adj" fmla="val 5000"/>
            </a:avLst>
          </a:prstGeom>
          <a:solidFill>
            <a:srgbClr val="D1FAF6"/>
          </a:solidFill>
          <a:ln w="12700">
            <a:solidFill>
              <a:srgbClr val="D1FAF6"/>
            </a:solidFill>
            <a:prstDash val="solid"/>
          </a:ln>
        </p:spPr>
      </p:sp>
      <p:sp>
        <p:nvSpPr>
          <p:cNvPr id="15" name="Text 13"/>
          <p:cNvSpPr/>
          <p:nvPr/>
        </p:nvSpPr>
        <p:spPr>
          <a:xfrm>
            <a:off x="960120" y="5047488"/>
            <a:ext cx="4846320" cy="256032"/>
          </a:xfrm>
          <a:prstGeom prst="rect">
            <a:avLst/>
          </a:prstGeom>
          <a:noFill/>
          <a:ln/>
        </p:spPr>
        <p:txBody>
          <a:bodyPr wrap="square" rtlCol="0" anchor="ctr"/>
          <a:lstStyle/>
          <a:p>
            <a:pPr marL="0" indent="0">
              <a:buNone/>
            </a:pPr>
            <a:r>
              <a:rPr lang="en-US" sz="1000" b="1" dirty="0">
                <a:solidFill>
                  <a:srgbClr val="0D1B2A"/>
                </a:solidFill>
              </a:rPr>
              <a:t>Your ERP team is post-go-live and stretched</a:t>
            </a:r>
            <a:endParaRPr lang="en-US" sz="1000" dirty="0"/>
          </a:p>
        </p:txBody>
      </p:sp>
      <p:sp>
        <p:nvSpPr>
          <p:cNvPr id="16" name="Text 14"/>
          <p:cNvSpPr/>
          <p:nvPr/>
        </p:nvSpPr>
        <p:spPr>
          <a:xfrm>
            <a:off x="960120" y="5303520"/>
            <a:ext cx="4846320" cy="502920"/>
          </a:xfrm>
          <a:prstGeom prst="rect">
            <a:avLst/>
          </a:prstGeom>
          <a:noFill/>
          <a:ln/>
        </p:spPr>
        <p:txBody>
          <a:bodyPr wrap="square" rtlCol="0" anchor="ctr"/>
          <a:lstStyle/>
          <a:p>
            <a:pPr marL="0" indent="0">
              <a:lnSpc>
                <a:spcPts val="1200"/>
              </a:lnSpc>
              <a:buNone/>
            </a:pPr>
            <a:r>
              <a:rPr lang="en-US" sz="900" dirty="0">
                <a:solidFill>
                  <a:srgbClr val="334155"/>
                </a:solidFill>
              </a:rPr>
              <a:t>Phase 1 ships with secure file upload / download. Zero Oracle Fusion API work required from your side. API posting activates later, on your timeline.</a:t>
            </a:r>
            <a:endParaRPr lang="en-US" sz="900" dirty="0"/>
          </a:p>
        </p:txBody>
      </p:sp>
      <p:sp>
        <p:nvSpPr>
          <p:cNvPr id="17" name="Shape 15"/>
          <p:cNvSpPr/>
          <p:nvPr/>
        </p:nvSpPr>
        <p:spPr>
          <a:xfrm>
            <a:off x="6263640" y="4956048"/>
            <a:ext cx="5212080" cy="914400"/>
          </a:xfrm>
          <a:prstGeom prst="roundRect">
            <a:avLst>
              <a:gd name="adj" fmla="val 5000"/>
            </a:avLst>
          </a:prstGeom>
          <a:solidFill>
            <a:srgbClr val="D1FAF6"/>
          </a:solidFill>
          <a:ln w="12700">
            <a:solidFill>
              <a:srgbClr val="D1FAF6"/>
            </a:solidFill>
            <a:prstDash val="solid"/>
          </a:ln>
        </p:spPr>
      </p:sp>
      <p:sp>
        <p:nvSpPr>
          <p:cNvPr id="18" name="Text 16"/>
          <p:cNvSpPr/>
          <p:nvPr/>
        </p:nvSpPr>
        <p:spPr>
          <a:xfrm>
            <a:off x="6446520" y="5047488"/>
            <a:ext cx="4846320" cy="256032"/>
          </a:xfrm>
          <a:prstGeom prst="rect">
            <a:avLst/>
          </a:prstGeom>
          <a:noFill/>
          <a:ln/>
        </p:spPr>
        <p:txBody>
          <a:bodyPr wrap="square" rtlCol="0" anchor="ctr"/>
          <a:lstStyle/>
          <a:p>
            <a:pPr marL="0" indent="0">
              <a:buNone/>
            </a:pPr>
            <a:r>
              <a:rPr lang="en-US" sz="1000" b="1" dirty="0">
                <a:solidFill>
                  <a:srgbClr val="0D1B2A"/>
                </a:solidFill>
              </a:rPr>
              <a:t>1,500 agreements must be onboarded fast</a:t>
            </a:r>
            <a:endParaRPr lang="en-US" sz="1000" dirty="0"/>
          </a:p>
        </p:txBody>
      </p:sp>
      <p:sp>
        <p:nvSpPr>
          <p:cNvPr id="19" name="Text 17"/>
          <p:cNvSpPr/>
          <p:nvPr/>
        </p:nvSpPr>
        <p:spPr>
          <a:xfrm>
            <a:off x="6446520" y="5303520"/>
            <a:ext cx="4846320" cy="502920"/>
          </a:xfrm>
          <a:prstGeom prst="rect">
            <a:avLst/>
          </a:prstGeom>
          <a:noFill/>
          <a:ln/>
        </p:spPr>
        <p:txBody>
          <a:bodyPr wrap="square" rtlCol="0" anchor="ctr"/>
          <a:lstStyle/>
          <a:p>
            <a:pPr marL="0" indent="0">
              <a:lnSpc>
                <a:spcPts val="1200"/>
              </a:lnSpc>
              <a:buNone/>
            </a:pPr>
            <a:r>
              <a:rPr lang="en-US" sz="900" dirty="0">
                <a:solidFill>
                  <a:srgbClr val="334155"/>
                </a:solidFill>
              </a:rPr>
              <a:t>Bulk upload of agreement key data via structured template — single or mass. Agreements become the platform's rule engine, not filing cabinet content.</a:t>
            </a:r>
            <a:endParaRPr lang="en-US" sz="900" dirty="0"/>
          </a:p>
        </p:txBody>
      </p:sp>
      <p:sp>
        <p:nvSpPr>
          <p:cNvPr id="20" name="Text 18"/>
          <p:cNvSpPr/>
          <p:nvPr/>
        </p:nvSpPr>
        <p:spPr>
          <a:xfrm>
            <a:off x="502920" y="6419088"/>
            <a:ext cx="11155680" cy="256032"/>
          </a:xfrm>
          <a:prstGeom prst="rect">
            <a:avLst/>
          </a:prstGeom>
          <a:noFill/>
          <a:ln/>
        </p:spPr>
        <p:txBody>
          <a:bodyPr wrap="square" rtlCol="0" anchor="ctr"/>
          <a:lstStyle/>
          <a:p>
            <a:pPr marL="0" indent="0">
              <a:buNone/>
            </a:pPr>
            <a:r>
              <a:rPr lang="en-US" sz="750" dirty="0">
                <a:solidFill>
                  <a:srgbClr val="64748B"/>
                </a:solidFill>
              </a:rPr>
              <a:t>BillionTech  ·  billiontech.ai  ·  Strictly Confidential  ·  Proposal for BigBasket  ·  July 2026</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B"/>
        </a:solidFill>
        <a:effectLst/>
      </p:bgPr>
    </p:bg>
    <p:spTree>
      <p:nvGrpSpPr>
        <p:cNvPr id="1" name=""/>
        <p:cNvGrpSpPr/>
        <p:nvPr/>
      </p:nvGrpSpPr>
      <p:grpSpPr>
        <a:xfrm>
          <a:off x="0" y="0"/>
          <a:ext cx="0" cy="0"/>
          <a:chOff x="0" y="0"/>
          <a:chExt cx="0" cy="0"/>
        </a:xfrm>
      </p:grpSpPr>
      <p:sp>
        <p:nvSpPr>
          <p:cNvPr id="2" name="Text 0"/>
          <p:cNvSpPr/>
          <p:nvPr/>
        </p:nvSpPr>
        <p:spPr>
          <a:xfrm>
            <a:off x="502920" y="347472"/>
            <a:ext cx="11155680" cy="411480"/>
          </a:xfrm>
          <a:prstGeom prst="rect">
            <a:avLst/>
          </a:prstGeom>
          <a:noFill/>
          <a:ln/>
        </p:spPr>
        <p:txBody>
          <a:bodyPr wrap="square" rtlCol="0" anchor="ctr"/>
          <a:lstStyle/>
          <a:p>
            <a:pPr marL="0" indent="0">
              <a:buNone/>
            </a:pPr>
            <a:r>
              <a:rPr lang="en-US" sz="2300" b="1" dirty="0">
                <a:solidFill>
                  <a:srgbClr val="0D1B2A"/>
                </a:solidFill>
              </a:rPr>
              <a:t>This Is Not a Bill-Scanning Platform  |  It Is a Contract-to-Payment Control System</a:t>
            </a:r>
            <a:endParaRPr lang="en-US" sz="2300" dirty="0"/>
          </a:p>
        </p:txBody>
      </p:sp>
      <p:sp>
        <p:nvSpPr>
          <p:cNvPr id="3" name="Text 1"/>
          <p:cNvSpPr/>
          <p:nvPr/>
        </p:nvSpPr>
        <p:spPr>
          <a:xfrm>
            <a:off x="502920" y="786384"/>
            <a:ext cx="11155680" cy="384048"/>
          </a:xfrm>
          <a:prstGeom prst="rect">
            <a:avLst/>
          </a:prstGeom>
          <a:noFill/>
          <a:ln/>
        </p:spPr>
        <p:txBody>
          <a:bodyPr wrap="square" rtlCol="0" anchor="ctr"/>
          <a:lstStyle/>
          <a:p>
            <a:pPr marL="0" indent="0">
              <a:buNone/>
            </a:pPr>
            <a:r>
              <a:rPr lang="en-US" sz="1150" dirty="0">
                <a:solidFill>
                  <a:srgbClr val="64748B"/>
                </a:solidFill>
              </a:rPr>
              <a:t>Capture is the smallest part of what happens. The value sits in what the platform does after the bill arrives — validate it against the contract, enforce segregation of duties, and post only what is provably correct.</a:t>
            </a:r>
            <a:endParaRPr lang="en-US" sz="1150" dirty="0"/>
          </a:p>
        </p:txBody>
      </p:sp>
      <p:sp>
        <p:nvSpPr>
          <p:cNvPr id="4" name="Shape 2"/>
          <p:cNvSpPr/>
          <p:nvPr/>
        </p:nvSpPr>
        <p:spPr>
          <a:xfrm>
            <a:off x="502920" y="1481328"/>
            <a:ext cx="3566160" cy="2121408"/>
          </a:xfrm>
          <a:prstGeom prst="roundRect">
            <a:avLst>
              <a:gd name="adj" fmla="val 2586"/>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5" name="Shape 3"/>
          <p:cNvSpPr/>
          <p:nvPr/>
        </p:nvSpPr>
        <p:spPr>
          <a:xfrm>
            <a:off x="731520" y="1682496"/>
            <a:ext cx="438912" cy="329184"/>
          </a:xfrm>
          <a:prstGeom prst="roundRect">
            <a:avLst>
              <a:gd name="adj" fmla="val 13889"/>
            </a:avLst>
          </a:prstGeom>
          <a:solidFill>
            <a:srgbClr val="0D1B2A"/>
          </a:solidFill>
          <a:ln w="12700">
            <a:solidFill>
              <a:srgbClr val="0D1B2A"/>
            </a:solidFill>
            <a:prstDash val="solid"/>
          </a:ln>
        </p:spPr>
      </p:sp>
      <p:sp>
        <p:nvSpPr>
          <p:cNvPr id="6" name="Text 4"/>
          <p:cNvSpPr/>
          <p:nvPr/>
        </p:nvSpPr>
        <p:spPr>
          <a:xfrm>
            <a:off x="731520" y="1700784"/>
            <a:ext cx="438912" cy="292608"/>
          </a:xfrm>
          <a:prstGeom prst="rect">
            <a:avLst/>
          </a:prstGeom>
          <a:noFill/>
          <a:ln/>
        </p:spPr>
        <p:txBody>
          <a:bodyPr wrap="square" rtlCol="0" anchor="ctr"/>
          <a:lstStyle/>
          <a:p>
            <a:pPr marL="0" indent="0" algn="ctr">
              <a:buNone/>
            </a:pPr>
            <a:r>
              <a:rPr lang="en-US" sz="1100" b="1" dirty="0">
                <a:solidFill>
                  <a:srgbClr val="0D9488"/>
                </a:solidFill>
              </a:rPr>
              <a:t>01</a:t>
            </a:r>
            <a:endParaRPr lang="en-US" sz="1100" dirty="0"/>
          </a:p>
        </p:txBody>
      </p:sp>
      <p:sp>
        <p:nvSpPr>
          <p:cNvPr id="7" name="Text 5"/>
          <p:cNvSpPr/>
          <p:nvPr/>
        </p:nvSpPr>
        <p:spPr>
          <a:xfrm>
            <a:off x="1280160" y="1664208"/>
            <a:ext cx="2606040" cy="384048"/>
          </a:xfrm>
          <a:prstGeom prst="rect">
            <a:avLst/>
          </a:prstGeom>
          <a:noFill/>
          <a:ln/>
        </p:spPr>
        <p:txBody>
          <a:bodyPr wrap="square" rtlCol="0" anchor="ctr"/>
          <a:lstStyle/>
          <a:p>
            <a:pPr marL="0" indent="0">
              <a:buNone/>
            </a:pPr>
            <a:r>
              <a:rPr lang="en-US" sz="1150" b="1" dirty="0">
                <a:solidFill>
                  <a:srgbClr val="0D1B2A"/>
                </a:solidFill>
              </a:rPr>
              <a:t>Agreement as Source of Truth</a:t>
            </a:r>
            <a:endParaRPr lang="en-US" sz="1150" dirty="0"/>
          </a:p>
        </p:txBody>
      </p:sp>
      <p:sp>
        <p:nvSpPr>
          <p:cNvPr id="8" name="Text 6"/>
          <p:cNvSpPr/>
          <p:nvPr/>
        </p:nvSpPr>
        <p:spPr>
          <a:xfrm>
            <a:off x="731520" y="2139696"/>
            <a:ext cx="3127248" cy="1325880"/>
          </a:xfrm>
          <a:prstGeom prst="rect">
            <a:avLst/>
          </a:prstGeom>
          <a:noFill/>
          <a:ln/>
        </p:spPr>
        <p:txBody>
          <a:bodyPr wrap="square" rtlCol="0" anchor="ctr"/>
          <a:lstStyle/>
          <a:p>
            <a:pPr marL="0" indent="0">
              <a:lnSpc>
                <a:spcPts val="1250"/>
              </a:lnSpc>
              <a:buNone/>
            </a:pPr>
            <a:r>
              <a:rPr lang="en-US" sz="950" dirty="0">
                <a:solidFill>
                  <a:srgbClr val="334155"/>
                </a:solidFill>
              </a:rPr>
              <a:t>Every rental agreement and freight contract is digitised into structured, machine-readable terms — rent, escalation clause, escalation date, lock-in, notice period, tax treatment, rate cards. The agreement becomes an active rule, not a stored PDF.</a:t>
            </a:r>
            <a:endParaRPr lang="en-US" sz="950" dirty="0"/>
          </a:p>
        </p:txBody>
      </p:sp>
      <p:sp>
        <p:nvSpPr>
          <p:cNvPr id="9" name="Shape 7"/>
          <p:cNvSpPr/>
          <p:nvPr/>
        </p:nvSpPr>
        <p:spPr>
          <a:xfrm>
            <a:off x="4279392" y="1481328"/>
            <a:ext cx="3566160" cy="2121408"/>
          </a:xfrm>
          <a:prstGeom prst="roundRect">
            <a:avLst>
              <a:gd name="adj" fmla="val 2586"/>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10" name="Shape 8"/>
          <p:cNvSpPr/>
          <p:nvPr/>
        </p:nvSpPr>
        <p:spPr>
          <a:xfrm>
            <a:off x="4507992" y="1682496"/>
            <a:ext cx="438912" cy="329184"/>
          </a:xfrm>
          <a:prstGeom prst="roundRect">
            <a:avLst>
              <a:gd name="adj" fmla="val 13889"/>
            </a:avLst>
          </a:prstGeom>
          <a:solidFill>
            <a:srgbClr val="0D1B2A"/>
          </a:solidFill>
          <a:ln w="12700">
            <a:solidFill>
              <a:srgbClr val="0D1B2A"/>
            </a:solidFill>
            <a:prstDash val="solid"/>
          </a:ln>
        </p:spPr>
      </p:sp>
      <p:sp>
        <p:nvSpPr>
          <p:cNvPr id="11" name="Text 9"/>
          <p:cNvSpPr/>
          <p:nvPr/>
        </p:nvSpPr>
        <p:spPr>
          <a:xfrm>
            <a:off x="4507992" y="1700784"/>
            <a:ext cx="438912" cy="292608"/>
          </a:xfrm>
          <a:prstGeom prst="rect">
            <a:avLst/>
          </a:prstGeom>
          <a:noFill/>
          <a:ln/>
        </p:spPr>
        <p:txBody>
          <a:bodyPr wrap="square" rtlCol="0" anchor="ctr"/>
          <a:lstStyle/>
          <a:p>
            <a:pPr marL="0" indent="0" algn="ctr">
              <a:buNone/>
            </a:pPr>
            <a:r>
              <a:rPr lang="en-US" sz="1100" b="1" dirty="0">
                <a:solidFill>
                  <a:srgbClr val="0D9488"/>
                </a:solidFill>
              </a:rPr>
              <a:t>02</a:t>
            </a:r>
            <a:endParaRPr lang="en-US" sz="1100" dirty="0"/>
          </a:p>
        </p:txBody>
      </p:sp>
      <p:sp>
        <p:nvSpPr>
          <p:cNvPr id="12" name="Text 10"/>
          <p:cNvSpPr/>
          <p:nvPr/>
        </p:nvSpPr>
        <p:spPr>
          <a:xfrm>
            <a:off x="5056632" y="1664208"/>
            <a:ext cx="2606040" cy="384048"/>
          </a:xfrm>
          <a:prstGeom prst="rect">
            <a:avLst/>
          </a:prstGeom>
          <a:noFill/>
          <a:ln/>
        </p:spPr>
        <p:txBody>
          <a:bodyPr wrap="square" rtlCol="0" anchor="ctr"/>
          <a:lstStyle/>
          <a:p>
            <a:pPr marL="0" indent="0">
              <a:buNone/>
            </a:pPr>
            <a:r>
              <a:rPr lang="en-US" sz="1150" b="1" dirty="0">
                <a:solidFill>
                  <a:srgbClr val="0D1B2A"/>
                </a:solidFill>
              </a:rPr>
              <a:t>Multi-Channel Capture</a:t>
            </a:r>
            <a:endParaRPr lang="en-US" sz="1150" dirty="0"/>
          </a:p>
        </p:txBody>
      </p:sp>
      <p:sp>
        <p:nvSpPr>
          <p:cNvPr id="13" name="Text 11"/>
          <p:cNvSpPr/>
          <p:nvPr/>
        </p:nvSpPr>
        <p:spPr>
          <a:xfrm>
            <a:off x="4507992" y="2139696"/>
            <a:ext cx="3127248" cy="1325880"/>
          </a:xfrm>
          <a:prstGeom prst="rect">
            <a:avLst/>
          </a:prstGeom>
          <a:noFill/>
          <a:ln/>
        </p:spPr>
        <p:txBody>
          <a:bodyPr wrap="square" rtlCol="0" anchor="ctr"/>
          <a:lstStyle/>
          <a:p>
            <a:pPr marL="0" indent="0">
              <a:lnSpc>
                <a:spcPts val="1250"/>
              </a:lnSpc>
              <a:buNone/>
            </a:pPr>
            <a:r>
              <a:rPr lang="en-US" sz="950" dirty="0">
                <a:solidFill>
                  <a:srgbClr val="334155"/>
                </a:solidFill>
              </a:rPr>
              <a:t>Landlords and transporters submit however they already work — email, PDF, scanned image, or the Supplier Portal. AI extracts structured data from any format. No behaviour change is forced on 3,000+ suppliers.</a:t>
            </a:r>
            <a:endParaRPr lang="en-US" sz="950" dirty="0"/>
          </a:p>
        </p:txBody>
      </p:sp>
      <p:sp>
        <p:nvSpPr>
          <p:cNvPr id="14" name="Shape 12"/>
          <p:cNvSpPr/>
          <p:nvPr/>
        </p:nvSpPr>
        <p:spPr>
          <a:xfrm>
            <a:off x="8055864" y="1481328"/>
            <a:ext cx="3566160" cy="2121408"/>
          </a:xfrm>
          <a:prstGeom prst="roundRect">
            <a:avLst>
              <a:gd name="adj" fmla="val 2586"/>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15" name="Shape 13"/>
          <p:cNvSpPr/>
          <p:nvPr/>
        </p:nvSpPr>
        <p:spPr>
          <a:xfrm>
            <a:off x="8284464" y="1682496"/>
            <a:ext cx="438912" cy="329184"/>
          </a:xfrm>
          <a:prstGeom prst="roundRect">
            <a:avLst>
              <a:gd name="adj" fmla="val 13889"/>
            </a:avLst>
          </a:prstGeom>
          <a:solidFill>
            <a:srgbClr val="0D1B2A"/>
          </a:solidFill>
          <a:ln w="12700">
            <a:solidFill>
              <a:srgbClr val="0D1B2A"/>
            </a:solidFill>
            <a:prstDash val="solid"/>
          </a:ln>
        </p:spPr>
      </p:sp>
      <p:sp>
        <p:nvSpPr>
          <p:cNvPr id="16" name="Text 14"/>
          <p:cNvSpPr/>
          <p:nvPr/>
        </p:nvSpPr>
        <p:spPr>
          <a:xfrm>
            <a:off x="8284464" y="1700784"/>
            <a:ext cx="438912" cy="292608"/>
          </a:xfrm>
          <a:prstGeom prst="rect">
            <a:avLst/>
          </a:prstGeom>
          <a:noFill/>
          <a:ln/>
        </p:spPr>
        <p:txBody>
          <a:bodyPr wrap="square" rtlCol="0" anchor="ctr"/>
          <a:lstStyle/>
          <a:p>
            <a:pPr marL="0" indent="0" algn="ctr">
              <a:buNone/>
            </a:pPr>
            <a:r>
              <a:rPr lang="en-US" sz="1100" b="1" dirty="0">
                <a:solidFill>
                  <a:srgbClr val="0D9488"/>
                </a:solidFill>
              </a:rPr>
              <a:t>03</a:t>
            </a:r>
            <a:endParaRPr lang="en-US" sz="1100" dirty="0"/>
          </a:p>
        </p:txBody>
      </p:sp>
      <p:sp>
        <p:nvSpPr>
          <p:cNvPr id="17" name="Text 15"/>
          <p:cNvSpPr/>
          <p:nvPr/>
        </p:nvSpPr>
        <p:spPr>
          <a:xfrm>
            <a:off x="8833104" y="1664208"/>
            <a:ext cx="2606040" cy="384048"/>
          </a:xfrm>
          <a:prstGeom prst="rect">
            <a:avLst/>
          </a:prstGeom>
          <a:noFill/>
          <a:ln/>
        </p:spPr>
        <p:txBody>
          <a:bodyPr wrap="square" rtlCol="0" anchor="ctr"/>
          <a:lstStyle/>
          <a:p>
            <a:pPr marL="0" indent="0">
              <a:buNone/>
            </a:pPr>
            <a:r>
              <a:rPr lang="en-US" sz="1150" b="1" dirty="0">
                <a:solidFill>
                  <a:srgbClr val="0D1B2A"/>
                </a:solidFill>
              </a:rPr>
              <a:t>Automated Validation</a:t>
            </a:r>
            <a:endParaRPr lang="en-US" sz="1150" dirty="0"/>
          </a:p>
        </p:txBody>
      </p:sp>
      <p:sp>
        <p:nvSpPr>
          <p:cNvPr id="18" name="Text 16"/>
          <p:cNvSpPr/>
          <p:nvPr/>
        </p:nvSpPr>
        <p:spPr>
          <a:xfrm>
            <a:off x="8284464" y="2139696"/>
            <a:ext cx="3127248" cy="1325880"/>
          </a:xfrm>
          <a:prstGeom prst="rect">
            <a:avLst/>
          </a:prstGeom>
          <a:noFill/>
          <a:ln/>
        </p:spPr>
        <p:txBody>
          <a:bodyPr wrap="square" rtlCol="0" anchor="ctr"/>
          <a:lstStyle/>
          <a:p>
            <a:pPr marL="0" indent="0">
              <a:lnSpc>
                <a:spcPts val="1250"/>
              </a:lnSpc>
              <a:buNone/>
            </a:pPr>
            <a:r>
              <a:rPr lang="en-US" sz="950" dirty="0">
                <a:solidFill>
                  <a:srgbClr val="334155"/>
                </a:solidFill>
              </a:rPr>
              <a:t>Each bill is auto-matched against its own agreement. Rent amount, escalation applied, period, GST, TDS. Correct bills pass. Deviations are flagged with the reason and the clause they breach — before a human ever sees them.</a:t>
            </a:r>
            <a:endParaRPr lang="en-US" sz="950" dirty="0"/>
          </a:p>
        </p:txBody>
      </p:sp>
      <p:sp>
        <p:nvSpPr>
          <p:cNvPr id="19" name="Shape 17"/>
          <p:cNvSpPr/>
          <p:nvPr/>
        </p:nvSpPr>
        <p:spPr>
          <a:xfrm>
            <a:off x="502920" y="3813048"/>
            <a:ext cx="3566160" cy="2121408"/>
          </a:xfrm>
          <a:prstGeom prst="roundRect">
            <a:avLst>
              <a:gd name="adj" fmla="val 2586"/>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20" name="Shape 18"/>
          <p:cNvSpPr/>
          <p:nvPr/>
        </p:nvSpPr>
        <p:spPr>
          <a:xfrm>
            <a:off x="731520" y="4014216"/>
            <a:ext cx="438912" cy="329184"/>
          </a:xfrm>
          <a:prstGeom prst="roundRect">
            <a:avLst>
              <a:gd name="adj" fmla="val 13889"/>
            </a:avLst>
          </a:prstGeom>
          <a:solidFill>
            <a:srgbClr val="0D1B2A"/>
          </a:solidFill>
          <a:ln w="12700">
            <a:solidFill>
              <a:srgbClr val="0D1B2A"/>
            </a:solidFill>
            <a:prstDash val="solid"/>
          </a:ln>
        </p:spPr>
      </p:sp>
      <p:sp>
        <p:nvSpPr>
          <p:cNvPr id="21" name="Text 19"/>
          <p:cNvSpPr/>
          <p:nvPr/>
        </p:nvSpPr>
        <p:spPr>
          <a:xfrm>
            <a:off x="731520" y="4032504"/>
            <a:ext cx="438912" cy="292608"/>
          </a:xfrm>
          <a:prstGeom prst="rect">
            <a:avLst/>
          </a:prstGeom>
          <a:noFill/>
          <a:ln/>
        </p:spPr>
        <p:txBody>
          <a:bodyPr wrap="square" rtlCol="0" anchor="ctr"/>
          <a:lstStyle/>
          <a:p>
            <a:pPr marL="0" indent="0" algn="ctr">
              <a:buNone/>
            </a:pPr>
            <a:r>
              <a:rPr lang="en-US" sz="1100" b="1" dirty="0">
                <a:solidFill>
                  <a:srgbClr val="0D9488"/>
                </a:solidFill>
              </a:rPr>
              <a:t>04</a:t>
            </a:r>
            <a:endParaRPr lang="en-US" sz="1100" dirty="0"/>
          </a:p>
        </p:txBody>
      </p:sp>
      <p:sp>
        <p:nvSpPr>
          <p:cNvPr id="22" name="Text 20"/>
          <p:cNvSpPr/>
          <p:nvPr/>
        </p:nvSpPr>
        <p:spPr>
          <a:xfrm>
            <a:off x="1280160" y="3995928"/>
            <a:ext cx="2606040" cy="384048"/>
          </a:xfrm>
          <a:prstGeom prst="rect">
            <a:avLst/>
          </a:prstGeom>
          <a:noFill/>
          <a:ln/>
        </p:spPr>
        <p:txBody>
          <a:bodyPr wrap="square" rtlCol="0" anchor="ctr"/>
          <a:lstStyle/>
          <a:p>
            <a:pPr marL="0" indent="0">
              <a:buNone/>
            </a:pPr>
            <a:r>
              <a:rPr lang="en-US" sz="1150" b="1" dirty="0">
                <a:solidFill>
                  <a:srgbClr val="0D1B2A"/>
                </a:solidFill>
              </a:rPr>
              <a:t>Maker–Checker Governance</a:t>
            </a:r>
            <a:endParaRPr lang="en-US" sz="1150" dirty="0"/>
          </a:p>
        </p:txBody>
      </p:sp>
      <p:sp>
        <p:nvSpPr>
          <p:cNvPr id="23" name="Text 21"/>
          <p:cNvSpPr/>
          <p:nvPr/>
        </p:nvSpPr>
        <p:spPr>
          <a:xfrm>
            <a:off x="731520" y="4471416"/>
            <a:ext cx="3127248" cy="1325880"/>
          </a:xfrm>
          <a:prstGeom prst="rect">
            <a:avLst/>
          </a:prstGeom>
          <a:noFill/>
          <a:ln/>
        </p:spPr>
        <p:txBody>
          <a:bodyPr wrap="square" rtlCol="0" anchor="ctr"/>
          <a:lstStyle/>
          <a:p>
            <a:pPr marL="0" indent="0">
              <a:lnSpc>
                <a:spcPts val="1250"/>
              </a:lnSpc>
              <a:buNone/>
            </a:pPr>
            <a:r>
              <a:rPr lang="en-US" sz="950" dirty="0">
                <a:solidFill>
                  <a:srgbClr val="334155"/>
                </a:solidFill>
              </a:rPr>
              <a:t>Verified bills route to the Maker inbox with the exception already explained. Maker submits; Checker approves. Segregation of duties is enforced by the system, not by convention. Every action is time-stamped and attributable.</a:t>
            </a:r>
            <a:endParaRPr lang="en-US" sz="950" dirty="0"/>
          </a:p>
        </p:txBody>
      </p:sp>
      <p:sp>
        <p:nvSpPr>
          <p:cNvPr id="24" name="Shape 22"/>
          <p:cNvSpPr/>
          <p:nvPr/>
        </p:nvSpPr>
        <p:spPr>
          <a:xfrm>
            <a:off x="4279392" y="3813048"/>
            <a:ext cx="3566160" cy="2121408"/>
          </a:xfrm>
          <a:prstGeom prst="roundRect">
            <a:avLst>
              <a:gd name="adj" fmla="val 2586"/>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25" name="Shape 23"/>
          <p:cNvSpPr/>
          <p:nvPr/>
        </p:nvSpPr>
        <p:spPr>
          <a:xfrm>
            <a:off x="4507992" y="4014216"/>
            <a:ext cx="438912" cy="329184"/>
          </a:xfrm>
          <a:prstGeom prst="roundRect">
            <a:avLst>
              <a:gd name="adj" fmla="val 13889"/>
            </a:avLst>
          </a:prstGeom>
          <a:solidFill>
            <a:srgbClr val="0D1B2A"/>
          </a:solidFill>
          <a:ln w="12700">
            <a:solidFill>
              <a:srgbClr val="0D1B2A"/>
            </a:solidFill>
            <a:prstDash val="solid"/>
          </a:ln>
        </p:spPr>
      </p:sp>
      <p:sp>
        <p:nvSpPr>
          <p:cNvPr id="26" name="Text 24"/>
          <p:cNvSpPr/>
          <p:nvPr/>
        </p:nvSpPr>
        <p:spPr>
          <a:xfrm>
            <a:off x="4507992" y="4032504"/>
            <a:ext cx="438912" cy="292608"/>
          </a:xfrm>
          <a:prstGeom prst="rect">
            <a:avLst/>
          </a:prstGeom>
          <a:noFill/>
          <a:ln/>
        </p:spPr>
        <p:txBody>
          <a:bodyPr wrap="square" rtlCol="0" anchor="ctr"/>
          <a:lstStyle/>
          <a:p>
            <a:pPr marL="0" indent="0" algn="ctr">
              <a:buNone/>
            </a:pPr>
            <a:r>
              <a:rPr lang="en-US" sz="1100" b="1" dirty="0">
                <a:solidFill>
                  <a:srgbClr val="0D9488"/>
                </a:solidFill>
              </a:rPr>
              <a:t>05</a:t>
            </a:r>
            <a:endParaRPr lang="en-US" sz="1100" dirty="0"/>
          </a:p>
        </p:txBody>
      </p:sp>
      <p:sp>
        <p:nvSpPr>
          <p:cNvPr id="27" name="Text 25"/>
          <p:cNvSpPr/>
          <p:nvPr/>
        </p:nvSpPr>
        <p:spPr>
          <a:xfrm>
            <a:off x="5056632" y="3995928"/>
            <a:ext cx="2606040" cy="384048"/>
          </a:xfrm>
          <a:prstGeom prst="rect">
            <a:avLst/>
          </a:prstGeom>
          <a:noFill/>
          <a:ln/>
        </p:spPr>
        <p:txBody>
          <a:bodyPr wrap="square" rtlCol="0" anchor="ctr"/>
          <a:lstStyle/>
          <a:p>
            <a:pPr marL="0" indent="0">
              <a:buNone/>
            </a:pPr>
            <a:r>
              <a:rPr lang="en-US" sz="1150" b="1" dirty="0">
                <a:solidFill>
                  <a:srgbClr val="0D1B2A"/>
                </a:solidFill>
              </a:rPr>
              <a:t>Controlled ERP Posting</a:t>
            </a:r>
            <a:endParaRPr lang="en-US" sz="1150" dirty="0"/>
          </a:p>
        </p:txBody>
      </p:sp>
      <p:sp>
        <p:nvSpPr>
          <p:cNvPr id="28" name="Text 26"/>
          <p:cNvSpPr/>
          <p:nvPr/>
        </p:nvSpPr>
        <p:spPr>
          <a:xfrm>
            <a:off x="4507992" y="4471416"/>
            <a:ext cx="3127248" cy="1325880"/>
          </a:xfrm>
          <a:prstGeom prst="rect">
            <a:avLst/>
          </a:prstGeom>
          <a:noFill/>
          <a:ln/>
        </p:spPr>
        <p:txBody>
          <a:bodyPr wrap="square" rtlCol="0" anchor="ctr"/>
          <a:lstStyle/>
          <a:p>
            <a:pPr marL="0" indent="0">
              <a:lnSpc>
                <a:spcPts val="1250"/>
              </a:lnSpc>
              <a:buNone/>
            </a:pPr>
            <a:r>
              <a:rPr lang="en-US" sz="950" dirty="0">
                <a:solidFill>
                  <a:srgbClr val="334155"/>
                </a:solidFill>
              </a:rPr>
              <a:t>Only fully approved bills reach Oracle Fusion — via file batch in Phase 1, via API when your ERP team is ready. The platform is the control gate; the ERP receives only clean, approved, reconciled data.</a:t>
            </a:r>
            <a:endParaRPr lang="en-US" sz="950" dirty="0"/>
          </a:p>
        </p:txBody>
      </p:sp>
      <p:sp>
        <p:nvSpPr>
          <p:cNvPr id="29" name="Shape 27"/>
          <p:cNvSpPr/>
          <p:nvPr/>
        </p:nvSpPr>
        <p:spPr>
          <a:xfrm>
            <a:off x="8055864" y="3813048"/>
            <a:ext cx="3566160" cy="2121408"/>
          </a:xfrm>
          <a:prstGeom prst="roundRect">
            <a:avLst>
              <a:gd name="adj" fmla="val 2586"/>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30" name="Shape 28"/>
          <p:cNvSpPr/>
          <p:nvPr/>
        </p:nvSpPr>
        <p:spPr>
          <a:xfrm>
            <a:off x="8284464" y="4014216"/>
            <a:ext cx="438912" cy="329184"/>
          </a:xfrm>
          <a:prstGeom prst="roundRect">
            <a:avLst>
              <a:gd name="adj" fmla="val 13889"/>
            </a:avLst>
          </a:prstGeom>
          <a:solidFill>
            <a:srgbClr val="0D1B2A"/>
          </a:solidFill>
          <a:ln w="12700">
            <a:solidFill>
              <a:srgbClr val="0D1B2A"/>
            </a:solidFill>
            <a:prstDash val="solid"/>
          </a:ln>
        </p:spPr>
      </p:sp>
      <p:sp>
        <p:nvSpPr>
          <p:cNvPr id="31" name="Text 29"/>
          <p:cNvSpPr/>
          <p:nvPr/>
        </p:nvSpPr>
        <p:spPr>
          <a:xfrm>
            <a:off x="8284464" y="4032504"/>
            <a:ext cx="438912" cy="292608"/>
          </a:xfrm>
          <a:prstGeom prst="rect">
            <a:avLst/>
          </a:prstGeom>
          <a:noFill/>
          <a:ln/>
        </p:spPr>
        <p:txBody>
          <a:bodyPr wrap="square" rtlCol="0" anchor="ctr"/>
          <a:lstStyle/>
          <a:p>
            <a:pPr marL="0" indent="0" algn="ctr">
              <a:buNone/>
            </a:pPr>
            <a:r>
              <a:rPr lang="en-US" sz="1100" b="1" dirty="0">
                <a:solidFill>
                  <a:srgbClr val="0D9488"/>
                </a:solidFill>
              </a:rPr>
              <a:t>06</a:t>
            </a:r>
            <a:endParaRPr lang="en-US" sz="1100" dirty="0"/>
          </a:p>
        </p:txBody>
      </p:sp>
      <p:sp>
        <p:nvSpPr>
          <p:cNvPr id="32" name="Text 30"/>
          <p:cNvSpPr/>
          <p:nvPr/>
        </p:nvSpPr>
        <p:spPr>
          <a:xfrm>
            <a:off x="8833104" y="3995928"/>
            <a:ext cx="2606040" cy="384048"/>
          </a:xfrm>
          <a:prstGeom prst="rect">
            <a:avLst/>
          </a:prstGeom>
          <a:noFill/>
          <a:ln/>
        </p:spPr>
        <p:txBody>
          <a:bodyPr wrap="square" rtlCol="0" anchor="ctr"/>
          <a:lstStyle/>
          <a:p>
            <a:pPr marL="0" indent="0">
              <a:buNone/>
            </a:pPr>
            <a:r>
              <a:rPr lang="en-US" sz="1150" b="1" dirty="0">
                <a:solidFill>
                  <a:srgbClr val="0D1B2A"/>
                </a:solidFill>
              </a:rPr>
              <a:t>Audit &amp; Intelligence</a:t>
            </a:r>
            <a:endParaRPr lang="en-US" sz="1150" dirty="0"/>
          </a:p>
        </p:txBody>
      </p:sp>
      <p:sp>
        <p:nvSpPr>
          <p:cNvPr id="33" name="Text 31"/>
          <p:cNvSpPr/>
          <p:nvPr/>
        </p:nvSpPr>
        <p:spPr>
          <a:xfrm>
            <a:off x="8284464" y="4471416"/>
            <a:ext cx="3127248" cy="1325880"/>
          </a:xfrm>
          <a:prstGeom prst="rect">
            <a:avLst/>
          </a:prstGeom>
          <a:noFill/>
          <a:ln/>
        </p:spPr>
        <p:txBody>
          <a:bodyPr wrap="square" rtlCol="0" anchor="ctr"/>
          <a:lstStyle/>
          <a:p>
            <a:pPr marL="0" indent="0">
              <a:lnSpc>
                <a:spcPts val="1250"/>
              </a:lnSpc>
              <a:buNone/>
            </a:pPr>
            <a:r>
              <a:rPr lang="en-US" sz="950" dirty="0">
                <a:solidFill>
                  <a:srgbClr val="334155"/>
                </a:solidFill>
              </a:rPr>
              <a:t>Complete audit trail per bill: who captured, who verified, who approved, against which clause. Plus escalation calendars, accrual visibility, exception analytics and landlord/transporter performance.</a:t>
            </a:r>
            <a:endParaRPr lang="en-US" sz="950" dirty="0"/>
          </a:p>
        </p:txBody>
      </p:sp>
      <p:sp>
        <p:nvSpPr>
          <p:cNvPr id="34" name="Text 32"/>
          <p:cNvSpPr/>
          <p:nvPr/>
        </p:nvSpPr>
        <p:spPr>
          <a:xfrm>
            <a:off x="502920" y="6144768"/>
            <a:ext cx="11155680" cy="274320"/>
          </a:xfrm>
          <a:prstGeom prst="rect">
            <a:avLst/>
          </a:prstGeom>
          <a:noFill/>
          <a:ln/>
        </p:spPr>
        <p:txBody>
          <a:bodyPr wrap="square" rtlCol="0" anchor="ctr"/>
          <a:lstStyle/>
          <a:p>
            <a:pPr marL="0" indent="0">
              <a:buNone/>
            </a:pPr>
            <a:r>
              <a:rPr lang="en-US" sz="1100" b="1" dirty="0">
                <a:solidFill>
                  <a:srgbClr val="0D9488"/>
                </a:solidFill>
              </a:rPr>
              <a:t>Scanning captures an image. This platform enforces a contract.</a:t>
            </a:r>
            <a:endParaRPr lang="en-US" sz="1100" dirty="0"/>
          </a:p>
        </p:txBody>
      </p:sp>
      <p:sp>
        <p:nvSpPr>
          <p:cNvPr id="35" name="Text 33"/>
          <p:cNvSpPr/>
          <p:nvPr/>
        </p:nvSpPr>
        <p:spPr>
          <a:xfrm>
            <a:off x="502920" y="6419088"/>
            <a:ext cx="11155680" cy="256032"/>
          </a:xfrm>
          <a:prstGeom prst="rect">
            <a:avLst/>
          </a:prstGeom>
          <a:noFill/>
          <a:ln/>
        </p:spPr>
        <p:txBody>
          <a:bodyPr wrap="square" rtlCol="0" anchor="ctr"/>
          <a:lstStyle/>
          <a:p>
            <a:pPr marL="0" indent="0">
              <a:buNone/>
            </a:pPr>
            <a:r>
              <a:rPr lang="en-US" sz="750" dirty="0">
                <a:solidFill>
                  <a:srgbClr val="64748B"/>
                </a:solidFill>
              </a:rPr>
              <a:t>BillionTech  ·  billiontech.ai  ·  Strictly Confidential  ·  Proposal for BigBasket  ·  July 2026</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B"/>
        </a:solidFill>
        <a:effectLst/>
      </p:bgPr>
    </p:bg>
    <p:spTree>
      <p:nvGrpSpPr>
        <p:cNvPr id="1" name=""/>
        <p:cNvGrpSpPr/>
        <p:nvPr/>
      </p:nvGrpSpPr>
      <p:grpSpPr>
        <a:xfrm>
          <a:off x="0" y="0"/>
          <a:ext cx="0" cy="0"/>
          <a:chOff x="0" y="0"/>
          <a:chExt cx="0" cy="0"/>
        </a:xfrm>
      </p:grpSpPr>
      <p:sp>
        <p:nvSpPr>
          <p:cNvPr id="2" name="Text 0"/>
          <p:cNvSpPr/>
          <p:nvPr/>
        </p:nvSpPr>
        <p:spPr>
          <a:xfrm>
            <a:off x="502920" y="347472"/>
            <a:ext cx="11155680" cy="411480"/>
          </a:xfrm>
          <a:prstGeom prst="rect">
            <a:avLst/>
          </a:prstGeom>
          <a:noFill/>
          <a:ln/>
        </p:spPr>
        <p:txBody>
          <a:bodyPr wrap="square" rtlCol="0" anchor="ctr"/>
          <a:lstStyle/>
          <a:p>
            <a:pPr marL="0" indent="0">
              <a:buNone/>
            </a:pPr>
            <a:r>
              <a:rPr lang="en-US" sz="2300" b="1" dirty="0">
                <a:solidFill>
                  <a:srgbClr val="0D1B2A"/>
                </a:solidFill>
              </a:rPr>
              <a:t>Use Case Flow  |  Rental Bill — Agreement to Oracle Fusion</a:t>
            </a:r>
            <a:endParaRPr lang="en-US" sz="2300" dirty="0"/>
          </a:p>
        </p:txBody>
      </p:sp>
      <p:sp>
        <p:nvSpPr>
          <p:cNvPr id="3" name="Text 1"/>
          <p:cNvSpPr/>
          <p:nvPr/>
        </p:nvSpPr>
        <p:spPr>
          <a:xfrm>
            <a:off x="502920" y="786384"/>
            <a:ext cx="11155680" cy="384048"/>
          </a:xfrm>
          <a:prstGeom prst="rect">
            <a:avLst/>
          </a:prstGeom>
          <a:noFill/>
          <a:ln/>
        </p:spPr>
        <p:txBody>
          <a:bodyPr wrap="square" rtlCol="0" anchor="ctr"/>
          <a:lstStyle/>
          <a:p>
            <a:pPr marL="0" indent="0">
              <a:buNone/>
            </a:pPr>
            <a:r>
              <a:rPr lang="en-US" sz="1150" dirty="0">
                <a:solidFill>
                  <a:srgbClr val="64748B"/>
                </a:solidFill>
              </a:rPr>
              <a:t>1,500 locations, every month. Below is the complete lifecycle of a single rental bill through the platform.</a:t>
            </a:r>
            <a:endParaRPr lang="en-US" sz="1150" dirty="0"/>
          </a:p>
        </p:txBody>
      </p:sp>
      <p:sp>
        <p:nvSpPr>
          <p:cNvPr id="4" name="Shape 2"/>
          <p:cNvSpPr/>
          <p:nvPr/>
        </p:nvSpPr>
        <p:spPr>
          <a:xfrm>
            <a:off x="502920" y="1508760"/>
            <a:ext cx="1755648" cy="3977640"/>
          </a:xfrm>
          <a:prstGeom prst="roundRect">
            <a:avLst>
              <a:gd name="adj" fmla="val 3125"/>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5" name="Shape 3"/>
          <p:cNvSpPr/>
          <p:nvPr/>
        </p:nvSpPr>
        <p:spPr>
          <a:xfrm>
            <a:off x="704088" y="1691640"/>
            <a:ext cx="384048" cy="384048"/>
          </a:xfrm>
          <a:prstGeom prst="roundRect">
            <a:avLst>
              <a:gd name="adj" fmla="val 50000"/>
            </a:avLst>
          </a:prstGeom>
          <a:solidFill>
            <a:srgbClr val="0D9488"/>
          </a:solidFill>
          <a:ln w="12700">
            <a:solidFill>
              <a:srgbClr val="0D9488"/>
            </a:solidFill>
            <a:prstDash val="solid"/>
          </a:ln>
        </p:spPr>
      </p:sp>
      <p:sp>
        <p:nvSpPr>
          <p:cNvPr id="6" name="Text 4"/>
          <p:cNvSpPr/>
          <p:nvPr/>
        </p:nvSpPr>
        <p:spPr>
          <a:xfrm>
            <a:off x="704088" y="1709928"/>
            <a:ext cx="384048" cy="347472"/>
          </a:xfrm>
          <a:prstGeom prst="rect">
            <a:avLst/>
          </a:prstGeom>
          <a:noFill/>
          <a:ln/>
        </p:spPr>
        <p:txBody>
          <a:bodyPr wrap="square" rtlCol="0" anchor="ctr"/>
          <a:lstStyle/>
          <a:p>
            <a:pPr marL="0" indent="0" algn="ctr">
              <a:buNone/>
            </a:pPr>
            <a:r>
              <a:rPr lang="en-US" sz="1200" b="1" dirty="0">
                <a:solidFill>
                  <a:srgbClr val="FFFFFF"/>
                </a:solidFill>
              </a:rPr>
              <a:t>1</a:t>
            </a:r>
            <a:endParaRPr lang="en-US" sz="1200" dirty="0"/>
          </a:p>
        </p:txBody>
      </p:sp>
      <p:sp>
        <p:nvSpPr>
          <p:cNvPr id="7" name="Text 5"/>
          <p:cNvSpPr/>
          <p:nvPr/>
        </p:nvSpPr>
        <p:spPr>
          <a:xfrm>
            <a:off x="649224" y="2194560"/>
            <a:ext cx="1481328" cy="566928"/>
          </a:xfrm>
          <a:prstGeom prst="rect">
            <a:avLst/>
          </a:prstGeom>
          <a:noFill/>
          <a:ln/>
        </p:spPr>
        <p:txBody>
          <a:bodyPr wrap="square" lIns="0" tIns="0" rIns="0" bIns="0" rtlCol="0" anchor="ctr"/>
          <a:lstStyle/>
          <a:p>
            <a:pPr marL="0" indent="0">
              <a:lnSpc>
                <a:spcPts val="1150"/>
              </a:lnSpc>
              <a:buNone/>
            </a:pPr>
            <a:r>
              <a:rPr lang="en-US" sz="1000" b="1" dirty="0">
                <a:solidFill>
                  <a:srgbClr val="0D1B2A"/>
                </a:solidFill>
              </a:rPr>
              <a:t>Agreement Onboarding</a:t>
            </a:r>
            <a:endParaRPr lang="en-US" sz="1000" dirty="0"/>
          </a:p>
        </p:txBody>
      </p:sp>
      <p:sp>
        <p:nvSpPr>
          <p:cNvPr id="8" name="Text 6"/>
          <p:cNvSpPr/>
          <p:nvPr/>
        </p:nvSpPr>
        <p:spPr>
          <a:xfrm>
            <a:off x="649224" y="2788920"/>
            <a:ext cx="1481328" cy="2514600"/>
          </a:xfrm>
          <a:prstGeom prst="rect">
            <a:avLst/>
          </a:prstGeom>
          <a:noFill/>
          <a:ln/>
        </p:spPr>
        <p:txBody>
          <a:bodyPr wrap="square" lIns="0" tIns="0" rIns="0" bIns="0" rtlCol="0" anchor="ctr"/>
          <a:lstStyle/>
          <a:p>
            <a:pPr marL="0" indent="0">
              <a:lnSpc>
                <a:spcPts val="1000"/>
              </a:lnSpc>
              <a:buNone/>
            </a:pPr>
            <a:r>
              <a:rPr lang="en-US" sz="900" dirty="0">
                <a:solidFill>
                  <a:srgbClr val="334155"/>
                </a:solidFill>
              </a:rPr>
              <a:t>Agreement key data uploaded — single or bulk. Rent, escalation %, escalation date, lock-in, GST/TDS captured as structured rules.</a:t>
            </a:r>
            <a:endParaRPr lang="en-US" sz="900" dirty="0"/>
          </a:p>
        </p:txBody>
      </p:sp>
      <p:sp>
        <p:nvSpPr>
          <p:cNvPr id="9" name="Text 7"/>
          <p:cNvSpPr/>
          <p:nvPr/>
        </p:nvSpPr>
        <p:spPr>
          <a:xfrm>
            <a:off x="2240280" y="3200400"/>
            <a:ext cx="219456" cy="365760"/>
          </a:xfrm>
          <a:prstGeom prst="rect">
            <a:avLst/>
          </a:prstGeom>
          <a:noFill/>
          <a:ln/>
        </p:spPr>
        <p:txBody>
          <a:bodyPr wrap="square" rtlCol="0" anchor="ctr"/>
          <a:lstStyle/>
          <a:p>
            <a:pPr marL="0" indent="0" algn="ctr">
              <a:buNone/>
            </a:pPr>
            <a:r>
              <a:rPr lang="en-US" sz="2000" b="1" dirty="0">
                <a:solidFill>
                  <a:srgbClr val="0D9488"/>
                </a:solidFill>
              </a:rPr>
              <a:t>›</a:t>
            </a:r>
            <a:endParaRPr lang="en-US" sz="2000" dirty="0"/>
          </a:p>
        </p:txBody>
      </p:sp>
      <p:sp>
        <p:nvSpPr>
          <p:cNvPr id="10" name="Shape 8"/>
          <p:cNvSpPr/>
          <p:nvPr/>
        </p:nvSpPr>
        <p:spPr>
          <a:xfrm>
            <a:off x="2414016" y="1508760"/>
            <a:ext cx="1755648" cy="3977640"/>
          </a:xfrm>
          <a:prstGeom prst="roundRect">
            <a:avLst>
              <a:gd name="adj" fmla="val 3125"/>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11" name="Shape 9"/>
          <p:cNvSpPr/>
          <p:nvPr/>
        </p:nvSpPr>
        <p:spPr>
          <a:xfrm>
            <a:off x="2615184" y="1691640"/>
            <a:ext cx="384048" cy="384048"/>
          </a:xfrm>
          <a:prstGeom prst="roundRect">
            <a:avLst>
              <a:gd name="adj" fmla="val 50000"/>
            </a:avLst>
          </a:prstGeom>
          <a:solidFill>
            <a:srgbClr val="0D9488"/>
          </a:solidFill>
          <a:ln w="12700">
            <a:solidFill>
              <a:srgbClr val="0D9488"/>
            </a:solidFill>
            <a:prstDash val="solid"/>
          </a:ln>
        </p:spPr>
      </p:sp>
      <p:sp>
        <p:nvSpPr>
          <p:cNvPr id="12" name="Text 10"/>
          <p:cNvSpPr/>
          <p:nvPr/>
        </p:nvSpPr>
        <p:spPr>
          <a:xfrm>
            <a:off x="2615184" y="1709928"/>
            <a:ext cx="384048" cy="347472"/>
          </a:xfrm>
          <a:prstGeom prst="rect">
            <a:avLst/>
          </a:prstGeom>
          <a:noFill/>
          <a:ln/>
        </p:spPr>
        <p:txBody>
          <a:bodyPr wrap="square" rtlCol="0" anchor="ctr"/>
          <a:lstStyle/>
          <a:p>
            <a:pPr marL="0" indent="0" algn="ctr">
              <a:buNone/>
            </a:pPr>
            <a:r>
              <a:rPr lang="en-US" sz="1200" b="1" dirty="0">
                <a:solidFill>
                  <a:srgbClr val="FFFFFF"/>
                </a:solidFill>
              </a:rPr>
              <a:t>2</a:t>
            </a:r>
            <a:endParaRPr lang="en-US" sz="1200" dirty="0"/>
          </a:p>
        </p:txBody>
      </p:sp>
      <p:sp>
        <p:nvSpPr>
          <p:cNvPr id="13" name="Text 11"/>
          <p:cNvSpPr/>
          <p:nvPr/>
        </p:nvSpPr>
        <p:spPr>
          <a:xfrm>
            <a:off x="2560320" y="2194560"/>
            <a:ext cx="1481328" cy="566928"/>
          </a:xfrm>
          <a:prstGeom prst="rect">
            <a:avLst/>
          </a:prstGeom>
          <a:noFill/>
          <a:ln/>
        </p:spPr>
        <p:txBody>
          <a:bodyPr wrap="square" lIns="0" tIns="0" rIns="0" bIns="0" rtlCol="0" anchor="ctr"/>
          <a:lstStyle/>
          <a:p>
            <a:pPr marL="0" indent="0">
              <a:lnSpc>
                <a:spcPts val="1150"/>
              </a:lnSpc>
              <a:buNone/>
            </a:pPr>
            <a:r>
              <a:rPr lang="en-US" sz="1000" b="1" dirty="0">
                <a:solidFill>
                  <a:srgbClr val="0D1B2A"/>
                </a:solidFill>
              </a:rPr>
              <a:t>Invoice Capture</a:t>
            </a:r>
            <a:endParaRPr lang="en-US" sz="1000" dirty="0"/>
          </a:p>
        </p:txBody>
      </p:sp>
      <p:sp>
        <p:nvSpPr>
          <p:cNvPr id="14" name="Text 12"/>
          <p:cNvSpPr/>
          <p:nvPr/>
        </p:nvSpPr>
        <p:spPr>
          <a:xfrm>
            <a:off x="2560320" y="2788920"/>
            <a:ext cx="1481328" cy="2514600"/>
          </a:xfrm>
          <a:prstGeom prst="rect">
            <a:avLst/>
          </a:prstGeom>
          <a:noFill/>
          <a:ln/>
        </p:spPr>
        <p:txBody>
          <a:bodyPr wrap="square" lIns="0" tIns="0" rIns="0" bIns="0" rtlCol="0" anchor="ctr"/>
          <a:lstStyle/>
          <a:p>
            <a:pPr marL="0" indent="0">
              <a:lnSpc>
                <a:spcPts val="1000"/>
              </a:lnSpc>
              <a:buNone/>
            </a:pPr>
            <a:r>
              <a:rPr lang="en-US" sz="900" dirty="0">
                <a:solidFill>
                  <a:srgbClr val="334155"/>
                </a:solidFill>
              </a:rPr>
              <a:t>Landlord emails the bill, uploads on the Supplier Portal, or platform self-bills from the agreement. AI extracts from any format.</a:t>
            </a:r>
            <a:endParaRPr lang="en-US" sz="900" dirty="0"/>
          </a:p>
        </p:txBody>
      </p:sp>
      <p:sp>
        <p:nvSpPr>
          <p:cNvPr id="15" name="Text 13"/>
          <p:cNvSpPr/>
          <p:nvPr/>
        </p:nvSpPr>
        <p:spPr>
          <a:xfrm>
            <a:off x="4151376" y="3200400"/>
            <a:ext cx="219456" cy="365760"/>
          </a:xfrm>
          <a:prstGeom prst="rect">
            <a:avLst/>
          </a:prstGeom>
          <a:noFill/>
          <a:ln/>
        </p:spPr>
        <p:txBody>
          <a:bodyPr wrap="square" rtlCol="0" anchor="ctr"/>
          <a:lstStyle/>
          <a:p>
            <a:pPr marL="0" indent="0" algn="ctr">
              <a:buNone/>
            </a:pPr>
            <a:r>
              <a:rPr lang="en-US" sz="2000" b="1" dirty="0">
                <a:solidFill>
                  <a:srgbClr val="0D9488"/>
                </a:solidFill>
              </a:rPr>
              <a:t>›</a:t>
            </a:r>
            <a:endParaRPr lang="en-US" sz="2000" dirty="0"/>
          </a:p>
        </p:txBody>
      </p:sp>
      <p:sp>
        <p:nvSpPr>
          <p:cNvPr id="16" name="Shape 14"/>
          <p:cNvSpPr/>
          <p:nvPr/>
        </p:nvSpPr>
        <p:spPr>
          <a:xfrm>
            <a:off x="4325112" y="1508760"/>
            <a:ext cx="1755648" cy="3977640"/>
          </a:xfrm>
          <a:prstGeom prst="roundRect">
            <a:avLst>
              <a:gd name="adj" fmla="val 3125"/>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17" name="Shape 15"/>
          <p:cNvSpPr/>
          <p:nvPr/>
        </p:nvSpPr>
        <p:spPr>
          <a:xfrm>
            <a:off x="4526280" y="1691640"/>
            <a:ext cx="384048" cy="384048"/>
          </a:xfrm>
          <a:prstGeom prst="roundRect">
            <a:avLst>
              <a:gd name="adj" fmla="val 50000"/>
            </a:avLst>
          </a:prstGeom>
          <a:solidFill>
            <a:srgbClr val="0D9488"/>
          </a:solidFill>
          <a:ln w="12700">
            <a:solidFill>
              <a:srgbClr val="0D9488"/>
            </a:solidFill>
            <a:prstDash val="solid"/>
          </a:ln>
        </p:spPr>
      </p:sp>
      <p:sp>
        <p:nvSpPr>
          <p:cNvPr id="18" name="Text 16"/>
          <p:cNvSpPr/>
          <p:nvPr/>
        </p:nvSpPr>
        <p:spPr>
          <a:xfrm>
            <a:off x="4526280" y="1709928"/>
            <a:ext cx="384048" cy="347472"/>
          </a:xfrm>
          <a:prstGeom prst="rect">
            <a:avLst/>
          </a:prstGeom>
          <a:noFill/>
          <a:ln/>
        </p:spPr>
        <p:txBody>
          <a:bodyPr wrap="square" rtlCol="0" anchor="ctr"/>
          <a:lstStyle/>
          <a:p>
            <a:pPr marL="0" indent="0" algn="ctr">
              <a:buNone/>
            </a:pPr>
            <a:r>
              <a:rPr lang="en-US" sz="1200" b="1" dirty="0">
                <a:solidFill>
                  <a:srgbClr val="FFFFFF"/>
                </a:solidFill>
              </a:rPr>
              <a:t>3</a:t>
            </a:r>
            <a:endParaRPr lang="en-US" sz="1200" dirty="0"/>
          </a:p>
        </p:txBody>
      </p:sp>
      <p:sp>
        <p:nvSpPr>
          <p:cNvPr id="19" name="Text 17"/>
          <p:cNvSpPr/>
          <p:nvPr/>
        </p:nvSpPr>
        <p:spPr>
          <a:xfrm>
            <a:off x="4471416" y="2194560"/>
            <a:ext cx="1481328" cy="566928"/>
          </a:xfrm>
          <a:prstGeom prst="rect">
            <a:avLst/>
          </a:prstGeom>
          <a:noFill/>
          <a:ln/>
        </p:spPr>
        <p:txBody>
          <a:bodyPr wrap="square" lIns="0" tIns="0" rIns="0" bIns="0" rtlCol="0" anchor="ctr"/>
          <a:lstStyle/>
          <a:p>
            <a:pPr marL="0" indent="0">
              <a:lnSpc>
                <a:spcPts val="1150"/>
              </a:lnSpc>
              <a:buNone/>
            </a:pPr>
            <a:r>
              <a:rPr lang="en-US" sz="1000" b="1" dirty="0">
                <a:solidFill>
                  <a:srgbClr val="0D1B2A"/>
                </a:solidFill>
              </a:rPr>
              <a:t>Auto-Validation</a:t>
            </a:r>
            <a:endParaRPr lang="en-US" sz="1000" dirty="0"/>
          </a:p>
        </p:txBody>
      </p:sp>
      <p:sp>
        <p:nvSpPr>
          <p:cNvPr id="20" name="Text 18"/>
          <p:cNvSpPr/>
          <p:nvPr/>
        </p:nvSpPr>
        <p:spPr>
          <a:xfrm>
            <a:off x="4471416" y="2788920"/>
            <a:ext cx="1481328" cy="2514600"/>
          </a:xfrm>
          <a:prstGeom prst="rect">
            <a:avLst/>
          </a:prstGeom>
          <a:noFill/>
          <a:ln/>
        </p:spPr>
        <p:txBody>
          <a:bodyPr wrap="square" lIns="0" tIns="0" rIns="0" bIns="0" rtlCol="0" anchor="ctr"/>
          <a:lstStyle/>
          <a:p>
            <a:pPr marL="0" indent="0">
              <a:lnSpc>
                <a:spcPts val="1000"/>
              </a:lnSpc>
              <a:buNone/>
            </a:pPr>
            <a:r>
              <a:rPr lang="en-US" sz="900" dirty="0">
                <a:solidFill>
                  <a:srgbClr val="334155"/>
                </a:solidFill>
              </a:rPr>
              <a:t>Bill auto-matched to its agreement. Rent, escalation, period, GST/TDS, duplicates checked. Deviations flagged with the clause breached.</a:t>
            </a:r>
            <a:endParaRPr lang="en-US" sz="900" dirty="0"/>
          </a:p>
        </p:txBody>
      </p:sp>
      <p:sp>
        <p:nvSpPr>
          <p:cNvPr id="21" name="Text 19"/>
          <p:cNvSpPr/>
          <p:nvPr/>
        </p:nvSpPr>
        <p:spPr>
          <a:xfrm>
            <a:off x="6062472" y="3200400"/>
            <a:ext cx="219456" cy="365760"/>
          </a:xfrm>
          <a:prstGeom prst="rect">
            <a:avLst/>
          </a:prstGeom>
          <a:noFill/>
          <a:ln/>
        </p:spPr>
        <p:txBody>
          <a:bodyPr wrap="square" rtlCol="0" anchor="ctr"/>
          <a:lstStyle/>
          <a:p>
            <a:pPr marL="0" indent="0" algn="ctr">
              <a:buNone/>
            </a:pPr>
            <a:r>
              <a:rPr lang="en-US" sz="2000" b="1" dirty="0">
                <a:solidFill>
                  <a:srgbClr val="0D9488"/>
                </a:solidFill>
              </a:rPr>
              <a:t>›</a:t>
            </a:r>
            <a:endParaRPr lang="en-US" sz="2000" dirty="0"/>
          </a:p>
        </p:txBody>
      </p:sp>
      <p:sp>
        <p:nvSpPr>
          <p:cNvPr id="22" name="Shape 20"/>
          <p:cNvSpPr/>
          <p:nvPr/>
        </p:nvSpPr>
        <p:spPr>
          <a:xfrm>
            <a:off x="6236208" y="1508760"/>
            <a:ext cx="1755648" cy="3977640"/>
          </a:xfrm>
          <a:prstGeom prst="roundRect">
            <a:avLst>
              <a:gd name="adj" fmla="val 3125"/>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23" name="Shape 21"/>
          <p:cNvSpPr/>
          <p:nvPr/>
        </p:nvSpPr>
        <p:spPr>
          <a:xfrm>
            <a:off x="6437376" y="1691640"/>
            <a:ext cx="384048" cy="384048"/>
          </a:xfrm>
          <a:prstGeom prst="roundRect">
            <a:avLst>
              <a:gd name="adj" fmla="val 50000"/>
            </a:avLst>
          </a:prstGeom>
          <a:solidFill>
            <a:srgbClr val="0D9488"/>
          </a:solidFill>
          <a:ln w="12700">
            <a:solidFill>
              <a:srgbClr val="0D9488"/>
            </a:solidFill>
            <a:prstDash val="solid"/>
          </a:ln>
        </p:spPr>
      </p:sp>
      <p:sp>
        <p:nvSpPr>
          <p:cNvPr id="24" name="Text 22"/>
          <p:cNvSpPr/>
          <p:nvPr/>
        </p:nvSpPr>
        <p:spPr>
          <a:xfrm>
            <a:off x="6437376" y="1709928"/>
            <a:ext cx="384048" cy="347472"/>
          </a:xfrm>
          <a:prstGeom prst="rect">
            <a:avLst/>
          </a:prstGeom>
          <a:noFill/>
          <a:ln/>
        </p:spPr>
        <p:txBody>
          <a:bodyPr wrap="square" rtlCol="0" anchor="ctr"/>
          <a:lstStyle/>
          <a:p>
            <a:pPr marL="0" indent="0" algn="ctr">
              <a:buNone/>
            </a:pPr>
            <a:r>
              <a:rPr lang="en-US" sz="1200" b="1" dirty="0">
                <a:solidFill>
                  <a:srgbClr val="FFFFFF"/>
                </a:solidFill>
              </a:rPr>
              <a:t>4</a:t>
            </a:r>
            <a:endParaRPr lang="en-US" sz="1200" dirty="0"/>
          </a:p>
        </p:txBody>
      </p:sp>
      <p:sp>
        <p:nvSpPr>
          <p:cNvPr id="25" name="Text 23"/>
          <p:cNvSpPr/>
          <p:nvPr/>
        </p:nvSpPr>
        <p:spPr>
          <a:xfrm>
            <a:off x="6382512" y="2194560"/>
            <a:ext cx="1481328" cy="566928"/>
          </a:xfrm>
          <a:prstGeom prst="rect">
            <a:avLst/>
          </a:prstGeom>
          <a:noFill/>
          <a:ln/>
        </p:spPr>
        <p:txBody>
          <a:bodyPr wrap="square" lIns="0" tIns="0" rIns="0" bIns="0" rtlCol="0" anchor="ctr"/>
          <a:lstStyle/>
          <a:p>
            <a:pPr marL="0" indent="0">
              <a:lnSpc>
                <a:spcPts val="1150"/>
              </a:lnSpc>
              <a:buNone/>
            </a:pPr>
            <a:r>
              <a:rPr lang="en-US" sz="1000" b="1" dirty="0">
                <a:solidFill>
                  <a:srgbClr val="0D1B2A"/>
                </a:solidFill>
              </a:rPr>
              <a:t>Maker Verification</a:t>
            </a:r>
            <a:endParaRPr lang="en-US" sz="1000" dirty="0"/>
          </a:p>
        </p:txBody>
      </p:sp>
      <p:sp>
        <p:nvSpPr>
          <p:cNvPr id="26" name="Text 24"/>
          <p:cNvSpPr/>
          <p:nvPr/>
        </p:nvSpPr>
        <p:spPr>
          <a:xfrm>
            <a:off x="6382512" y="2788920"/>
            <a:ext cx="1481328" cy="2514600"/>
          </a:xfrm>
          <a:prstGeom prst="rect">
            <a:avLst/>
          </a:prstGeom>
          <a:noFill/>
          <a:ln/>
        </p:spPr>
        <p:txBody>
          <a:bodyPr wrap="square" lIns="0" tIns="0" rIns="0" bIns="0" rtlCol="0" anchor="ctr"/>
          <a:lstStyle/>
          <a:p>
            <a:pPr marL="0" indent="0">
              <a:lnSpc>
                <a:spcPts val="1000"/>
              </a:lnSpc>
              <a:buNone/>
            </a:pPr>
            <a:r>
              <a:rPr lang="en-US" sz="900" dirty="0">
                <a:solidFill>
                  <a:srgbClr val="334155"/>
                </a:solidFill>
              </a:rPr>
              <a:t>Bill lands in Maker inbox with exception reason pre-attached. Reviewed against the agreement side-by-side, then submitted.</a:t>
            </a:r>
            <a:endParaRPr lang="en-US" sz="900" dirty="0"/>
          </a:p>
        </p:txBody>
      </p:sp>
      <p:sp>
        <p:nvSpPr>
          <p:cNvPr id="27" name="Text 25"/>
          <p:cNvSpPr/>
          <p:nvPr/>
        </p:nvSpPr>
        <p:spPr>
          <a:xfrm>
            <a:off x="7973568" y="3200400"/>
            <a:ext cx="219456" cy="365760"/>
          </a:xfrm>
          <a:prstGeom prst="rect">
            <a:avLst/>
          </a:prstGeom>
          <a:noFill/>
          <a:ln/>
        </p:spPr>
        <p:txBody>
          <a:bodyPr wrap="square" rtlCol="0" anchor="ctr"/>
          <a:lstStyle/>
          <a:p>
            <a:pPr marL="0" indent="0" algn="ctr">
              <a:buNone/>
            </a:pPr>
            <a:r>
              <a:rPr lang="en-US" sz="2000" b="1" dirty="0">
                <a:solidFill>
                  <a:srgbClr val="0D9488"/>
                </a:solidFill>
              </a:rPr>
              <a:t>›</a:t>
            </a:r>
            <a:endParaRPr lang="en-US" sz="2000" dirty="0"/>
          </a:p>
        </p:txBody>
      </p:sp>
      <p:sp>
        <p:nvSpPr>
          <p:cNvPr id="28" name="Shape 26"/>
          <p:cNvSpPr/>
          <p:nvPr/>
        </p:nvSpPr>
        <p:spPr>
          <a:xfrm>
            <a:off x="8147304" y="1508760"/>
            <a:ext cx="1755648" cy="3977640"/>
          </a:xfrm>
          <a:prstGeom prst="roundRect">
            <a:avLst>
              <a:gd name="adj" fmla="val 3125"/>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29" name="Shape 27"/>
          <p:cNvSpPr/>
          <p:nvPr/>
        </p:nvSpPr>
        <p:spPr>
          <a:xfrm>
            <a:off x="8348472" y="1691640"/>
            <a:ext cx="384048" cy="384048"/>
          </a:xfrm>
          <a:prstGeom prst="roundRect">
            <a:avLst>
              <a:gd name="adj" fmla="val 50000"/>
            </a:avLst>
          </a:prstGeom>
          <a:solidFill>
            <a:srgbClr val="0D9488"/>
          </a:solidFill>
          <a:ln w="12700">
            <a:solidFill>
              <a:srgbClr val="0D9488"/>
            </a:solidFill>
            <a:prstDash val="solid"/>
          </a:ln>
        </p:spPr>
      </p:sp>
      <p:sp>
        <p:nvSpPr>
          <p:cNvPr id="30" name="Text 28"/>
          <p:cNvSpPr/>
          <p:nvPr/>
        </p:nvSpPr>
        <p:spPr>
          <a:xfrm>
            <a:off x="8348472" y="1709928"/>
            <a:ext cx="384048" cy="347472"/>
          </a:xfrm>
          <a:prstGeom prst="rect">
            <a:avLst/>
          </a:prstGeom>
          <a:noFill/>
          <a:ln/>
        </p:spPr>
        <p:txBody>
          <a:bodyPr wrap="square" rtlCol="0" anchor="ctr"/>
          <a:lstStyle/>
          <a:p>
            <a:pPr marL="0" indent="0" algn="ctr">
              <a:buNone/>
            </a:pPr>
            <a:r>
              <a:rPr lang="en-US" sz="1200" b="1" dirty="0">
                <a:solidFill>
                  <a:srgbClr val="FFFFFF"/>
                </a:solidFill>
              </a:rPr>
              <a:t>5</a:t>
            </a:r>
            <a:endParaRPr lang="en-US" sz="1200" dirty="0"/>
          </a:p>
        </p:txBody>
      </p:sp>
      <p:sp>
        <p:nvSpPr>
          <p:cNvPr id="31" name="Text 29"/>
          <p:cNvSpPr/>
          <p:nvPr/>
        </p:nvSpPr>
        <p:spPr>
          <a:xfrm>
            <a:off x="8293608" y="2194560"/>
            <a:ext cx="1481328" cy="566928"/>
          </a:xfrm>
          <a:prstGeom prst="rect">
            <a:avLst/>
          </a:prstGeom>
          <a:noFill/>
          <a:ln/>
        </p:spPr>
        <p:txBody>
          <a:bodyPr wrap="square" lIns="0" tIns="0" rIns="0" bIns="0" rtlCol="0" anchor="ctr"/>
          <a:lstStyle/>
          <a:p>
            <a:pPr marL="0" indent="0">
              <a:lnSpc>
                <a:spcPts val="1150"/>
              </a:lnSpc>
              <a:buNone/>
            </a:pPr>
            <a:r>
              <a:rPr lang="en-US" sz="1000" b="1" dirty="0">
                <a:solidFill>
                  <a:srgbClr val="0D1B2A"/>
                </a:solidFill>
              </a:rPr>
              <a:t>Checker Approval</a:t>
            </a:r>
            <a:endParaRPr lang="en-US" sz="1000" dirty="0"/>
          </a:p>
        </p:txBody>
      </p:sp>
      <p:sp>
        <p:nvSpPr>
          <p:cNvPr id="32" name="Text 30"/>
          <p:cNvSpPr/>
          <p:nvPr/>
        </p:nvSpPr>
        <p:spPr>
          <a:xfrm>
            <a:off x="8293608" y="2788920"/>
            <a:ext cx="1481328" cy="2514600"/>
          </a:xfrm>
          <a:prstGeom prst="rect">
            <a:avLst/>
          </a:prstGeom>
          <a:noFill/>
          <a:ln/>
        </p:spPr>
        <p:txBody>
          <a:bodyPr wrap="square" lIns="0" tIns="0" rIns="0" bIns="0" rtlCol="0" anchor="ctr"/>
          <a:lstStyle/>
          <a:p>
            <a:pPr marL="0" indent="0">
              <a:lnSpc>
                <a:spcPts val="1000"/>
              </a:lnSpc>
              <a:buNone/>
            </a:pPr>
            <a:r>
              <a:rPr lang="en-US" sz="900" dirty="0">
                <a:solidFill>
                  <a:srgbClr val="334155"/>
                </a:solidFill>
              </a:rPr>
              <a:t>Checker sees bill, clause, Maker action and full context. Approve, reject or return. Segregation of duties system-enforced.</a:t>
            </a:r>
            <a:endParaRPr lang="en-US" sz="900" dirty="0"/>
          </a:p>
        </p:txBody>
      </p:sp>
      <p:sp>
        <p:nvSpPr>
          <p:cNvPr id="33" name="Text 31"/>
          <p:cNvSpPr/>
          <p:nvPr/>
        </p:nvSpPr>
        <p:spPr>
          <a:xfrm>
            <a:off x="9884664" y="3200400"/>
            <a:ext cx="219456" cy="365760"/>
          </a:xfrm>
          <a:prstGeom prst="rect">
            <a:avLst/>
          </a:prstGeom>
          <a:noFill/>
          <a:ln/>
        </p:spPr>
        <p:txBody>
          <a:bodyPr wrap="square" rtlCol="0" anchor="ctr"/>
          <a:lstStyle/>
          <a:p>
            <a:pPr marL="0" indent="0" algn="ctr">
              <a:buNone/>
            </a:pPr>
            <a:r>
              <a:rPr lang="en-US" sz="2000" b="1" dirty="0">
                <a:solidFill>
                  <a:srgbClr val="0D9488"/>
                </a:solidFill>
              </a:rPr>
              <a:t>›</a:t>
            </a:r>
            <a:endParaRPr lang="en-US" sz="2000" dirty="0"/>
          </a:p>
        </p:txBody>
      </p:sp>
      <p:sp>
        <p:nvSpPr>
          <p:cNvPr id="34" name="Shape 32"/>
          <p:cNvSpPr/>
          <p:nvPr/>
        </p:nvSpPr>
        <p:spPr>
          <a:xfrm>
            <a:off x="10058400" y="1508760"/>
            <a:ext cx="1755648" cy="3977640"/>
          </a:xfrm>
          <a:prstGeom prst="roundRect">
            <a:avLst>
              <a:gd name="adj" fmla="val 3125"/>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35" name="Shape 33"/>
          <p:cNvSpPr/>
          <p:nvPr/>
        </p:nvSpPr>
        <p:spPr>
          <a:xfrm>
            <a:off x="10259568" y="1691640"/>
            <a:ext cx="384048" cy="384048"/>
          </a:xfrm>
          <a:prstGeom prst="roundRect">
            <a:avLst>
              <a:gd name="adj" fmla="val 50000"/>
            </a:avLst>
          </a:prstGeom>
          <a:solidFill>
            <a:srgbClr val="0D9488"/>
          </a:solidFill>
          <a:ln w="12700">
            <a:solidFill>
              <a:srgbClr val="0D9488"/>
            </a:solidFill>
            <a:prstDash val="solid"/>
          </a:ln>
        </p:spPr>
      </p:sp>
      <p:sp>
        <p:nvSpPr>
          <p:cNvPr id="36" name="Text 34"/>
          <p:cNvSpPr/>
          <p:nvPr/>
        </p:nvSpPr>
        <p:spPr>
          <a:xfrm>
            <a:off x="10259568" y="1709928"/>
            <a:ext cx="384048" cy="347472"/>
          </a:xfrm>
          <a:prstGeom prst="rect">
            <a:avLst/>
          </a:prstGeom>
          <a:noFill/>
          <a:ln/>
        </p:spPr>
        <p:txBody>
          <a:bodyPr wrap="square" rtlCol="0" anchor="ctr"/>
          <a:lstStyle/>
          <a:p>
            <a:pPr marL="0" indent="0" algn="ctr">
              <a:buNone/>
            </a:pPr>
            <a:r>
              <a:rPr lang="en-US" sz="1200" b="1" dirty="0">
                <a:solidFill>
                  <a:srgbClr val="FFFFFF"/>
                </a:solidFill>
              </a:rPr>
              <a:t>6</a:t>
            </a:r>
            <a:endParaRPr lang="en-US" sz="1200" dirty="0"/>
          </a:p>
        </p:txBody>
      </p:sp>
      <p:sp>
        <p:nvSpPr>
          <p:cNvPr id="37" name="Text 35"/>
          <p:cNvSpPr/>
          <p:nvPr/>
        </p:nvSpPr>
        <p:spPr>
          <a:xfrm>
            <a:off x="10204704" y="2194560"/>
            <a:ext cx="1481328" cy="566928"/>
          </a:xfrm>
          <a:prstGeom prst="rect">
            <a:avLst/>
          </a:prstGeom>
          <a:noFill/>
          <a:ln/>
        </p:spPr>
        <p:txBody>
          <a:bodyPr wrap="square" lIns="0" tIns="0" rIns="0" bIns="0" rtlCol="0" anchor="ctr"/>
          <a:lstStyle/>
          <a:p>
            <a:pPr marL="0" indent="0">
              <a:lnSpc>
                <a:spcPts val="1150"/>
              </a:lnSpc>
              <a:buNone/>
            </a:pPr>
            <a:r>
              <a:rPr lang="en-US" sz="1000" b="1" dirty="0">
                <a:solidFill>
                  <a:srgbClr val="0D1B2A"/>
                </a:solidFill>
              </a:rPr>
              <a:t>ERP Posting</a:t>
            </a:r>
            <a:endParaRPr lang="en-US" sz="1000" dirty="0"/>
          </a:p>
        </p:txBody>
      </p:sp>
      <p:sp>
        <p:nvSpPr>
          <p:cNvPr id="38" name="Text 36"/>
          <p:cNvSpPr/>
          <p:nvPr/>
        </p:nvSpPr>
        <p:spPr>
          <a:xfrm>
            <a:off x="10204704" y="2788920"/>
            <a:ext cx="1481328" cy="2514600"/>
          </a:xfrm>
          <a:prstGeom prst="rect">
            <a:avLst/>
          </a:prstGeom>
          <a:noFill/>
          <a:ln/>
        </p:spPr>
        <p:txBody>
          <a:bodyPr wrap="square" lIns="0" tIns="0" rIns="0" bIns="0" rtlCol="0" anchor="ctr"/>
          <a:lstStyle/>
          <a:p>
            <a:pPr marL="0" indent="0">
              <a:lnSpc>
                <a:spcPts val="1000"/>
              </a:lnSpc>
              <a:buNone/>
            </a:pPr>
            <a:r>
              <a:rPr lang="en-US" sz="900" dirty="0">
                <a:solidFill>
                  <a:srgbClr val="334155"/>
                </a:solidFill>
              </a:rPr>
              <a:t>Posted to Oracle Fusion. Phase 1: structured file download. Phase 2: direct API. Audit trail sealed.</a:t>
            </a:r>
            <a:endParaRPr lang="en-US" sz="900" dirty="0"/>
          </a:p>
        </p:txBody>
      </p:sp>
      <p:sp>
        <p:nvSpPr>
          <p:cNvPr id="39" name="Shape 37"/>
          <p:cNvSpPr/>
          <p:nvPr/>
        </p:nvSpPr>
        <p:spPr>
          <a:xfrm>
            <a:off x="502920" y="5650992"/>
            <a:ext cx="11155680" cy="566928"/>
          </a:xfrm>
          <a:prstGeom prst="roundRect">
            <a:avLst>
              <a:gd name="adj" fmla="val 8065"/>
            </a:avLst>
          </a:prstGeom>
          <a:solidFill>
            <a:srgbClr val="D1FAF6"/>
          </a:solidFill>
          <a:ln w="12700">
            <a:solidFill>
              <a:srgbClr val="D1FAF6"/>
            </a:solidFill>
            <a:prstDash val="solid"/>
          </a:ln>
        </p:spPr>
      </p:sp>
      <p:sp>
        <p:nvSpPr>
          <p:cNvPr id="40" name="Text 38"/>
          <p:cNvSpPr/>
          <p:nvPr/>
        </p:nvSpPr>
        <p:spPr>
          <a:xfrm>
            <a:off x="731520" y="5742432"/>
            <a:ext cx="10698480" cy="411480"/>
          </a:xfrm>
          <a:prstGeom prst="rect">
            <a:avLst/>
          </a:prstGeom>
          <a:noFill/>
          <a:ln/>
        </p:spPr>
        <p:txBody>
          <a:bodyPr wrap="square" rtlCol="0" anchor="ctr"/>
          <a:lstStyle/>
          <a:p>
            <a:pPr marL="0" indent="0">
              <a:buNone/>
            </a:pPr>
            <a:r>
              <a:rPr lang="en-US" sz="1000" dirty="0">
                <a:solidFill>
                  <a:srgbClr val="0D1B2A"/>
                </a:solidFill>
              </a:rPr>
              <a:t>Escalation clauses are the hidden risk. The platform tracks every escalation date across 1,500 agreements and applies the increase automatically — so you never overpay on a stale rate, and never underpay into a dispute.</a:t>
            </a:r>
            <a:endParaRPr lang="en-US" sz="1000" dirty="0"/>
          </a:p>
        </p:txBody>
      </p:sp>
      <p:sp>
        <p:nvSpPr>
          <p:cNvPr id="41" name="Text 39"/>
          <p:cNvSpPr/>
          <p:nvPr/>
        </p:nvSpPr>
        <p:spPr>
          <a:xfrm>
            <a:off x="502920" y="6419088"/>
            <a:ext cx="11155680" cy="256032"/>
          </a:xfrm>
          <a:prstGeom prst="rect">
            <a:avLst/>
          </a:prstGeom>
          <a:noFill/>
          <a:ln/>
        </p:spPr>
        <p:txBody>
          <a:bodyPr wrap="square" rtlCol="0" anchor="ctr"/>
          <a:lstStyle/>
          <a:p>
            <a:pPr marL="0" indent="0">
              <a:buNone/>
            </a:pPr>
            <a:r>
              <a:rPr lang="en-US" sz="750" dirty="0">
                <a:solidFill>
                  <a:srgbClr val="64748B"/>
                </a:solidFill>
              </a:rPr>
              <a:t>BillionTech  ·  billiontech.ai  ·  Strictly Confidential  ·  Proposal for BigBasket  ·  July 2026</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B"/>
        </a:solidFill>
        <a:effectLst/>
      </p:bgPr>
    </p:bg>
    <p:spTree>
      <p:nvGrpSpPr>
        <p:cNvPr id="1" name=""/>
        <p:cNvGrpSpPr/>
        <p:nvPr/>
      </p:nvGrpSpPr>
      <p:grpSpPr>
        <a:xfrm>
          <a:off x="0" y="0"/>
          <a:ext cx="0" cy="0"/>
          <a:chOff x="0" y="0"/>
          <a:chExt cx="0" cy="0"/>
        </a:xfrm>
      </p:grpSpPr>
      <p:sp>
        <p:nvSpPr>
          <p:cNvPr id="2" name="Text 0"/>
          <p:cNvSpPr/>
          <p:nvPr/>
        </p:nvSpPr>
        <p:spPr>
          <a:xfrm>
            <a:off x="502920" y="347472"/>
            <a:ext cx="11155680" cy="411480"/>
          </a:xfrm>
          <a:prstGeom prst="rect">
            <a:avLst/>
          </a:prstGeom>
          <a:noFill/>
          <a:ln/>
        </p:spPr>
        <p:txBody>
          <a:bodyPr wrap="square" rtlCol="0" anchor="ctr"/>
          <a:lstStyle/>
          <a:p>
            <a:pPr marL="0" indent="0">
              <a:buNone/>
            </a:pPr>
            <a:r>
              <a:rPr lang="en-US" sz="2300" b="1" dirty="0">
                <a:solidFill>
                  <a:srgbClr val="0D1B2A"/>
                </a:solidFill>
              </a:rPr>
              <a:t>Use Case Flow  |  Freight Bill — Submission to Posting</a:t>
            </a:r>
            <a:endParaRPr lang="en-US" sz="2300" dirty="0"/>
          </a:p>
        </p:txBody>
      </p:sp>
      <p:sp>
        <p:nvSpPr>
          <p:cNvPr id="3" name="Text 1"/>
          <p:cNvSpPr/>
          <p:nvPr/>
        </p:nvSpPr>
        <p:spPr>
          <a:xfrm>
            <a:off x="502920" y="786384"/>
            <a:ext cx="11155680" cy="384048"/>
          </a:xfrm>
          <a:prstGeom prst="rect">
            <a:avLst/>
          </a:prstGeom>
          <a:noFill/>
          <a:ln/>
        </p:spPr>
        <p:txBody>
          <a:bodyPr wrap="square" rtlCol="0" anchor="ctr"/>
          <a:lstStyle/>
          <a:p>
            <a:pPr marL="0" indent="0">
              <a:buNone/>
            </a:pPr>
            <a:r>
              <a:rPr lang="en-US" sz="1150" dirty="0">
                <a:solidFill>
                  <a:srgbClr val="64748B"/>
                </a:solidFill>
              </a:rPr>
              <a:t>1,800 bills a month, with supporting documents attached to almost every one. Same control spine; different validation logic.</a:t>
            </a:r>
            <a:endParaRPr lang="en-US" sz="1150" dirty="0"/>
          </a:p>
        </p:txBody>
      </p:sp>
      <p:sp>
        <p:nvSpPr>
          <p:cNvPr id="4" name="Shape 2"/>
          <p:cNvSpPr/>
          <p:nvPr/>
        </p:nvSpPr>
        <p:spPr>
          <a:xfrm>
            <a:off x="502920" y="1508760"/>
            <a:ext cx="1755648" cy="3977640"/>
          </a:xfrm>
          <a:prstGeom prst="roundRect">
            <a:avLst>
              <a:gd name="adj" fmla="val 3125"/>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5" name="Shape 3"/>
          <p:cNvSpPr/>
          <p:nvPr/>
        </p:nvSpPr>
        <p:spPr>
          <a:xfrm>
            <a:off x="704088" y="1691640"/>
            <a:ext cx="384048" cy="384048"/>
          </a:xfrm>
          <a:prstGeom prst="roundRect">
            <a:avLst>
              <a:gd name="adj" fmla="val 50000"/>
            </a:avLst>
          </a:prstGeom>
          <a:solidFill>
            <a:srgbClr val="1A5276"/>
          </a:solidFill>
          <a:ln w="12700">
            <a:solidFill>
              <a:srgbClr val="1A5276"/>
            </a:solidFill>
            <a:prstDash val="solid"/>
          </a:ln>
        </p:spPr>
      </p:sp>
      <p:sp>
        <p:nvSpPr>
          <p:cNvPr id="6" name="Text 4"/>
          <p:cNvSpPr/>
          <p:nvPr/>
        </p:nvSpPr>
        <p:spPr>
          <a:xfrm>
            <a:off x="704088" y="1709928"/>
            <a:ext cx="384048" cy="347472"/>
          </a:xfrm>
          <a:prstGeom prst="rect">
            <a:avLst/>
          </a:prstGeom>
          <a:noFill/>
          <a:ln/>
        </p:spPr>
        <p:txBody>
          <a:bodyPr wrap="square" rtlCol="0" anchor="ctr"/>
          <a:lstStyle/>
          <a:p>
            <a:pPr marL="0" indent="0" algn="ctr">
              <a:buNone/>
            </a:pPr>
            <a:r>
              <a:rPr lang="en-US" sz="1200" b="1" dirty="0">
                <a:solidFill>
                  <a:srgbClr val="FFFFFF"/>
                </a:solidFill>
              </a:rPr>
              <a:t>1</a:t>
            </a:r>
            <a:endParaRPr lang="en-US" sz="1200" dirty="0"/>
          </a:p>
        </p:txBody>
      </p:sp>
      <p:sp>
        <p:nvSpPr>
          <p:cNvPr id="7" name="Text 5"/>
          <p:cNvSpPr/>
          <p:nvPr/>
        </p:nvSpPr>
        <p:spPr>
          <a:xfrm>
            <a:off x="649224" y="2194560"/>
            <a:ext cx="1481328" cy="566928"/>
          </a:xfrm>
          <a:prstGeom prst="rect">
            <a:avLst/>
          </a:prstGeom>
          <a:noFill/>
          <a:ln/>
        </p:spPr>
        <p:txBody>
          <a:bodyPr wrap="square" lIns="0" tIns="0" rIns="0" bIns="0" rtlCol="0" anchor="ctr"/>
          <a:lstStyle/>
          <a:p>
            <a:pPr marL="0" indent="0">
              <a:lnSpc>
                <a:spcPts val="1150"/>
              </a:lnSpc>
              <a:buNone/>
            </a:pPr>
            <a:r>
              <a:rPr lang="en-US" sz="1000" b="1" dirty="0">
                <a:solidFill>
                  <a:srgbClr val="0D1B2A"/>
                </a:solidFill>
              </a:rPr>
              <a:t>Rate Card Onboarding</a:t>
            </a:r>
            <a:endParaRPr lang="en-US" sz="1000" dirty="0"/>
          </a:p>
        </p:txBody>
      </p:sp>
      <p:sp>
        <p:nvSpPr>
          <p:cNvPr id="8" name="Text 6"/>
          <p:cNvSpPr/>
          <p:nvPr/>
        </p:nvSpPr>
        <p:spPr>
          <a:xfrm>
            <a:off x="649224" y="2788920"/>
            <a:ext cx="1481328" cy="2514600"/>
          </a:xfrm>
          <a:prstGeom prst="rect">
            <a:avLst/>
          </a:prstGeom>
          <a:noFill/>
          <a:ln/>
        </p:spPr>
        <p:txBody>
          <a:bodyPr wrap="square" lIns="0" tIns="0" rIns="0" bIns="0" rtlCol="0" anchor="ctr"/>
          <a:lstStyle/>
          <a:p>
            <a:pPr marL="0" indent="0">
              <a:lnSpc>
                <a:spcPts val="1000"/>
              </a:lnSpc>
              <a:buNone/>
            </a:pPr>
            <a:r>
              <a:rPr lang="en-US" sz="900" dirty="0">
                <a:solidFill>
                  <a:srgbClr val="334155"/>
                </a:solidFill>
              </a:rPr>
              <a:t>Contracted terms loaded per transporter — lane rates, per-kg/per-trip basis, fuel surcharge, detention. Bulk upload supported.</a:t>
            </a:r>
            <a:endParaRPr lang="en-US" sz="900" dirty="0"/>
          </a:p>
        </p:txBody>
      </p:sp>
      <p:sp>
        <p:nvSpPr>
          <p:cNvPr id="9" name="Text 7"/>
          <p:cNvSpPr/>
          <p:nvPr/>
        </p:nvSpPr>
        <p:spPr>
          <a:xfrm>
            <a:off x="2240280" y="3200400"/>
            <a:ext cx="219456" cy="365760"/>
          </a:xfrm>
          <a:prstGeom prst="rect">
            <a:avLst/>
          </a:prstGeom>
          <a:noFill/>
          <a:ln/>
        </p:spPr>
        <p:txBody>
          <a:bodyPr wrap="square" rtlCol="0" anchor="ctr"/>
          <a:lstStyle/>
          <a:p>
            <a:pPr marL="0" indent="0" algn="ctr">
              <a:buNone/>
            </a:pPr>
            <a:r>
              <a:rPr lang="en-US" sz="2000" b="1" dirty="0">
                <a:solidFill>
                  <a:srgbClr val="1A5276"/>
                </a:solidFill>
              </a:rPr>
              <a:t>›</a:t>
            </a:r>
            <a:endParaRPr lang="en-US" sz="2000" dirty="0"/>
          </a:p>
        </p:txBody>
      </p:sp>
      <p:sp>
        <p:nvSpPr>
          <p:cNvPr id="10" name="Shape 8"/>
          <p:cNvSpPr/>
          <p:nvPr/>
        </p:nvSpPr>
        <p:spPr>
          <a:xfrm>
            <a:off x="2414016" y="1508760"/>
            <a:ext cx="1755648" cy="3977640"/>
          </a:xfrm>
          <a:prstGeom prst="roundRect">
            <a:avLst>
              <a:gd name="adj" fmla="val 3125"/>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11" name="Shape 9"/>
          <p:cNvSpPr/>
          <p:nvPr/>
        </p:nvSpPr>
        <p:spPr>
          <a:xfrm>
            <a:off x="2615184" y="1691640"/>
            <a:ext cx="384048" cy="384048"/>
          </a:xfrm>
          <a:prstGeom prst="roundRect">
            <a:avLst>
              <a:gd name="adj" fmla="val 50000"/>
            </a:avLst>
          </a:prstGeom>
          <a:solidFill>
            <a:srgbClr val="1A5276"/>
          </a:solidFill>
          <a:ln w="12700">
            <a:solidFill>
              <a:srgbClr val="1A5276"/>
            </a:solidFill>
            <a:prstDash val="solid"/>
          </a:ln>
        </p:spPr>
      </p:sp>
      <p:sp>
        <p:nvSpPr>
          <p:cNvPr id="12" name="Text 10"/>
          <p:cNvSpPr/>
          <p:nvPr/>
        </p:nvSpPr>
        <p:spPr>
          <a:xfrm>
            <a:off x="2615184" y="1709928"/>
            <a:ext cx="384048" cy="347472"/>
          </a:xfrm>
          <a:prstGeom prst="rect">
            <a:avLst/>
          </a:prstGeom>
          <a:noFill/>
          <a:ln/>
        </p:spPr>
        <p:txBody>
          <a:bodyPr wrap="square" rtlCol="0" anchor="ctr"/>
          <a:lstStyle/>
          <a:p>
            <a:pPr marL="0" indent="0" algn="ctr">
              <a:buNone/>
            </a:pPr>
            <a:r>
              <a:rPr lang="en-US" sz="1200" b="1" dirty="0">
                <a:solidFill>
                  <a:srgbClr val="FFFFFF"/>
                </a:solidFill>
              </a:rPr>
              <a:t>2</a:t>
            </a:r>
            <a:endParaRPr lang="en-US" sz="1200" dirty="0"/>
          </a:p>
        </p:txBody>
      </p:sp>
      <p:sp>
        <p:nvSpPr>
          <p:cNvPr id="13" name="Text 11"/>
          <p:cNvSpPr/>
          <p:nvPr/>
        </p:nvSpPr>
        <p:spPr>
          <a:xfrm>
            <a:off x="2560320" y="2194560"/>
            <a:ext cx="1481328" cy="566928"/>
          </a:xfrm>
          <a:prstGeom prst="rect">
            <a:avLst/>
          </a:prstGeom>
          <a:noFill/>
          <a:ln/>
        </p:spPr>
        <p:txBody>
          <a:bodyPr wrap="square" lIns="0" tIns="0" rIns="0" bIns="0" rtlCol="0" anchor="ctr"/>
          <a:lstStyle/>
          <a:p>
            <a:pPr marL="0" indent="0">
              <a:lnSpc>
                <a:spcPts val="1150"/>
              </a:lnSpc>
              <a:buNone/>
            </a:pPr>
            <a:r>
              <a:rPr lang="en-US" sz="1000" b="1" dirty="0">
                <a:solidFill>
                  <a:srgbClr val="0D1B2A"/>
                </a:solidFill>
              </a:rPr>
              <a:t>Multi-Channel Submission</a:t>
            </a:r>
            <a:endParaRPr lang="en-US" sz="1000" dirty="0"/>
          </a:p>
        </p:txBody>
      </p:sp>
      <p:sp>
        <p:nvSpPr>
          <p:cNvPr id="14" name="Text 12"/>
          <p:cNvSpPr/>
          <p:nvPr/>
        </p:nvSpPr>
        <p:spPr>
          <a:xfrm>
            <a:off x="2560320" y="2788920"/>
            <a:ext cx="1481328" cy="2514600"/>
          </a:xfrm>
          <a:prstGeom prst="rect">
            <a:avLst/>
          </a:prstGeom>
          <a:noFill/>
          <a:ln/>
        </p:spPr>
        <p:txBody>
          <a:bodyPr wrap="square" lIns="0" tIns="0" rIns="0" bIns="0" rtlCol="0" anchor="ctr"/>
          <a:lstStyle/>
          <a:p>
            <a:pPr marL="0" indent="0">
              <a:lnSpc>
                <a:spcPts val="1000"/>
              </a:lnSpc>
              <a:buNone/>
            </a:pPr>
            <a:r>
              <a:rPr lang="en-US" sz="900" dirty="0">
                <a:solidFill>
                  <a:srgbClr val="334155"/>
                </a:solidFill>
              </a:rPr>
              <a:t>Transporter emails, scans, or submits on the Portal. LR, POD, weighment and e-way bill captured and bound to the invoice.</a:t>
            </a:r>
            <a:endParaRPr lang="en-US" sz="900" dirty="0"/>
          </a:p>
        </p:txBody>
      </p:sp>
      <p:sp>
        <p:nvSpPr>
          <p:cNvPr id="15" name="Text 13"/>
          <p:cNvSpPr/>
          <p:nvPr/>
        </p:nvSpPr>
        <p:spPr>
          <a:xfrm>
            <a:off x="4151376" y="3200400"/>
            <a:ext cx="219456" cy="365760"/>
          </a:xfrm>
          <a:prstGeom prst="rect">
            <a:avLst/>
          </a:prstGeom>
          <a:noFill/>
          <a:ln/>
        </p:spPr>
        <p:txBody>
          <a:bodyPr wrap="square" rtlCol="0" anchor="ctr"/>
          <a:lstStyle/>
          <a:p>
            <a:pPr marL="0" indent="0" algn="ctr">
              <a:buNone/>
            </a:pPr>
            <a:r>
              <a:rPr lang="en-US" sz="2000" b="1" dirty="0">
                <a:solidFill>
                  <a:srgbClr val="1A5276"/>
                </a:solidFill>
              </a:rPr>
              <a:t>›</a:t>
            </a:r>
            <a:endParaRPr lang="en-US" sz="2000" dirty="0"/>
          </a:p>
        </p:txBody>
      </p:sp>
      <p:sp>
        <p:nvSpPr>
          <p:cNvPr id="16" name="Shape 14"/>
          <p:cNvSpPr/>
          <p:nvPr/>
        </p:nvSpPr>
        <p:spPr>
          <a:xfrm>
            <a:off x="4325112" y="1508760"/>
            <a:ext cx="1755648" cy="3977640"/>
          </a:xfrm>
          <a:prstGeom prst="roundRect">
            <a:avLst>
              <a:gd name="adj" fmla="val 3125"/>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17" name="Shape 15"/>
          <p:cNvSpPr/>
          <p:nvPr/>
        </p:nvSpPr>
        <p:spPr>
          <a:xfrm>
            <a:off x="4526280" y="1691640"/>
            <a:ext cx="384048" cy="384048"/>
          </a:xfrm>
          <a:prstGeom prst="roundRect">
            <a:avLst>
              <a:gd name="adj" fmla="val 50000"/>
            </a:avLst>
          </a:prstGeom>
          <a:solidFill>
            <a:srgbClr val="1A5276"/>
          </a:solidFill>
          <a:ln w="12700">
            <a:solidFill>
              <a:srgbClr val="1A5276"/>
            </a:solidFill>
            <a:prstDash val="solid"/>
          </a:ln>
        </p:spPr>
      </p:sp>
      <p:sp>
        <p:nvSpPr>
          <p:cNvPr id="18" name="Text 16"/>
          <p:cNvSpPr/>
          <p:nvPr/>
        </p:nvSpPr>
        <p:spPr>
          <a:xfrm>
            <a:off x="4526280" y="1709928"/>
            <a:ext cx="384048" cy="347472"/>
          </a:xfrm>
          <a:prstGeom prst="rect">
            <a:avLst/>
          </a:prstGeom>
          <a:noFill/>
          <a:ln/>
        </p:spPr>
        <p:txBody>
          <a:bodyPr wrap="square" rtlCol="0" anchor="ctr"/>
          <a:lstStyle/>
          <a:p>
            <a:pPr marL="0" indent="0" algn="ctr">
              <a:buNone/>
            </a:pPr>
            <a:r>
              <a:rPr lang="en-US" sz="1200" b="1" dirty="0">
                <a:solidFill>
                  <a:srgbClr val="FFFFFF"/>
                </a:solidFill>
              </a:rPr>
              <a:t>3</a:t>
            </a:r>
            <a:endParaRPr lang="en-US" sz="1200" dirty="0"/>
          </a:p>
        </p:txBody>
      </p:sp>
      <p:sp>
        <p:nvSpPr>
          <p:cNvPr id="19" name="Text 17"/>
          <p:cNvSpPr/>
          <p:nvPr/>
        </p:nvSpPr>
        <p:spPr>
          <a:xfrm>
            <a:off x="4471416" y="2194560"/>
            <a:ext cx="1481328" cy="566928"/>
          </a:xfrm>
          <a:prstGeom prst="rect">
            <a:avLst/>
          </a:prstGeom>
          <a:noFill/>
          <a:ln/>
        </p:spPr>
        <p:txBody>
          <a:bodyPr wrap="square" lIns="0" tIns="0" rIns="0" bIns="0" rtlCol="0" anchor="ctr"/>
          <a:lstStyle/>
          <a:p>
            <a:pPr marL="0" indent="0">
              <a:lnSpc>
                <a:spcPts val="1150"/>
              </a:lnSpc>
              <a:buNone/>
            </a:pPr>
            <a:r>
              <a:rPr lang="en-US" sz="1000" b="1" dirty="0">
                <a:solidFill>
                  <a:srgbClr val="0D1B2A"/>
                </a:solidFill>
              </a:rPr>
              <a:t>Auto-Validation</a:t>
            </a:r>
            <a:endParaRPr lang="en-US" sz="1000" dirty="0"/>
          </a:p>
        </p:txBody>
      </p:sp>
      <p:sp>
        <p:nvSpPr>
          <p:cNvPr id="20" name="Text 18"/>
          <p:cNvSpPr/>
          <p:nvPr/>
        </p:nvSpPr>
        <p:spPr>
          <a:xfrm>
            <a:off x="4471416" y="2788920"/>
            <a:ext cx="1481328" cy="2514600"/>
          </a:xfrm>
          <a:prstGeom prst="rect">
            <a:avLst/>
          </a:prstGeom>
          <a:noFill/>
          <a:ln/>
        </p:spPr>
        <p:txBody>
          <a:bodyPr wrap="square" lIns="0" tIns="0" rIns="0" bIns="0" rtlCol="0" anchor="ctr"/>
          <a:lstStyle/>
          <a:p>
            <a:pPr marL="0" indent="0">
              <a:lnSpc>
                <a:spcPts val="1000"/>
              </a:lnSpc>
              <a:buNone/>
            </a:pPr>
            <a:r>
              <a:rPr lang="en-US" sz="900" dirty="0">
                <a:solidFill>
                  <a:srgbClr val="334155"/>
                </a:solidFill>
              </a:rPr>
              <a:t>Rate checked against contracted lane rate. Quantity checked against LR/POD. Surcharges, GST, TDS and duplicates verified.</a:t>
            </a:r>
            <a:endParaRPr lang="en-US" sz="900" dirty="0"/>
          </a:p>
        </p:txBody>
      </p:sp>
      <p:sp>
        <p:nvSpPr>
          <p:cNvPr id="21" name="Text 19"/>
          <p:cNvSpPr/>
          <p:nvPr/>
        </p:nvSpPr>
        <p:spPr>
          <a:xfrm>
            <a:off x="6062472" y="3200400"/>
            <a:ext cx="219456" cy="365760"/>
          </a:xfrm>
          <a:prstGeom prst="rect">
            <a:avLst/>
          </a:prstGeom>
          <a:noFill/>
          <a:ln/>
        </p:spPr>
        <p:txBody>
          <a:bodyPr wrap="square" rtlCol="0" anchor="ctr"/>
          <a:lstStyle/>
          <a:p>
            <a:pPr marL="0" indent="0" algn="ctr">
              <a:buNone/>
            </a:pPr>
            <a:r>
              <a:rPr lang="en-US" sz="2000" b="1" dirty="0">
                <a:solidFill>
                  <a:srgbClr val="1A5276"/>
                </a:solidFill>
              </a:rPr>
              <a:t>›</a:t>
            </a:r>
            <a:endParaRPr lang="en-US" sz="2000" dirty="0"/>
          </a:p>
        </p:txBody>
      </p:sp>
      <p:sp>
        <p:nvSpPr>
          <p:cNvPr id="22" name="Shape 20"/>
          <p:cNvSpPr/>
          <p:nvPr/>
        </p:nvSpPr>
        <p:spPr>
          <a:xfrm>
            <a:off x="6236208" y="1508760"/>
            <a:ext cx="1755648" cy="3977640"/>
          </a:xfrm>
          <a:prstGeom prst="roundRect">
            <a:avLst>
              <a:gd name="adj" fmla="val 3125"/>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23" name="Shape 21"/>
          <p:cNvSpPr/>
          <p:nvPr/>
        </p:nvSpPr>
        <p:spPr>
          <a:xfrm>
            <a:off x="6437376" y="1691640"/>
            <a:ext cx="384048" cy="384048"/>
          </a:xfrm>
          <a:prstGeom prst="roundRect">
            <a:avLst>
              <a:gd name="adj" fmla="val 50000"/>
            </a:avLst>
          </a:prstGeom>
          <a:solidFill>
            <a:srgbClr val="1A5276"/>
          </a:solidFill>
          <a:ln w="12700">
            <a:solidFill>
              <a:srgbClr val="1A5276"/>
            </a:solidFill>
            <a:prstDash val="solid"/>
          </a:ln>
        </p:spPr>
      </p:sp>
      <p:sp>
        <p:nvSpPr>
          <p:cNvPr id="24" name="Text 22"/>
          <p:cNvSpPr/>
          <p:nvPr/>
        </p:nvSpPr>
        <p:spPr>
          <a:xfrm>
            <a:off x="6437376" y="1709928"/>
            <a:ext cx="384048" cy="347472"/>
          </a:xfrm>
          <a:prstGeom prst="rect">
            <a:avLst/>
          </a:prstGeom>
          <a:noFill/>
          <a:ln/>
        </p:spPr>
        <p:txBody>
          <a:bodyPr wrap="square" rtlCol="0" anchor="ctr"/>
          <a:lstStyle/>
          <a:p>
            <a:pPr marL="0" indent="0" algn="ctr">
              <a:buNone/>
            </a:pPr>
            <a:r>
              <a:rPr lang="en-US" sz="1200" b="1" dirty="0">
                <a:solidFill>
                  <a:srgbClr val="FFFFFF"/>
                </a:solidFill>
              </a:rPr>
              <a:t>4</a:t>
            </a:r>
            <a:endParaRPr lang="en-US" sz="1200" dirty="0"/>
          </a:p>
        </p:txBody>
      </p:sp>
      <p:sp>
        <p:nvSpPr>
          <p:cNvPr id="25" name="Text 23"/>
          <p:cNvSpPr/>
          <p:nvPr/>
        </p:nvSpPr>
        <p:spPr>
          <a:xfrm>
            <a:off x="6382512" y="2194560"/>
            <a:ext cx="1481328" cy="566928"/>
          </a:xfrm>
          <a:prstGeom prst="rect">
            <a:avLst/>
          </a:prstGeom>
          <a:noFill/>
          <a:ln/>
        </p:spPr>
        <p:txBody>
          <a:bodyPr wrap="square" lIns="0" tIns="0" rIns="0" bIns="0" rtlCol="0" anchor="ctr"/>
          <a:lstStyle/>
          <a:p>
            <a:pPr marL="0" indent="0">
              <a:lnSpc>
                <a:spcPts val="1150"/>
              </a:lnSpc>
              <a:buNone/>
            </a:pPr>
            <a:r>
              <a:rPr lang="en-US" sz="1000" b="1" dirty="0">
                <a:solidFill>
                  <a:srgbClr val="0D1B2A"/>
                </a:solidFill>
              </a:rPr>
              <a:t>Maker Verification</a:t>
            </a:r>
            <a:endParaRPr lang="en-US" sz="1000" dirty="0"/>
          </a:p>
        </p:txBody>
      </p:sp>
      <p:sp>
        <p:nvSpPr>
          <p:cNvPr id="26" name="Text 24"/>
          <p:cNvSpPr/>
          <p:nvPr/>
        </p:nvSpPr>
        <p:spPr>
          <a:xfrm>
            <a:off x="6382512" y="2788920"/>
            <a:ext cx="1481328" cy="2514600"/>
          </a:xfrm>
          <a:prstGeom prst="rect">
            <a:avLst/>
          </a:prstGeom>
          <a:noFill/>
          <a:ln/>
        </p:spPr>
        <p:txBody>
          <a:bodyPr wrap="square" lIns="0" tIns="0" rIns="0" bIns="0" rtlCol="0" anchor="ctr"/>
          <a:lstStyle/>
          <a:p>
            <a:pPr marL="0" indent="0">
              <a:lnSpc>
                <a:spcPts val="1000"/>
              </a:lnSpc>
              <a:buNone/>
            </a:pPr>
            <a:r>
              <a:rPr lang="en-US" sz="900" dirty="0">
                <a:solidFill>
                  <a:srgbClr val="334155"/>
                </a:solidFill>
              </a:rPr>
              <a:t>Maker sees invoice, contracted rate, all attachments and the exception reason in one screen. No hunting across folders.</a:t>
            </a:r>
            <a:endParaRPr lang="en-US" sz="900" dirty="0"/>
          </a:p>
        </p:txBody>
      </p:sp>
      <p:sp>
        <p:nvSpPr>
          <p:cNvPr id="27" name="Text 25"/>
          <p:cNvSpPr/>
          <p:nvPr/>
        </p:nvSpPr>
        <p:spPr>
          <a:xfrm>
            <a:off x="7973568" y="3200400"/>
            <a:ext cx="219456" cy="365760"/>
          </a:xfrm>
          <a:prstGeom prst="rect">
            <a:avLst/>
          </a:prstGeom>
          <a:noFill/>
          <a:ln/>
        </p:spPr>
        <p:txBody>
          <a:bodyPr wrap="square" rtlCol="0" anchor="ctr"/>
          <a:lstStyle/>
          <a:p>
            <a:pPr marL="0" indent="0" algn="ctr">
              <a:buNone/>
            </a:pPr>
            <a:r>
              <a:rPr lang="en-US" sz="2000" b="1" dirty="0">
                <a:solidFill>
                  <a:srgbClr val="1A5276"/>
                </a:solidFill>
              </a:rPr>
              <a:t>›</a:t>
            </a:r>
            <a:endParaRPr lang="en-US" sz="2000" dirty="0"/>
          </a:p>
        </p:txBody>
      </p:sp>
      <p:sp>
        <p:nvSpPr>
          <p:cNvPr id="28" name="Shape 26"/>
          <p:cNvSpPr/>
          <p:nvPr/>
        </p:nvSpPr>
        <p:spPr>
          <a:xfrm>
            <a:off x="8147304" y="1508760"/>
            <a:ext cx="1755648" cy="3977640"/>
          </a:xfrm>
          <a:prstGeom prst="roundRect">
            <a:avLst>
              <a:gd name="adj" fmla="val 3125"/>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29" name="Shape 27"/>
          <p:cNvSpPr/>
          <p:nvPr/>
        </p:nvSpPr>
        <p:spPr>
          <a:xfrm>
            <a:off x="8348472" y="1691640"/>
            <a:ext cx="384048" cy="384048"/>
          </a:xfrm>
          <a:prstGeom prst="roundRect">
            <a:avLst>
              <a:gd name="adj" fmla="val 50000"/>
            </a:avLst>
          </a:prstGeom>
          <a:solidFill>
            <a:srgbClr val="1A5276"/>
          </a:solidFill>
          <a:ln w="12700">
            <a:solidFill>
              <a:srgbClr val="1A5276"/>
            </a:solidFill>
            <a:prstDash val="solid"/>
          </a:ln>
        </p:spPr>
      </p:sp>
      <p:sp>
        <p:nvSpPr>
          <p:cNvPr id="30" name="Text 28"/>
          <p:cNvSpPr/>
          <p:nvPr/>
        </p:nvSpPr>
        <p:spPr>
          <a:xfrm>
            <a:off x="8348472" y="1709928"/>
            <a:ext cx="384048" cy="347472"/>
          </a:xfrm>
          <a:prstGeom prst="rect">
            <a:avLst/>
          </a:prstGeom>
          <a:noFill/>
          <a:ln/>
        </p:spPr>
        <p:txBody>
          <a:bodyPr wrap="square" rtlCol="0" anchor="ctr"/>
          <a:lstStyle/>
          <a:p>
            <a:pPr marL="0" indent="0" algn="ctr">
              <a:buNone/>
            </a:pPr>
            <a:r>
              <a:rPr lang="en-US" sz="1200" b="1" dirty="0">
                <a:solidFill>
                  <a:srgbClr val="FFFFFF"/>
                </a:solidFill>
              </a:rPr>
              <a:t>5</a:t>
            </a:r>
            <a:endParaRPr lang="en-US" sz="1200" dirty="0"/>
          </a:p>
        </p:txBody>
      </p:sp>
      <p:sp>
        <p:nvSpPr>
          <p:cNvPr id="31" name="Text 29"/>
          <p:cNvSpPr/>
          <p:nvPr/>
        </p:nvSpPr>
        <p:spPr>
          <a:xfrm>
            <a:off x="8293608" y="2194560"/>
            <a:ext cx="1481328" cy="566928"/>
          </a:xfrm>
          <a:prstGeom prst="rect">
            <a:avLst/>
          </a:prstGeom>
          <a:noFill/>
          <a:ln/>
        </p:spPr>
        <p:txBody>
          <a:bodyPr wrap="square" lIns="0" tIns="0" rIns="0" bIns="0" rtlCol="0" anchor="ctr"/>
          <a:lstStyle/>
          <a:p>
            <a:pPr marL="0" indent="0">
              <a:lnSpc>
                <a:spcPts val="1150"/>
              </a:lnSpc>
              <a:buNone/>
            </a:pPr>
            <a:r>
              <a:rPr lang="en-US" sz="1000" b="1" dirty="0">
                <a:solidFill>
                  <a:srgbClr val="0D1B2A"/>
                </a:solidFill>
              </a:rPr>
              <a:t>Checker Approval</a:t>
            </a:r>
            <a:endParaRPr lang="en-US" sz="1000" dirty="0"/>
          </a:p>
        </p:txBody>
      </p:sp>
      <p:sp>
        <p:nvSpPr>
          <p:cNvPr id="32" name="Text 30"/>
          <p:cNvSpPr/>
          <p:nvPr/>
        </p:nvSpPr>
        <p:spPr>
          <a:xfrm>
            <a:off x="8293608" y="2788920"/>
            <a:ext cx="1481328" cy="2514600"/>
          </a:xfrm>
          <a:prstGeom prst="rect">
            <a:avLst/>
          </a:prstGeom>
          <a:noFill/>
          <a:ln/>
        </p:spPr>
        <p:txBody>
          <a:bodyPr wrap="square" lIns="0" tIns="0" rIns="0" bIns="0" rtlCol="0" anchor="ctr"/>
          <a:lstStyle/>
          <a:p>
            <a:pPr marL="0" indent="0">
              <a:lnSpc>
                <a:spcPts val="1000"/>
              </a:lnSpc>
              <a:buNone/>
            </a:pPr>
            <a:r>
              <a:rPr lang="en-US" sz="900" dirty="0">
                <a:solidFill>
                  <a:srgbClr val="334155"/>
                </a:solidFill>
              </a:rPr>
              <a:t>Checker approves with full context and complete document pack. Every decision attributable and time-stamped.</a:t>
            </a:r>
            <a:endParaRPr lang="en-US" sz="900" dirty="0"/>
          </a:p>
        </p:txBody>
      </p:sp>
      <p:sp>
        <p:nvSpPr>
          <p:cNvPr id="33" name="Text 31"/>
          <p:cNvSpPr/>
          <p:nvPr/>
        </p:nvSpPr>
        <p:spPr>
          <a:xfrm>
            <a:off x="9884664" y="3200400"/>
            <a:ext cx="219456" cy="365760"/>
          </a:xfrm>
          <a:prstGeom prst="rect">
            <a:avLst/>
          </a:prstGeom>
          <a:noFill/>
          <a:ln/>
        </p:spPr>
        <p:txBody>
          <a:bodyPr wrap="square" rtlCol="0" anchor="ctr"/>
          <a:lstStyle/>
          <a:p>
            <a:pPr marL="0" indent="0" algn="ctr">
              <a:buNone/>
            </a:pPr>
            <a:r>
              <a:rPr lang="en-US" sz="2000" b="1" dirty="0">
                <a:solidFill>
                  <a:srgbClr val="1A5276"/>
                </a:solidFill>
              </a:rPr>
              <a:t>›</a:t>
            </a:r>
            <a:endParaRPr lang="en-US" sz="2000" dirty="0"/>
          </a:p>
        </p:txBody>
      </p:sp>
      <p:sp>
        <p:nvSpPr>
          <p:cNvPr id="34" name="Shape 32"/>
          <p:cNvSpPr/>
          <p:nvPr/>
        </p:nvSpPr>
        <p:spPr>
          <a:xfrm>
            <a:off x="10058400" y="1508760"/>
            <a:ext cx="1755648" cy="3977640"/>
          </a:xfrm>
          <a:prstGeom prst="roundRect">
            <a:avLst>
              <a:gd name="adj" fmla="val 3125"/>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35" name="Shape 33"/>
          <p:cNvSpPr/>
          <p:nvPr/>
        </p:nvSpPr>
        <p:spPr>
          <a:xfrm>
            <a:off x="10259568" y="1691640"/>
            <a:ext cx="384048" cy="384048"/>
          </a:xfrm>
          <a:prstGeom prst="roundRect">
            <a:avLst>
              <a:gd name="adj" fmla="val 50000"/>
            </a:avLst>
          </a:prstGeom>
          <a:solidFill>
            <a:srgbClr val="1A5276"/>
          </a:solidFill>
          <a:ln w="12700">
            <a:solidFill>
              <a:srgbClr val="1A5276"/>
            </a:solidFill>
            <a:prstDash val="solid"/>
          </a:ln>
        </p:spPr>
      </p:sp>
      <p:sp>
        <p:nvSpPr>
          <p:cNvPr id="36" name="Text 34"/>
          <p:cNvSpPr/>
          <p:nvPr/>
        </p:nvSpPr>
        <p:spPr>
          <a:xfrm>
            <a:off x="10259568" y="1709928"/>
            <a:ext cx="384048" cy="347472"/>
          </a:xfrm>
          <a:prstGeom prst="rect">
            <a:avLst/>
          </a:prstGeom>
          <a:noFill/>
          <a:ln/>
        </p:spPr>
        <p:txBody>
          <a:bodyPr wrap="square" rtlCol="0" anchor="ctr"/>
          <a:lstStyle/>
          <a:p>
            <a:pPr marL="0" indent="0" algn="ctr">
              <a:buNone/>
            </a:pPr>
            <a:r>
              <a:rPr lang="en-US" sz="1200" b="1" dirty="0">
                <a:solidFill>
                  <a:srgbClr val="FFFFFF"/>
                </a:solidFill>
              </a:rPr>
              <a:t>6</a:t>
            </a:r>
            <a:endParaRPr lang="en-US" sz="1200" dirty="0"/>
          </a:p>
        </p:txBody>
      </p:sp>
      <p:sp>
        <p:nvSpPr>
          <p:cNvPr id="37" name="Text 35"/>
          <p:cNvSpPr/>
          <p:nvPr/>
        </p:nvSpPr>
        <p:spPr>
          <a:xfrm>
            <a:off x="10204704" y="2194560"/>
            <a:ext cx="1481328" cy="566928"/>
          </a:xfrm>
          <a:prstGeom prst="rect">
            <a:avLst/>
          </a:prstGeom>
          <a:noFill/>
          <a:ln/>
        </p:spPr>
        <p:txBody>
          <a:bodyPr wrap="square" lIns="0" tIns="0" rIns="0" bIns="0" rtlCol="0" anchor="ctr"/>
          <a:lstStyle/>
          <a:p>
            <a:pPr marL="0" indent="0">
              <a:lnSpc>
                <a:spcPts val="1150"/>
              </a:lnSpc>
              <a:buNone/>
            </a:pPr>
            <a:r>
              <a:rPr lang="en-US" sz="1000" b="1" dirty="0">
                <a:solidFill>
                  <a:srgbClr val="0D1B2A"/>
                </a:solidFill>
              </a:rPr>
              <a:t>ERP Posting</a:t>
            </a:r>
            <a:endParaRPr lang="en-US" sz="1000" dirty="0"/>
          </a:p>
        </p:txBody>
      </p:sp>
      <p:sp>
        <p:nvSpPr>
          <p:cNvPr id="38" name="Text 36"/>
          <p:cNvSpPr/>
          <p:nvPr/>
        </p:nvSpPr>
        <p:spPr>
          <a:xfrm>
            <a:off x="10204704" y="2788920"/>
            <a:ext cx="1481328" cy="2514600"/>
          </a:xfrm>
          <a:prstGeom prst="rect">
            <a:avLst/>
          </a:prstGeom>
          <a:noFill/>
          <a:ln/>
        </p:spPr>
        <p:txBody>
          <a:bodyPr wrap="square" lIns="0" tIns="0" rIns="0" bIns="0" rtlCol="0" anchor="ctr"/>
          <a:lstStyle/>
          <a:p>
            <a:pPr marL="0" indent="0">
              <a:lnSpc>
                <a:spcPts val="1000"/>
              </a:lnSpc>
              <a:buNone/>
            </a:pPr>
            <a:r>
              <a:rPr lang="en-US" sz="900" dirty="0">
                <a:solidFill>
                  <a:srgbClr val="334155"/>
                </a:solidFill>
              </a:rPr>
              <a:t>Posted to Oracle Fusion by file batch (Phase 1) or API (Phase 2). Attachments retained for audit retrieval.</a:t>
            </a:r>
            <a:endParaRPr lang="en-US" sz="900" dirty="0"/>
          </a:p>
        </p:txBody>
      </p:sp>
      <p:sp>
        <p:nvSpPr>
          <p:cNvPr id="39" name="Shape 37"/>
          <p:cNvSpPr/>
          <p:nvPr/>
        </p:nvSpPr>
        <p:spPr>
          <a:xfrm>
            <a:off x="502920" y="5650992"/>
            <a:ext cx="11155680" cy="566928"/>
          </a:xfrm>
          <a:prstGeom prst="roundRect">
            <a:avLst>
              <a:gd name="adj" fmla="val 8065"/>
            </a:avLst>
          </a:prstGeom>
          <a:solidFill>
            <a:srgbClr val="D1FAF6"/>
          </a:solidFill>
          <a:ln w="12700">
            <a:solidFill>
              <a:srgbClr val="D1FAF6"/>
            </a:solidFill>
            <a:prstDash val="solid"/>
          </a:ln>
        </p:spPr>
      </p:sp>
      <p:sp>
        <p:nvSpPr>
          <p:cNvPr id="40" name="Text 38"/>
          <p:cNvSpPr/>
          <p:nvPr/>
        </p:nvSpPr>
        <p:spPr>
          <a:xfrm>
            <a:off x="731520" y="5742432"/>
            <a:ext cx="10698480" cy="411480"/>
          </a:xfrm>
          <a:prstGeom prst="rect">
            <a:avLst/>
          </a:prstGeom>
          <a:noFill/>
          <a:ln/>
        </p:spPr>
        <p:txBody>
          <a:bodyPr wrap="square" rtlCol="0" anchor="ctr"/>
          <a:lstStyle/>
          <a:p>
            <a:pPr marL="0" indent="0">
              <a:buNone/>
            </a:pPr>
            <a:r>
              <a:rPr lang="en-US" sz="1000" dirty="0">
                <a:solidFill>
                  <a:srgbClr val="0D1B2A"/>
                </a:solidFill>
              </a:rPr>
              <a:t>Attachments are first-class objects, not afterthoughts. LR, POD, weighment and e-way bill are bound to the invoice at capture and stay bound through approval, posting and audit retrieval.</a:t>
            </a:r>
            <a:endParaRPr lang="en-US" sz="1000" dirty="0"/>
          </a:p>
        </p:txBody>
      </p:sp>
      <p:sp>
        <p:nvSpPr>
          <p:cNvPr id="41" name="Text 39"/>
          <p:cNvSpPr/>
          <p:nvPr/>
        </p:nvSpPr>
        <p:spPr>
          <a:xfrm>
            <a:off x="502920" y="6419088"/>
            <a:ext cx="11155680" cy="256032"/>
          </a:xfrm>
          <a:prstGeom prst="rect">
            <a:avLst/>
          </a:prstGeom>
          <a:noFill/>
          <a:ln/>
        </p:spPr>
        <p:txBody>
          <a:bodyPr wrap="square" rtlCol="0" anchor="ctr"/>
          <a:lstStyle/>
          <a:p>
            <a:pPr marL="0" indent="0">
              <a:buNone/>
            </a:pPr>
            <a:r>
              <a:rPr lang="en-US" sz="750" dirty="0">
                <a:solidFill>
                  <a:srgbClr val="64748B"/>
                </a:solidFill>
              </a:rPr>
              <a:t>BillionTech  ·  billiontech.ai  ·  Strictly Confidential  ·  Proposal for BigBasket  ·  July 2026</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B"/>
        </a:solidFill>
        <a:effectLst/>
      </p:bgPr>
    </p:bg>
    <p:spTree>
      <p:nvGrpSpPr>
        <p:cNvPr id="1" name=""/>
        <p:cNvGrpSpPr/>
        <p:nvPr/>
      </p:nvGrpSpPr>
      <p:grpSpPr>
        <a:xfrm>
          <a:off x="0" y="0"/>
          <a:ext cx="0" cy="0"/>
          <a:chOff x="0" y="0"/>
          <a:chExt cx="0" cy="0"/>
        </a:xfrm>
      </p:grpSpPr>
      <p:sp>
        <p:nvSpPr>
          <p:cNvPr id="2" name="Text 0"/>
          <p:cNvSpPr/>
          <p:nvPr/>
        </p:nvSpPr>
        <p:spPr>
          <a:xfrm>
            <a:off x="502920" y="347472"/>
            <a:ext cx="11155680" cy="411480"/>
          </a:xfrm>
          <a:prstGeom prst="rect">
            <a:avLst/>
          </a:prstGeom>
          <a:noFill/>
          <a:ln/>
        </p:spPr>
        <p:txBody>
          <a:bodyPr wrap="square" rtlCol="0" anchor="ctr"/>
          <a:lstStyle/>
          <a:p>
            <a:pPr marL="0" indent="0">
              <a:buNone/>
            </a:pPr>
            <a:r>
              <a:rPr lang="en-US" sz="2300" b="1" dirty="0">
                <a:solidFill>
                  <a:srgbClr val="0D1B2A"/>
                </a:solidFill>
              </a:rPr>
              <a:t>Scope of Work  |  What Is Included, and What Is Explicitly Not</a:t>
            </a:r>
            <a:endParaRPr lang="en-US" sz="2300" dirty="0"/>
          </a:p>
        </p:txBody>
      </p:sp>
      <p:sp>
        <p:nvSpPr>
          <p:cNvPr id="3" name="Text 1"/>
          <p:cNvSpPr/>
          <p:nvPr/>
        </p:nvSpPr>
        <p:spPr>
          <a:xfrm>
            <a:off x="502920" y="786384"/>
            <a:ext cx="11155680" cy="384048"/>
          </a:xfrm>
          <a:prstGeom prst="rect">
            <a:avLst/>
          </a:prstGeom>
          <a:noFill/>
          <a:ln/>
        </p:spPr>
        <p:txBody>
          <a:bodyPr wrap="square" rtlCol="0" anchor="ctr"/>
          <a:lstStyle/>
          <a:p>
            <a:pPr marL="0" indent="0">
              <a:buNone/>
            </a:pPr>
            <a:r>
              <a:rPr lang="en-US" sz="1150" dirty="0">
                <a:solidFill>
                  <a:srgbClr val="64748B"/>
                </a:solidFill>
              </a:rPr>
              <a:t>Clear boundaries protect both sides. Phase 1 is scoped to deliver value without any dependency on your ERP team.</a:t>
            </a:r>
            <a:endParaRPr lang="en-US" sz="1150" dirty="0"/>
          </a:p>
        </p:txBody>
      </p:sp>
      <p:sp>
        <p:nvSpPr>
          <p:cNvPr id="4" name="Shape 2"/>
          <p:cNvSpPr/>
          <p:nvPr/>
        </p:nvSpPr>
        <p:spPr>
          <a:xfrm>
            <a:off x="502920" y="1417320"/>
            <a:ext cx="7086600" cy="4572000"/>
          </a:xfrm>
          <a:prstGeom prst="roundRect">
            <a:avLst>
              <a:gd name="adj" fmla="val 1200"/>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5" name="Text 3"/>
          <p:cNvSpPr/>
          <p:nvPr/>
        </p:nvSpPr>
        <p:spPr>
          <a:xfrm>
            <a:off x="777240" y="1572768"/>
            <a:ext cx="6492240" cy="274320"/>
          </a:xfrm>
          <a:prstGeom prst="rect">
            <a:avLst/>
          </a:prstGeom>
          <a:noFill/>
          <a:ln/>
        </p:spPr>
        <p:txBody>
          <a:bodyPr wrap="square" rtlCol="0" anchor="ctr"/>
          <a:lstStyle/>
          <a:p>
            <a:pPr marL="0" indent="0">
              <a:buNone/>
            </a:pPr>
            <a:r>
              <a:rPr lang="en-US" sz="1000" b="1" kern="0" spc="100" dirty="0">
                <a:solidFill>
                  <a:srgbClr val="0D9488"/>
                </a:solidFill>
              </a:rPr>
              <a:t>IN SCOPE  —  PHASE 1</a:t>
            </a:r>
            <a:endParaRPr lang="en-US" sz="1000" dirty="0"/>
          </a:p>
        </p:txBody>
      </p:sp>
      <p:sp>
        <p:nvSpPr>
          <p:cNvPr id="6" name="Text 4"/>
          <p:cNvSpPr/>
          <p:nvPr/>
        </p:nvSpPr>
        <p:spPr>
          <a:xfrm>
            <a:off x="777240" y="1938528"/>
            <a:ext cx="6537960" cy="3886200"/>
          </a:xfrm>
          <a:prstGeom prst="rect">
            <a:avLst/>
          </a:prstGeom>
          <a:noFill/>
          <a:ln/>
        </p:spPr>
        <p:txBody>
          <a:bodyPr wrap="square" rtlCol="0" anchor="ctr"/>
          <a:lstStyle/>
          <a:p>
            <a:pPr marL="342900" indent="-342900">
              <a:lnSpc>
                <a:spcPts val="1350"/>
              </a:lnSpc>
              <a:spcAft>
                <a:spcPts val="700"/>
              </a:spcAft>
              <a:buSzPct val="100000"/>
              <a:buChar char="•"/>
            </a:pPr>
            <a:r>
              <a:rPr lang="en-US" sz="1100" dirty="0">
                <a:solidFill>
                  <a:srgbClr val="334155"/>
                </a:solidFill>
              </a:rPr>
              <a:t>Agreement digitisation engine — rental agreements and freight rate cards, single and bulk upload</a:t>
            </a:r>
            <a:endParaRPr lang="en-US" sz="1100" dirty="0"/>
          </a:p>
          <a:p>
            <a:pPr marL="342900" indent="-342900">
              <a:lnSpc>
                <a:spcPts val="1350"/>
              </a:lnSpc>
              <a:spcAft>
                <a:spcPts val="700"/>
              </a:spcAft>
              <a:buSzPct val="100000"/>
              <a:buChar char="•"/>
            </a:pPr>
            <a:r>
              <a:rPr lang="en-US" sz="1100" dirty="0">
                <a:solidFill>
                  <a:srgbClr val="334155"/>
                </a:solidFill>
              </a:rPr>
              <a:t>Supplier Portal for 3,000+ landlords and transporters — invoice generation and upload</a:t>
            </a:r>
            <a:endParaRPr lang="en-US" sz="1100" dirty="0"/>
          </a:p>
          <a:p>
            <a:pPr marL="342900" indent="-342900">
              <a:lnSpc>
                <a:spcPts val="1350"/>
              </a:lnSpc>
              <a:spcAft>
                <a:spcPts val="700"/>
              </a:spcAft>
              <a:buSzPct val="100000"/>
              <a:buChar char="•"/>
            </a:pPr>
            <a:r>
              <a:rPr lang="en-US" sz="1100" dirty="0">
                <a:solidFill>
                  <a:srgbClr val="334155"/>
                </a:solidFill>
              </a:rPr>
              <a:t>AI-based multi-channel capture — email, PDF, scan, image; any format</a:t>
            </a:r>
            <a:endParaRPr lang="en-US" sz="1100" dirty="0"/>
          </a:p>
          <a:p>
            <a:pPr marL="342900" indent="-342900">
              <a:lnSpc>
                <a:spcPts val="1350"/>
              </a:lnSpc>
              <a:spcAft>
                <a:spcPts val="700"/>
              </a:spcAft>
              <a:buSzPct val="100000"/>
              <a:buChar char="•"/>
            </a:pPr>
            <a:r>
              <a:rPr lang="en-US" sz="1100" dirty="0">
                <a:solidFill>
                  <a:srgbClr val="334155"/>
                </a:solidFill>
              </a:rPr>
              <a:t>Automated validation against agreement terms, escalation clauses and rate cards</a:t>
            </a:r>
            <a:endParaRPr lang="en-US" sz="1100" dirty="0"/>
          </a:p>
          <a:p>
            <a:pPr marL="342900" indent="-342900">
              <a:lnSpc>
                <a:spcPts val="1350"/>
              </a:lnSpc>
              <a:spcAft>
                <a:spcPts val="700"/>
              </a:spcAft>
              <a:buSzPct val="100000"/>
              <a:buChar char="•"/>
            </a:pPr>
            <a:r>
              <a:rPr lang="en-US" sz="1100" dirty="0">
                <a:solidFill>
                  <a:srgbClr val="334155"/>
                </a:solidFill>
              </a:rPr>
              <a:t>Configurable Maker–Checker workflow with segregation of duties enforcement</a:t>
            </a:r>
            <a:endParaRPr lang="en-US" sz="1100" dirty="0"/>
          </a:p>
          <a:p>
            <a:pPr marL="342900" indent="-342900">
              <a:lnSpc>
                <a:spcPts val="1350"/>
              </a:lnSpc>
              <a:spcAft>
                <a:spcPts val="700"/>
              </a:spcAft>
              <a:buSzPct val="100000"/>
              <a:buChar char="•"/>
            </a:pPr>
            <a:r>
              <a:rPr lang="en-US" sz="1100" dirty="0">
                <a:solidFill>
                  <a:srgbClr val="334155"/>
                </a:solidFill>
              </a:rPr>
              <a:t>Attachment management — LR, POD, weighment, e-way bill bound to invoice</a:t>
            </a:r>
            <a:endParaRPr lang="en-US" sz="1100" dirty="0"/>
          </a:p>
          <a:p>
            <a:pPr marL="342900" indent="-342900">
              <a:lnSpc>
                <a:spcPts val="1350"/>
              </a:lnSpc>
              <a:spcAft>
                <a:spcPts val="700"/>
              </a:spcAft>
              <a:buSzPct val="100000"/>
              <a:buChar char="•"/>
            </a:pPr>
            <a:r>
              <a:rPr lang="en-US" sz="1100" dirty="0">
                <a:solidFill>
                  <a:srgbClr val="334155"/>
                </a:solidFill>
              </a:rPr>
              <a:t>Exception management, escalation calendar and accrual visibility</a:t>
            </a:r>
            <a:endParaRPr lang="en-US" sz="1100" dirty="0"/>
          </a:p>
          <a:p>
            <a:pPr marL="342900" indent="-342900">
              <a:lnSpc>
                <a:spcPts val="1350"/>
              </a:lnSpc>
              <a:spcAft>
                <a:spcPts val="700"/>
              </a:spcAft>
              <a:buSzPct val="100000"/>
              <a:buChar char="•"/>
            </a:pPr>
            <a:r>
              <a:rPr lang="en-US" sz="1100" dirty="0">
                <a:solidFill>
                  <a:srgbClr val="334155"/>
                </a:solidFill>
              </a:rPr>
              <a:t>Structured file export for Oracle Fusion (Phase 1) · API posting (Phase 2)</a:t>
            </a:r>
            <a:endParaRPr lang="en-US" sz="1100" dirty="0"/>
          </a:p>
          <a:p>
            <a:pPr marL="342900" indent="-342900">
              <a:lnSpc>
                <a:spcPts val="1350"/>
              </a:lnSpc>
              <a:spcAft>
                <a:spcPts val="700"/>
              </a:spcAft>
              <a:buSzPct val="100000"/>
              <a:buChar char="•"/>
            </a:pPr>
            <a:r>
              <a:rPr lang="en-US" sz="1100" dirty="0">
                <a:solidFill>
                  <a:srgbClr val="334155"/>
                </a:solidFill>
              </a:rPr>
              <a:t>Complete audit trail, dashboards and MIS reporting</a:t>
            </a:r>
            <a:endParaRPr lang="en-US" sz="1100" dirty="0"/>
          </a:p>
          <a:p>
            <a:pPr marL="342900" indent="-342900">
              <a:lnSpc>
                <a:spcPts val="1350"/>
              </a:lnSpc>
              <a:spcAft>
                <a:spcPts val="700"/>
              </a:spcAft>
              <a:buSzPct val="100000"/>
              <a:buChar char="•"/>
            </a:pPr>
            <a:r>
              <a:rPr lang="en-US" sz="1100" dirty="0">
                <a:solidFill>
                  <a:srgbClr val="334155"/>
                </a:solidFill>
              </a:rPr>
              <a:t>User training, UAT support and hypercare through go-live</a:t>
            </a:r>
            <a:endParaRPr lang="en-US" sz="1100" dirty="0"/>
          </a:p>
        </p:txBody>
      </p:sp>
      <p:sp>
        <p:nvSpPr>
          <p:cNvPr id="7" name="Shape 5"/>
          <p:cNvSpPr/>
          <p:nvPr/>
        </p:nvSpPr>
        <p:spPr>
          <a:xfrm>
            <a:off x="7818120" y="1417320"/>
            <a:ext cx="3840480" cy="4572000"/>
          </a:xfrm>
          <a:prstGeom prst="roundRect">
            <a:avLst>
              <a:gd name="adj" fmla="val 1429"/>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8" name="Text 6"/>
          <p:cNvSpPr/>
          <p:nvPr/>
        </p:nvSpPr>
        <p:spPr>
          <a:xfrm>
            <a:off x="8092440" y="1572768"/>
            <a:ext cx="3291840" cy="274320"/>
          </a:xfrm>
          <a:prstGeom prst="rect">
            <a:avLst/>
          </a:prstGeom>
          <a:noFill/>
          <a:ln/>
        </p:spPr>
        <p:txBody>
          <a:bodyPr wrap="square" rtlCol="0" anchor="ctr"/>
          <a:lstStyle/>
          <a:p>
            <a:pPr marL="0" indent="0">
              <a:buNone/>
            </a:pPr>
            <a:r>
              <a:rPr lang="en-US" sz="1000" b="1" kern="0" spc="100" dirty="0">
                <a:solidFill>
                  <a:srgbClr val="64748B"/>
                </a:solidFill>
              </a:rPr>
              <a:t>NOT IN SCOPE</a:t>
            </a:r>
            <a:endParaRPr lang="en-US" sz="1000" dirty="0"/>
          </a:p>
        </p:txBody>
      </p:sp>
      <p:sp>
        <p:nvSpPr>
          <p:cNvPr id="9" name="Text 7"/>
          <p:cNvSpPr/>
          <p:nvPr/>
        </p:nvSpPr>
        <p:spPr>
          <a:xfrm>
            <a:off x="8092440" y="1938528"/>
            <a:ext cx="3291840" cy="3108960"/>
          </a:xfrm>
          <a:prstGeom prst="rect">
            <a:avLst/>
          </a:prstGeom>
          <a:noFill/>
          <a:ln/>
        </p:spPr>
        <p:txBody>
          <a:bodyPr wrap="square" rtlCol="0" anchor="ctr"/>
          <a:lstStyle/>
          <a:p>
            <a:pPr marL="342900" indent="-342900">
              <a:lnSpc>
                <a:spcPts val="1300"/>
              </a:lnSpc>
              <a:spcAft>
                <a:spcPts val="800"/>
              </a:spcAft>
              <a:buSzPct val="100000"/>
              <a:buChar char="•"/>
            </a:pPr>
            <a:r>
              <a:rPr lang="en-US" sz="1050" dirty="0">
                <a:solidFill>
                  <a:srgbClr val="64748B"/>
                </a:solidFill>
              </a:rPr>
              <a:t>Oracle Fusion internal configuration or customisation</a:t>
            </a:r>
            <a:endParaRPr lang="en-US" sz="1050" dirty="0"/>
          </a:p>
          <a:p>
            <a:pPr marL="342900" indent="-342900">
              <a:lnSpc>
                <a:spcPts val="1300"/>
              </a:lnSpc>
              <a:spcAft>
                <a:spcPts val="800"/>
              </a:spcAft>
              <a:buSzPct val="100000"/>
              <a:buChar char="•"/>
            </a:pPr>
            <a:r>
              <a:rPr lang="en-US" sz="1050" dirty="0">
                <a:solidFill>
                  <a:srgbClr val="64748B"/>
                </a:solidFill>
              </a:rPr>
              <a:t>Payment execution or bank integration (platform posts; ERP pays)</a:t>
            </a:r>
            <a:endParaRPr lang="en-US" sz="1050" dirty="0"/>
          </a:p>
          <a:p>
            <a:pPr marL="342900" indent="-342900">
              <a:lnSpc>
                <a:spcPts val="1300"/>
              </a:lnSpc>
              <a:spcAft>
                <a:spcPts val="800"/>
              </a:spcAft>
              <a:buSzPct val="100000"/>
              <a:buChar char="•"/>
            </a:pPr>
            <a:r>
              <a:rPr lang="en-US" sz="1050" dirty="0">
                <a:solidFill>
                  <a:srgbClr val="64748B"/>
                </a:solidFill>
              </a:rPr>
              <a:t>Migration of historical invoices prior to go-live</a:t>
            </a:r>
            <a:endParaRPr lang="en-US" sz="1050" dirty="0"/>
          </a:p>
          <a:p>
            <a:pPr marL="342900" indent="-342900">
              <a:lnSpc>
                <a:spcPts val="1300"/>
              </a:lnSpc>
              <a:spcAft>
                <a:spcPts val="800"/>
              </a:spcAft>
              <a:buSzPct val="100000"/>
              <a:buChar char="•"/>
            </a:pPr>
            <a:r>
              <a:rPr lang="en-US" sz="1050" dirty="0">
                <a:solidFill>
                  <a:srgbClr val="64748B"/>
                </a:solidFill>
              </a:rPr>
              <a:t>Physical document storage or archival scanning services</a:t>
            </a:r>
            <a:endParaRPr lang="en-US" sz="1050" dirty="0"/>
          </a:p>
          <a:p>
            <a:pPr marL="342900" indent="-342900">
              <a:lnSpc>
                <a:spcPts val="1300"/>
              </a:lnSpc>
              <a:spcAft>
                <a:spcPts val="800"/>
              </a:spcAft>
              <a:buSzPct val="100000"/>
              <a:buChar char="•"/>
            </a:pPr>
            <a:r>
              <a:rPr lang="en-US" sz="1050" dirty="0">
                <a:solidFill>
                  <a:srgbClr val="64748B"/>
                </a:solidFill>
              </a:rPr>
              <a:t>Statutory filing or tax return preparation</a:t>
            </a:r>
            <a:endParaRPr lang="en-US" sz="1050" dirty="0"/>
          </a:p>
          <a:p>
            <a:pPr marL="342900" indent="-342900">
              <a:lnSpc>
                <a:spcPts val="1300"/>
              </a:lnSpc>
              <a:spcAft>
                <a:spcPts val="800"/>
              </a:spcAft>
              <a:buSzPct val="100000"/>
              <a:buChar char="•"/>
            </a:pPr>
            <a:r>
              <a:rPr lang="en-US" sz="1050" dirty="0">
                <a:solidFill>
                  <a:srgbClr val="64748B"/>
                </a:solidFill>
              </a:rPr>
              <a:t>Change to BigBasket's existing approval authority matrix</a:t>
            </a:r>
            <a:endParaRPr lang="en-US" sz="1050" dirty="0"/>
          </a:p>
        </p:txBody>
      </p:sp>
      <p:sp>
        <p:nvSpPr>
          <p:cNvPr id="10" name="Shape 8"/>
          <p:cNvSpPr/>
          <p:nvPr/>
        </p:nvSpPr>
        <p:spPr>
          <a:xfrm>
            <a:off x="8092440" y="5138928"/>
            <a:ext cx="3291840" cy="685800"/>
          </a:xfrm>
          <a:prstGeom prst="roundRect">
            <a:avLst>
              <a:gd name="adj" fmla="val 6667"/>
            </a:avLst>
          </a:prstGeom>
          <a:solidFill>
            <a:srgbClr val="D1FAF6"/>
          </a:solidFill>
          <a:ln w="12700">
            <a:solidFill>
              <a:srgbClr val="D1FAF6"/>
            </a:solidFill>
            <a:prstDash val="solid"/>
          </a:ln>
        </p:spPr>
      </p:sp>
      <p:sp>
        <p:nvSpPr>
          <p:cNvPr id="11" name="Text 9"/>
          <p:cNvSpPr/>
          <p:nvPr/>
        </p:nvSpPr>
        <p:spPr>
          <a:xfrm>
            <a:off x="8229600" y="5212080"/>
            <a:ext cx="3017520" cy="548640"/>
          </a:xfrm>
          <a:prstGeom prst="rect">
            <a:avLst/>
          </a:prstGeom>
          <a:noFill/>
          <a:ln/>
        </p:spPr>
        <p:txBody>
          <a:bodyPr wrap="square" rtlCol="0" anchor="ctr"/>
          <a:lstStyle/>
          <a:p>
            <a:pPr marL="0" indent="0">
              <a:lnSpc>
                <a:spcPts val="1100"/>
              </a:lnSpc>
              <a:buNone/>
            </a:pPr>
            <a:r>
              <a:rPr lang="en-US" sz="1000" dirty="0">
                <a:solidFill>
                  <a:srgbClr val="0D1B2A"/>
                </a:solidFill>
              </a:rPr>
              <a:t>Phase 2 (API posting to Oracle Fusion) is included at no additional cost — activated whenever your ERP team has bandwidth.</a:t>
            </a:r>
            <a:endParaRPr lang="en-US" sz="1000" dirty="0"/>
          </a:p>
        </p:txBody>
      </p:sp>
      <p:sp>
        <p:nvSpPr>
          <p:cNvPr id="12" name="Text 10"/>
          <p:cNvSpPr/>
          <p:nvPr/>
        </p:nvSpPr>
        <p:spPr>
          <a:xfrm>
            <a:off x="502920" y="6419088"/>
            <a:ext cx="11155680" cy="256032"/>
          </a:xfrm>
          <a:prstGeom prst="rect">
            <a:avLst/>
          </a:prstGeom>
          <a:noFill/>
          <a:ln/>
        </p:spPr>
        <p:txBody>
          <a:bodyPr wrap="square" rtlCol="0" anchor="ctr"/>
          <a:lstStyle/>
          <a:p>
            <a:pPr marL="0" indent="0">
              <a:buNone/>
            </a:pPr>
            <a:r>
              <a:rPr lang="en-US" sz="750" dirty="0">
                <a:solidFill>
                  <a:srgbClr val="64748B"/>
                </a:solidFill>
              </a:rPr>
              <a:t>BillionTech  ·  billiontech.ai  ·  Strictly Confidential  ·  Proposal for BigBasket  ·  July 2026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B"/>
        </a:solidFill>
        <a:effectLst/>
      </p:bgPr>
    </p:bg>
    <p:spTree>
      <p:nvGrpSpPr>
        <p:cNvPr id="1" name=""/>
        <p:cNvGrpSpPr/>
        <p:nvPr/>
      </p:nvGrpSpPr>
      <p:grpSpPr>
        <a:xfrm>
          <a:off x="0" y="0"/>
          <a:ext cx="0" cy="0"/>
          <a:chOff x="0" y="0"/>
          <a:chExt cx="0" cy="0"/>
        </a:xfrm>
      </p:grpSpPr>
      <p:sp>
        <p:nvSpPr>
          <p:cNvPr id="2" name="Text 0"/>
          <p:cNvSpPr/>
          <p:nvPr/>
        </p:nvSpPr>
        <p:spPr>
          <a:xfrm>
            <a:off x="502920" y="347472"/>
            <a:ext cx="11155680" cy="411480"/>
          </a:xfrm>
          <a:prstGeom prst="rect">
            <a:avLst/>
          </a:prstGeom>
          <a:noFill/>
          <a:ln/>
        </p:spPr>
        <p:txBody>
          <a:bodyPr wrap="square" rtlCol="0" anchor="ctr"/>
          <a:lstStyle/>
          <a:p>
            <a:pPr marL="0" indent="0">
              <a:buNone/>
            </a:pPr>
            <a:r>
              <a:rPr lang="en-US" sz="2300" b="1" dirty="0">
                <a:solidFill>
                  <a:srgbClr val="0D1B2A"/>
                </a:solidFill>
              </a:rPr>
              <a:t>Security, Compliance &amp; Data Governance</a:t>
            </a:r>
            <a:endParaRPr lang="en-US" sz="2300" dirty="0"/>
          </a:p>
        </p:txBody>
      </p:sp>
      <p:sp>
        <p:nvSpPr>
          <p:cNvPr id="3" name="Text 1"/>
          <p:cNvSpPr/>
          <p:nvPr/>
        </p:nvSpPr>
        <p:spPr>
          <a:xfrm>
            <a:off x="502920" y="786384"/>
            <a:ext cx="11155680" cy="384048"/>
          </a:xfrm>
          <a:prstGeom prst="rect">
            <a:avLst/>
          </a:prstGeom>
          <a:noFill/>
          <a:ln/>
        </p:spPr>
        <p:txBody>
          <a:bodyPr wrap="square" rtlCol="0" anchor="ctr"/>
          <a:lstStyle/>
          <a:p>
            <a:pPr marL="0" indent="0">
              <a:buNone/>
            </a:pPr>
            <a:r>
              <a:rPr lang="en-US" sz="1150" dirty="0">
                <a:solidFill>
                  <a:srgbClr val="64748B"/>
                </a:solidFill>
              </a:rPr>
              <a:t>Rental agreements and freight contracts are commercially sensitive. Our controls posture, and our certification roadmap, are set out transparently below.</a:t>
            </a:r>
            <a:endParaRPr lang="en-US" sz="1150" dirty="0"/>
          </a:p>
        </p:txBody>
      </p:sp>
      <p:sp>
        <p:nvSpPr>
          <p:cNvPr id="4" name="Shape 2"/>
          <p:cNvSpPr/>
          <p:nvPr/>
        </p:nvSpPr>
        <p:spPr>
          <a:xfrm>
            <a:off x="502920" y="1417320"/>
            <a:ext cx="11155680" cy="1234440"/>
          </a:xfrm>
          <a:prstGeom prst="roundRect">
            <a:avLst>
              <a:gd name="adj" fmla="val 4444"/>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5" name="Shape 3"/>
          <p:cNvSpPr/>
          <p:nvPr/>
        </p:nvSpPr>
        <p:spPr>
          <a:xfrm>
            <a:off x="502920" y="1417320"/>
            <a:ext cx="109728" cy="1234440"/>
          </a:xfrm>
          <a:prstGeom prst="roundRect">
            <a:avLst>
              <a:gd name="adj" fmla="val 25000"/>
            </a:avLst>
          </a:prstGeom>
          <a:solidFill>
            <a:srgbClr val="0D9488"/>
          </a:solidFill>
          <a:ln w="12700">
            <a:solidFill>
              <a:srgbClr val="0D9488"/>
            </a:solidFill>
            <a:prstDash val="solid"/>
          </a:ln>
        </p:spPr>
      </p:sp>
      <p:sp>
        <p:nvSpPr>
          <p:cNvPr id="6" name="Text 4"/>
          <p:cNvSpPr/>
          <p:nvPr/>
        </p:nvSpPr>
        <p:spPr>
          <a:xfrm>
            <a:off x="822960" y="1572768"/>
            <a:ext cx="5486400" cy="274320"/>
          </a:xfrm>
          <a:prstGeom prst="rect">
            <a:avLst/>
          </a:prstGeom>
          <a:noFill/>
          <a:ln/>
        </p:spPr>
        <p:txBody>
          <a:bodyPr wrap="square" rtlCol="0" anchor="ctr"/>
          <a:lstStyle/>
          <a:p>
            <a:pPr marL="0" indent="0">
              <a:buNone/>
            </a:pPr>
            <a:r>
              <a:rPr lang="en-US" sz="1100" b="1" kern="0" spc="50" dirty="0">
                <a:solidFill>
                  <a:srgbClr val="0D1B2A"/>
                </a:solidFill>
              </a:rPr>
              <a:t>SOC 2 — CERTIFICATION IN PROGRESS</a:t>
            </a:r>
            <a:endParaRPr lang="en-US" sz="1100" dirty="0"/>
          </a:p>
        </p:txBody>
      </p:sp>
      <p:sp>
        <p:nvSpPr>
          <p:cNvPr id="7" name="Text 5"/>
          <p:cNvSpPr/>
          <p:nvPr/>
        </p:nvSpPr>
        <p:spPr>
          <a:xfrm>
            <a:off x="822960" y="1874520"/>
            <a:ext cx="7680960" cy="685800"/>
          </a:xfrm>
          <a:prstGeom prst="rect">
            <a:avLst/>
          </a:prstGeom>
          <a:noFill/>
          <a:ln/>
        </p:spPr>
        <p:txBody>
          <a:bodyPr wrap="square" rtlCol="0" anchor="ctr"/>
          <a:lstStyle/>
          <a:p>
            <a:pPr marL="0" indent="0">
              <a:lnSpc>
                <a:spcPts val="1250"/>
              </a:lnSpc>
              <a:buNone/>
            </a:pPr>
            <a:r>
              <a:rPr lang="en-US" sz="950" dirty="0">
                <a:solidFill>
                  <a:srgbClr val="334155"/>
                </a:solidFill>
              </a:rPr>
              <a:t>BillionTech is currently undergoing SOC 2 certification, which we expect to complete within the next 2–3 months. We are stating this openly rather than after the fact: at the point of signing this engagement, certification will be in progress, not concluded. We will share the audit report with BigBasket as soon as it is issued, and we are willing to make that delivery a contractual commitment.</a:t>
            </a:r>
            <a:endParaRPr lang="en-US" sz="950" dirty="0"/>
          </a:p>
        </p:txBody>
      </p:sp>
      <p:sp>
        <p:nvSpPr>
          <p:cNvPr id="8" name="Shape 6"/>
          <p:cNvSpPr/>
          <p:nvPr/>
        </p:nvSpPr>
        <p:spPr>
          <a:xfrm>
            <a:off x="8778240" y="1627632"/>
            <a:ext cx="2651760" cy="804672"/>
          </a:xfrm>
          <a:prstGeom prst="roundRect">
            <a:avLst>
              <a:gd name="adj" fmla="val 5682"/>
            </a:avLst>
          </a:prstGeom>
          <a:solidFill>
            <a:srgbClr val="D1FAF6"/>
          </a:solidFill>
          <a:ln w="12700">
            <a:solidFill>
              <a:srgbClr val="D1FAF6"/>
            </a:solidFill>
            <a:prstDash val="solid"/>
          </a:ln>
        </p:spPr>
      </p:sp>
      <p:sp>
        <p:nvSpPr>
          <p:cNvPr id="9" name="Text 7"/>
          <p:cNvSpPr/>
          <p:nvPr/>
        </p:nvSpPr>
        <p:spPr>
          <a:xfrm>
            <a:off x="8915400" y="1700784"/>
            <a:ext cx="2377440" cy="219456"/>
          </a:xfrm>
          <a:prstGeom prst="rect">
            <a:avLst/>
          </a:prstGeom>
          <a:noFill/>
          <a:ln/>
        </p:spPr>
        <p:txBody>
          <a:bodyPr wrap="square" lIns="0" tIns="0" rIns="0" bIns="0" rtlCol="0" anchor="ctr"/>
          <a:lstStyle/>
          <a:p>
            <a:pPr marL="0" indent="0" algn="ctr">
              <a:buNone/>
            </a:pPr>
            <a:r>
              <a:rPr lang="en-US" sz="800" dirty="0">
                <a:solidFill>
                  <a:srgbClr val="64748B"/>
                </a:solidFill>
              </a:rPr>
              <a:t>Expected completion</a:t>
            </a:r>
            <a:endParaRPr lang="en-US" sz="800" dirty="0"/>
          </a:p>
        </p:txBody>
      </p:sp>
      <p:sp>
        <p:nvSpPr>
          <p:cNvPr id="10" name="Text 8"/>
          <p:cNvSpPr/>
          <p:nvPr/>
        </p:nvSpPr>
        <p:spPr>
          <a:xfrm>
            <a:off x="8915400" y="1920240"/>
            <a:ext cx="2377440" cy="292608"/>
          </a:xfrm>
          <a:prstGeom prst="rect">
            <a:avLst/>
          </a:prstGeom>
          <a:noFill/>
          <a:ln/>
        </p:spPr>
        <p:txBody>
          <a:bodyPr wrap="square" lIns="0" tIns="0" rIns="0" bIns="0" rtlCol="0" anchor="ctr"/>
          <a:lstStyle/>
          <a:p>
            <a:pPr marL="0" indent="0" algn="ctr">
              <a:buNone/>
            </a:pPr>
            <a:r>
              <a:rPr lang="en-US" sz="1400" b="1" dirty="0">
                <a:solidFill>
                  <a:srgbClr val="0D9488"/>
                </a:solidFill>
              </a:rPr>
              <a:t>Q3 / Q4 2026</a:t>
            </a:r>
            <a:endParaRPr lang="en-US" sz="1400" dirty="0"/>
          </a:p>
        </p:txBody>
      </p:sp>
      <p:sp>
        <p:nvSpPr>
          <p:cNvPr id="11" name="Text 9"/>
          <p:cNvSpPr/>
          <p:nvPr/>
        </p:nvSpPr>
        <p:spPr>
          <a:xfrm>
            <a:off x="8915400" y="2194560"/>
            <a:ext cx="2377440" cy="201168"/>
          </a:xfrm>
          <a:prstGeom prst="rect">
            <a:avLst/>
          </a:prstGeom>
          <a:noFill/>
          <a:ln/>
        </p:spPr>
        <p:txBody>
          <a:bodyPr wrap="square" lIns="0" tIns="0" rIns="0" bIns="0" rtlCol="0" anchor="ctr"/>
          <a:lstStyle/>
          <a:p>
            <a:pPr marL="0" indent="0" algn="ctr">
              <a:buNone/>
            </a:pPr>
            <a:r>
              <a:rPr lang="en-US" sz="750" dirty="0">
                <a:solidFill>
                  <a:srgbClr val="0D1B2A"/>
                </a:solidFill>
              </a:rPr>
              <a:t>Report shared on issue</a:t>
            </a:r>
            <a:endParaRPr lang="en-US" sz="750" dirty="0"/>
          </a:p>
        </p:txBody>
      </p:sp>
      <p:sp>
        <p:nvSpPr>
          <p:cNvPr id="12" name="Shape 10"/>
          <p:cNvSpPr/>
          <p:nvPr/>
        </p:nvSpPr>
        <p:spPr>
          <a:xfrm>
            <a:off x="502920" y="2834640"/>
            <a:ext cx="3566160" cy="1481328"/>
          </a:xfrm>
          <a:prstGeom prst="roundRect">
            <a:avLst>
              <a:gd name="adj" fmla="val 3704"/>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13" name="Shape 11"/>
          <p:cNvSpPr/>
          <p:nvPr/>
        </p:nvSpPr>
        <p:spPr>
          <a:xfrm>
            <a:off x="731520" y="3017520"/>
            <a:ext cx="91440" cy="256032"/>
          </a:xfrm>
          <a:prstGeom prst="roundRect">
            <a:avLst>
              <a:gd name="adj" fmla="val 30000"/>
            </a:avLst>
          </a:prstGeom>
          <a:solidFill>
            <a:srgbClr val="1A5276"/>
          </a:solidFill>
          <a:ln w="12700">
            <a:solidFill>
              <a:srgbClr val="1A5276"/>
            </a:solidFill>
            <a:prstDash val="solid"/>
          </a:ln>
        </p:spPr>
      </p:sp>
      <p:sp>
        <p:nvSpPr>
          <p:cNvPr id="14" name="Text 12"/>
          <p:cNvSpPr/>
          <p:nvPr/>
        </p:nvSpPr>
        <p:spPr>
          <a:xfrm>
            <a:off x="941832" y="2980944"/>
            <a:ext cx="2926080" cy="310896"/>
          </a:xfrm>
          <a:prstGeom prst="rect">
            <a:avLst/>
          </a:prstGeom>
          <a:noFill/>
          <a:ln/>
        </p:spPr>
        <p:txBody>
          <a:bodyPr wrap="square" lIns="0" tIns="0" rIns="0" bIns="0" rtlCol="0" anchor="ctr"/>
          <a:lstStyle/>
          <a:p>
            <a:pPr marL="0" indent="0">
              <a:buNone/>
            </a:pPr>
            <a:r>
              <a:rPr lang="en-US" sz="1100" b="1" dirty="0">
                <a:solidFill>
                  <a:srgbClr val="0D1B2A"/>
                </a:solidFill>
              </a:rPr>
              <a:t>Data Protection</a:t>
            </a:r>
            <a:endParaRPr lang="en-US" sz="1100" dirty="0"/>
          </a:p>
        </p:txBody>
      </p:sp>
      <p:sp>
        <p:nvSpPr>
          <p:cNvPr id="15" name="Text 13"/>
          <p:cNvSpPr/>
          <p:nvPr/>
        </p:nvSpPr>
        <p:spPr>
          <a:xfrm>
            <a:off x="731520" y="3346704"/>
            <a:ext cx="3127248" cy="868680"/>
          </a:xfrm>
          <a:prstGeom prst="rect">
            <a:avLst/>
          </a:prstGeom>
          <a:noFill/>
          <a:ln/>
        </p:spPr>
        <p:txBody>
          <a:bodyPr wrap="square" lIns="0" tIns="0" rIns="0" bIns="0" rtlCol="0" anchor="ctr"/>
          <a:lstStyle/>
          <a:p>
            <a:pPr marL="0" indent="0">
              <a:lnSpc>
                <a:spcPts val="1100"/>
              </a:lnSpc>
              <a:buNone/>
            </a:pPr>
            <a:r>
              <a:rPr lang="en-US" sz="900" dirty="0">
                <a:solidFill>
                  <a:srgbClr val="334155"/>
                </a:solidFill>
              </a:rPr>
              <a:t>Encryption in transit (TLS 1.2+) and at rest. Rental agreements, freight contracts and invoice attachments encrypted in storage. Tenant data logically segregated.</a:t>
            </a:r>
            <a:endParaRPr lang="en-US" sz="900" dirty="0"/>
          </a:p>
        </p:txBody>
      </p:sp>
      <p:sp>
        <p:nvSpPr>
          <p:cNvPr id="16" name="Shape 14"/>
          <p:cNvSpPr/>
          <p:nvPr/>
        </p:nvSpPr>
        <p:spPr>
          <a:xfrm>
            <a:off x="4279392" y="2834640"/>
            <a:ext cx="3566160" cy="1481328"/>
          </a:xfrm>
          <a:prstGeom prst="roundRect">
            <a:avLst>
              <a:gd name="adj" fmla="val 3704"/>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17" name="Shape 15"/>
          <p:cNvSpPr/>
          <p:nvPr/>
        </p:nvSpPr>
        <p:spPr>
          <a:xfrm>
            <a:off x="4507992" y="3017520"/>
            <a:ext cx="91440" cy="256032"/>
          </a:xfrm>
          <a:prstGeom prst="roundRect">
            <a:avLst>
              <a:gd name="adj" fmla="val 30000"/>
            </a:avLst>
          </a:prstGeom>
          <a:solidFill>
            <a:srgbClr val="1A5276"/>
          </a:solidFill>
          <a:ln w="12700">
            <a:solidFill>
              <a:srgbClr val="1A5276"/>
            </a:solidFill>
            <a:prstDash val="solid"/>
          </a:ln>
        </p:spPr>
      </p:sp>
      <p:sp>
        <p:nvSpPr>
          <p:cNvPr id="18" name="Text 16"/>
          <p:cNvSpPr/>
          <p:nvPr/>
        </p:nvSpPr>
        <p:spPr>
          <a:xfrm>
            <a:off x="4718304" y="2980944"/>
            <a:ext cx="2926080" cy="310896"/>
          </a:xfrm>
          <a:prstGeom prst="rect">
            <a:avLst/>
          </a:prstGeom>
          <a:noFill/>
          <a:ln/>
        </p:spPr>
        <p:txBody>
          <a:bodyPr wrap="square" lIns="0" tIns="0" rIns="0" bIns="0" rtlCol="0" anchor="ctr"/>
          <a:lstStyle/>
          <a:p>
            <a:pPr marL="0" indent="0">
              <a:buNone/>
            </a:pPr>
            <a:r>
              <a:rPr lang="en-US" sz="1100" b="1" dirty="0">
                <a:solidFill>
                  <a:srgbClr val="0D1B2A"/>
                </a:solidFill>
              </a:rPr>
              <a:t>Access Control</a:t>
            </a:r>
            <a:endParaRPr lang="en-US" sz="1100" dirty="0"/>
          </a:p>
        </p:txBody>
      </p:sp>
      <p:sp>
        <p:nvSpPr>
          <p:cNvPr id="19" name="Text 17"/>
          <p:cNvSpPr/>
          <p:nvPr/>
        </p:nvSpPr>
        <p:spPr>
          <a:xfrm>
            <a:off x="4507992" y="3346704"/>
            <a:ext cx="3127248" cy="868680"/>
          </a:xfrm>
          <a:prstGeom prst="rect">
            <a:avLst/>
          </a:prstGeom>
          <a:noFill/>
          <a:ln/>
        </p:spPr>
        <p:txBody>
          <a:bodyPr wrap="square" lIns="0" tIns="0" rIns="0" bIns="0" rtlCol="0" anchor="ctr"/>
          <a:lstStyle/>
          <a:p>
            <a:pPr marL="0" indent="0">
              <a:lnSpc>
                <a:spcPts val="1100"/>
              </a:lnSpc>
              <a:buNone/>
            </a:pPr>
            <a:r>
              <a:rPr lang="en-US" sz="900" dirty="0">
                <a:solidFill>
                  <a:srgbClr val="334155"/>
                </a:solidFill>
              </a:rPr>
              <a:t>Role-based access with least-privilege defaults. Maker, Checker and Administrator roles strictly separated. Multi-factor authentication supported for all users.</a:t>
            </a:r>
            <a:endParaRPr lang="en-US" sz="900" dirty="0"/>
          </a:p>
        </p:txBody>
      </p:sp>
      <p:sp>
        <p:nvSpPr>
          <p:cNvPr id="20" name="Shape 18"/>
          <p:cNvSpPr/>
          <p:nvPr/>
        </p:nvSpPr>
        <p:spPr>
          <a:xfrm>
            <a:off x="8055864" y="2834640"/>
            <a:ext cx="3566160" cy="1481328"/>
          </a:xfrm>
          <a:prstGeom prst="roundRect">
            <a:avLst>
              <a:gd name="adj" fmla="val 3704"/>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21" name="Shape 19"/>
          <p:cNvSpPr/>
          <p:nvPr/>
        </p:nvSpPr>
        <p:spPr>
          <a:xfrm>
            <a:off x="8284464" y="3017520"/>
            <a:ext cx="91440" cy="256032"/>
          </a:xfrm>
          <a:prstGeom prst="roundRect">
            <a:avLst>
              <a:gd name="adj" fmla="val 30000"/>
            </a:avLst>
          </a:prstGeom>
          <a:solidFill>
            <a:srgbClr val="1A5276"/>
          </a:solidFill>
          <a:ln w="12700">
            <a:solidFill>
              <a:srgbClr val="1A5276"/>
            </a:solidFill>
            <a:prstDash val="solid"/>
          </a:ln>
        </p:spPr>
      </p:sp>
      <p:sp>
        <p:nvSpPr>
          <p:cNvPr id="22" name="Text 20"/>
          <p:cNvSpPr/>
          <p:nvPr/>
        </p:nvSpPr>
        <p:spPr>
          <a:xfrm>
            <a:off x="8494776" y="2980944"/>
            <a:ext cx="2926080" cy="310896"/>
          </a:xfrm>
          <a:prstGeom prst="rect">
            <a:avLst/>
          </a:prstGeom>
          <a:noFill/>
          <a:ln/>
        </p:spPr>
        <p:txBody>
          <a:bodyPr wrap="square" lIns="0" tIns="0" rIns="0" bIns="0" rtlCol="0" anchor="ctr"/>
          <a:lstStyle/>
          <a:p>
            <a:pPr marL="0" indent="0">
              <a:buNone/>
            </a:pPr>
            <a:r>
              <a:rPr lang="en-US" sz="1100" b="1" dirty="0">
                <a:solidFill>
                  <a:srgbClr val="0D1B2A"/>
                </a:solidFill>
              </a:rPr>
              <a:t>Audit &amp; Traceability</a:t>
            </a:r>
            <a:endParaRPr lang="en-US" sz="1100" dirty="0"/>
          </a:p>
        </p:txBody>
      </p:sp>
      <p:sp>
        <p:nvSpPr>
          <p:cNvPr id="23" name="Text 21"/>
          <p:cNvSpPr/>
          <p:nvPr/>
        </p:nvSpPr>
        <p:spPr>
          <a:xfrm>
            <a:off x="8284464" y="3346704"/>
            <a:ext cx="3127248" cy="868680"/>
          </a:xfrm>
          <a:prstGeom prst="rect">
            <a:avLst/>
          </a:prstGeom>
          <a:noFill/>
          <a:ln/>
        </p:spPr>
        <p:txBody>
          <a:bodyPr wrap="square" lIns="0" tIns="0" rIns="0" bIns="0" rtlCol="0" anchor="ctr"/>
          <a:lstStyle/>
          <a:p>
            <a:pPr marL="0" indent="0">
              <a:lnSpc>
                <a:spcPts val="1100"/>
              </a:lnSpc>
              <a:buNone/>
            </a:pPr>
            <a:r>
              <a:rPr lang="en-US" sz="900" dirty="0">
                <a:solidFill>
                  <a:srgbClr val="334155"/>
                </a:solidFill>
              </a:rPr>
              <a:t>Immutable, time-stamped audit log of every action — capture, verification, approval, posting. Attributable to a named user. Exportable for internal and statutory audit.</a:t>
            </a:r>
            <a:endParaRPr lang="en-US" sz="900" dirty="0"/>
          </a:p>
        </p:txBody>
      </p:sp>
      <p:sp>
        <p:nvSpPr>
          <p:cNvPr id="24" name="Shape 22"/>
          <p:cNvSpPr/>
          <p:nvPr/>
        </p:nvSpPr>
        <p:spPr>
          <a:xfrm>
            <a:off x="502920" y="4462272"/>
            <a:ext cx="3566160" cy="1481328"/>
          </a:xfrm>
          <a:prstGeom prst="roundRect">
            <a:avLst>
              <a:gd name="adj" fmla="val 3704"/>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25" name="Shape 23"/>
          <p:cNvSpPr/>
          <p:nvPr/>
        </p:nvSpPr>
        <p:spPr>
          <a:xfrm>
            <a:off x="731520" y="4645152"/>
            <a:ext cx="91440" cy="256032"/>
          </a:xfrm>
          <a:prstGeom prst="roundRect">
            <a:avLst>
              <a:gd name="adj" fmla="val 30000"/>
            </a:avLst>
          </a:prstGeom>
          <a:solidFill>
            <a:srgbClr val="1A5276"/>
          </a:solidFill>
          <a:ln w="12700">
            <a:solidFill>
              <a:srgbClr val="1A5276"/>
            </a:solidFill>
            <a:prstDash val="solid"/>
          </a:ln>
        </p:spPr>
      </p:sp>
      <p:sp>
        <p:nvSpPr>
          <p:cNvPr id="26" name="Text 24"/>
          <p:cNvSpPr/>
          <p:nvPr/>
        </p:nvSpPr>
        <p:spPr>
          <a:xfrm>
            <a:off x="941832" y="4608576"/>
            <a:ext cx="2926080" cy="310896"/>
          </a:xfrm>
          <a:prstGeom prst="rect">
            <a:avLst/>
          </a:prstGeom>
          <a:noFill/>
          <a:ln/>
        </p:spPr>
        <p:txBody>
          <a:bodyPr wrap="square" lIns="0" tIns="0" rIns="0" bIns="0" rtlCol="0" anchor="ctr"/>
          <a:lstStyle/>
          <a:p>
            <a:pPr marL="0" indent="0">
              <a:buNone/>
            </a:pPr>
            <a:r>
              <a:rPr lang="en-US" sz="1100" b="1" dirty="0">
                <a:solidFill>
                  <a:srgbClr val="0D1B2A"/>
                </a:solidFill>
              </a:rPr>
              <a:t>Availability &amp; Continuity</a:t>
            </a:r>
            <a:endParaRPr lang="en-US" sz="1100" dirty="0"/>
          </a:p>
        </p:txBody>
      </p:sp>
      <p:sp>
        <p:nvSpPr>
          <p:cNvPr id="27" name="Text 25"/>
          <p:cNvSpPr/>
          <p:nvPr/>
        </p:nvSpPr>
        <p:spPr>
          <a:xfrm>
            <a:off x="731520" y="4974336"/>
            <a:ext cx="3127248" cy="868680"/>
          </a:xfrm>
          <a:prstGeom prst="rect">
            <a:avLst/>
          </a:prstGeom>
          <a:noFill/>
          <a:ln/>
        </p:spPr>
        <p:txBody>
          <a:bodyPr wrap="square" lIns="0" tIns="0" rIns="0" bIns="0" rtlCol="0" anchor="ctr"/>
          <a:lstStyle/>
          <a:p>
            <a:pPr marL="0" indent="0">
              <a:lnSpc>
                <a:spcPts val="1100"/>
              </a:lnSpc>
              <a:buNone/>
            </a:pPr>
            <a:r>
              <a:rPr lang="en-US" sz="900" dirty="0">
                <a:solidFill>
                  <a:srgbClr val="334155"/>
                </a:solidFill>
              </a:rPr>
              <a:t>Hosted on enterprise cloud infrastructure with automated backup, disaster recovery and defined RPO/RTO. Availability commitments set out in the SLA.</a:t>
            </a:r>
            <a:endParaRPr lang="en-US" sz="900" dirty="0"/>
          </a:p>
        </p:txBody>
      </p:sp>
      <p:sp>
        <p:nvSpPr>
          <p:cNvPr id="28" name="Shape 26"/>
          <p:cNvSpPr/>
          <p:nvPr/>
        </p:nvSpPr>
        <p:spPr>
          <a:xfrm>
            <a:off x="4279392" y="4462272"/>
            <a:ext cx="3566160" cy="1481328"/>
          </a:xfrm>
          <a:prstGeom prst="roundRect">
            <a:avLst>
              <a:gd name="adj" fmla="val 3704"/>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29" name="Shape 27"/>
          <p:cNvSpPr/>
          <p:nvPr/>
        </p:nvSpPr>
        <p:spPr>
          <a:xfrm>
            <a:off x="4507992" y="4645152"/>
            <a:ext cx="91440" cy="256032"/>
          </a:xfrm>
          <a:prstGeom prst="roundRect">
            <a:avLst>
              <a:gd name="adj" fmla="val 30000"/>
            </a:avLst>
          </a:prstGeom>
          <a:solidFill>
            <a:srgbClr val="1A5276"/>
          </a:solidFill>
          <a:ln w="12700">
            <a:solidFill>
              <a:srgbClr val="1A5276"/>
            </a:solidFill>
            <a:prstDash val="solid"/>
          </a:ln>
        </p:spPr>
      </p:sp>
      <p:sp>
        <p:nvSpPr>
          <p:cNvPr id="30" name="Text 28"/>
          <p:cNvSpPr/>
          <p:nvPr/>
        </p:nvSpPr>
        <p:spPr>
          <a:xfrm>
            <a:off x="4718304" y="4608576"/>
            <a:ext cx="2926080" cy="310896"/>
          </a:xfrm>
          <a:prstGeom prst="rect">
            <a:avLst/>
          </a:prstGeom>
          <a:noFill/>
          <a:ln/>
        </p:spPr>
        <p:txBody>
          <a:bodyPr wrap="square" lIns="0" tIns="0" rIns="0" bIns="0" rtlCol="0" anchor="ctr"/>
          <a:lstStyle/>
          <a:p>
            <a:pPr marL="0" indent="0">
              <a:buNone/>
            </a:pPr>
            <a:r>
              <a:rPr lang="en-US" sz="1100" b="1" dirty="0">
                <a:solidFill>
                  <a:srgbClr val="0D1B2A"/>
                </a:solidFill>
              </a:rPr>
              <a:t>Regulatory Alignment</a:t>
            </a:r>
            <a:endParaRPr lang="en-US" sz="1100" dirty="0"/>
          </a:p>
        </p:txBody>
      </p:sp>
      <p:sp>
        <p:nvSpPr>
          <p:cNvPr id="31" name="Text 29"/>
          <p:cNvSpPr/>
          <p:nvPr/>
        </p:nvSpPr>
        <p:spPr>
          <a:xfrm>
            <a:off x="4507992" y="4974336"/>
            <a:ext cx="3127248" cy="868680"/>
          </a:xfrm>
          <a:prstGeom prst="rect">
            <a:avLst/>
          </a:prstGeom>
          <a:noFill/>
          <a:ln/>
        </p:spPr>
        <p:txBody>
          <a:bodyPr wrap="square" lIns="0" tIns="0" rIns="0" bIns="0" rtlCol="0" anchor="ctr"/>
          <a:lstStyle/>
          <a:p>
            <a:pPr marL="0" indent="0">
              <a:lnSpc>
                <a:spcPts val="1100"/>
              </a:lnSpc>
              <a:buNone/>
            </a:pPr>
            <a:r>
              <a:rPr lang="en-US" sz="900" dirty="0">
                <a:solidFill>
                  <a:srgbClr val="334155"/>
                </a:solidFill>
              </a:rPr>
              <a:t>Built for Indian statutory requirements — GST, TDS and e-invoicing treatment embedded in validation. Data residency within India.</a:t>
            </a:r>
            <a:endParaRPr lang="en-US" sz="900" dirty="0"/>
          </a:p>
        </p:txBody>
      </p:sp>
      <p:sp>
        <p:nvSpPr>
          <p:cNvPr id="32" name="Shape 30"/>
          <p:cNvSpPr/>
          <p:nvPr/>
        </p:nvSpPr>
        <p:spPr>
          <a:xfrm>
            <a:off x="8055864" y="4462272"/>
            <a:ext cx="3566160" cy="1481328"/>
          </a:xfrm>
          <a:prstGeom prst="roundRect">
            <a:avLst>
              <a:gd name="adj" fmla="val 3704"/>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33" name="Shape 31"/>
          <p:cNvSpPr/>
          <p:nvPr/>
        </p:nvSpPr>
        <p:spPr>
          <a:xfrm>
            <a:off x="8284464" y="4645152"/>
            <a:ext cx="91440" cy="256032"/>
          </a:xfrm>
          <a:prstGeom prst="roundRect">
            <a:avLst>
              <a:gd name="adj" fmla="val 30000"/>
            </a:avLst>
          </a:prstGeom>
          <a:solidFill>
            <a:srgbClr val="1A5276"/>
          </a:solidFill>
          <a:ln w="12700">
            <a:solidFill>
              <a:srgbClr val="1A5276"/>
            </a:solidFill>
            <a:prstDash val="solid"/>
          </a:ln>
        </p:spPr>
      </p:sp>
      <p:sp>
        <p:nvSpPr>
          <p:cNvPr id="34" name="Text 32"/>
          <p:cNvSpPr/>
          <p:nvPr/>
        </p:nvSpPr>
        <p:spPr>
          <a:xfrm>
            <a:off x="8494776" y="4608576"/>
            <a:ext cx="2926080" cy="310896"/>
          </a:xfrm>
          <a:prstGeom prst="rect">
            <a:avLst/>
          </a:prstGeom>
          <a:noFill/>
          <a:ln/>
        </p:spPr>
        <p:txBody>
          <a:bodyPr wrap="square" lIns="0" tIns="0" rIns="0" bIns="0" rtlCol="0" anchor="ctr"/>
          <a:lstStyle/>
          <a:p>
            <a:pPr marL="0" indent="0">
              <a:buNone/>
            </a:pPr>
            <a:r>
              <a:rPr lang="en-US" sz="1100" b="1" dirty="0">
                <a:solidFill>
                  <a:srgbClr val="0D1B2A"/>
                </a:solidFill>
              </a:rPr>
              <a:t>Proven at Scale</a:t>
            </a:r>
            <a:endParaRPr lang="en-US" sz="1100" dirty="0"/>
          </a:p>
        </p:txBody>
      </p:sp>
      <p:sp>
        <p:nvSpPr>
          <p:cNvPr id="35" name="Text 33"/>
          <p:cNvSpPr/>
          <p:nvPr/>
        </p:nvSpPr>
        <p:spPr>
          <a:xfrm>
            <a:off x="8284464" y="4974336"/>
            <a:ext cx="3127248" cy="868680"/>
          </a:xfrm>
          <a:prstGeom prst="rect">
            <a:avLst/>
          </a:prstGeom>
          <a:noFill/>
          <a:ln/>
        </p:spPr>
        <p:txBody>
          <a:bodyPr wrap="square" lIns="0" tIns="0" rIns="0" bIns="0" rtlCol="0" anchor="ctr"/>
          <a:lstStyle/>
          <a:p>
            <a:pPr marL="0" indent="0">
              <a:lnSpc>
                <a:spcPts val="1100"/>
              </a:lnSpc>
              <a:buNone/>
            </a:pPr>
            <a:r>
              <a:rPr lang="en-US" sz="900" dirty="0">
                <a:solidFill>
                  <a:srgbClr val="334155"/>
                </a:solidFill>
              </a:rPr>
              <a:t>7,00,000+ invoices and ₹5,700 Cr+ processed in live production across corporate anchors and regulated lending partners over eight years.</a:t>
            </a:r>
            <a:endParaRPr lang="en-US" sz="900" dirty="0"/>
          </a:p>
        </p:txBody>
      </p:sp>
      <p:sp>
        <p:nvSpPr>
          <p:cNvPr id="36" name="Text 34"/>
          <p:cNvSpPr/>
          <p:nvPr/>
        </p:nvSpPr>
        <p:spPr>
          <a:xfrm>
            <a:off x="502920" y="6144768"/>
            <a:ext cx="11155680" cy="274320"/>
          </a:xfrm>
          <a:prstGeom prst="rect">
            <a:avLst/>
          </a:prstGeom>
          <a:noFill/>
          <a:ln/>
        </p:spPr>
        <p:txBody>
          <a:bodyPr wrap="square" rtlCol="0" anchor="ctr"/>
          <a:lstStyle/>
          <a:p>
            <a:pPr marL="0" indent="0">
              <a:buNone/>
            </a:pPr>
            <a:r>
              <a:rPr lang="en-US" sz="1000" b="1" dirty="0">
                <a:solidFill>
                  <a:srgbClr val="0D9488"/>
                </a:solidFill>
              </a:rPr>
              <a:t>Controls above are in force today. SOC 2 formalises and independently attests them — it is not the point at which they begin.</a:t>
            </a:r>
            <a:endParaRPr lang="en-US" sz="1000" dirty="0"/>
          </a:p>
        </p:txBody>
      </p:sp>
      <p:sp>
        <p:nvSpPr>
          <p:cNvPr id="37" name="Text 35"/>
          <p:cNvSpPr/>
          <p:nvPr/>
        </p:nvSpPr>
        <p:spPr>
          <a:xfrm>
            <a:off x="502920" y="6419088"/>
            <a:ext cx="11155680" cy="256032"/>
          </a:xfrm>
          <a:prstGeom prst="rect">
            <a:avLst/>
          </a:prstGeom>
          <a:noFill/>
          <a:ln/>
        </p:spPr>
        <p:txBody>
          <a:bodyPr wrap="square" rtlCol="0" anchor="ctr"/>
          <a:lstStyle/>
          <a:p>
            <a:pPr marL="0" indent="0">
              <a:buNone/>
            </a:pPr>
            <a:r>
              <a:rPr lang="en-US" sz="750" dirty="0">
                <a:solidFill>
                  <a:srgbClr val="64748B"/>
                </a:solidFill>
              </a:rPr>
              <a:t>BillionTech  ·  billiontech.ai  ·  Strictly Confidential  ·  Proposal for BigBasket  ·  July 2026</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B"/>
        </a:solidFill>
        <a:effectLst/>
      </p:bgPr>
    </p:bg>
    <p:spTree>
      <p:nvGrpSpPr>
        <p:cNvPr id="1" name=""/>
        <p:cNvGrpSpPr/>
        <p:nvPr/>
      </p:nvGrpSpPr>
      <p:grpSpPr>
        <a:xfrm>
          <a:off x="0" y="0"/>
          <a:ext cx="0" cy="0"/>
          <a:chOff x="0" y="0"/>
          <a:chExt cx="0" cy="0"/>
        </a:xfrm>
      </p:grpSpPr>
      <p:sp>
        <p:nvSpPr>
          <p:cNvPr id="2" name="Text 0"/>
          <p:cNvSpPr/>
          <p:nvPr/>
        </p:nvSpPr>
        <p:spPr>
          <a:xfrm>
            <a:off x="502920" y="347472"/>
            <a:ext cx="11155680" cy="411480"/>
          </a:xfrm>
          <a:prstGeom prst="rect">
            <a:avLst/>
          </a:prstGeom>
          <a:noFill/>
          <a:ln/>
        </p:spPr>
        <p:txBody>
          <a:bodyPr wrap="square" rtlCol="0" anchor="ctr"/>
          <a:lstStyle/>
          <a:p>
            <a:pPr marL="0" indent="0">
              <a:buNone/>
            </a:pPr>
            <a:r>
              <a:rPr lang="en-US" sz="2300" b="1" dirty="0">
                <a:solidFill>
                  <a:srgbClr val="0D1B2A"/>
                </a:solidFill>
              </a:rPr>
              <a:t>Commercial Options  |  Two Structures, One Platform</a:t>
            </a:r>
            <a:endParaRPr lang="en-US" sz="2300" dirty="0"/>
          </a:p>
        </p:txBody>
      </p:sp>
      <p:sp>
        <p:nvSpPr>
          <p:cNvPr id="3" name="Text 1"/>
          <p:cNvSpPr/>
          <p:nvPr/>
        </p:nvSpPr>
        <p:spPr>
          <a:xfrm>
            <a:off x="502920" y="786384"/>
            <a:ext cx="11155680" cy="384048"/>
          </a:xfrm>
          <a:prstGeom prst="rect">
            <a:avLst/>
          </a:prstGeom>
          <a:noFill/>
          <a:ln/>
        </p:spPr>
        <p:txBody>
          <a:bodyPr wrap="square" rtlCol="0" anchor="ctr"/>
          <a:lstStyle/>
          <a:p>
            <a:pPr marL="0" indent="0">
              <a:buNone/>
            </a:pPr>
            <a:r>
              <a:rPr lang="en-US" sz="1150" dirty="0">
                <a:solidFill>
                  <a:srgbClr val="64748B"/>
                </a:solidFill>
              </a:rPr>
              <a:t>Identical platform, scope and support in both options. They differ only in how usage is metered. One-time and recurring costs are shown separately.</a:t>
            </a:r>
            <a:endParaRPr lang="en-US" sz="1150" dirty="0"/>
          </a:p>
        </p:txBody>
      </p:sp>
      <p:sp>
        <p:nvSpPr>
          <p:cNvPr id="4" name="Shape 2"/>
          <p:cNvSpPr/>
          <p:nvPr/>
        </p:nvSpPr>
        <p:spPr>
          <a:xfrm>
            <a:off x="502920" y="1371600"/>
            <a:ext cx="11155680" cy="713232"/>
          </a:xfrm>
          <a:prstGeom prst="roundRect">
            <a:avLst>
              <a:gd name="adj" fmla="val 7692"/>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5" name="Text 3"/>
          <p:cNvSpPr/>
          <p:nvPr/>
        </p:nvSpPr>
        <p:spPr>
          <a:xfrm>
            <a:off x="777240" y="1481328"/>
            <a:ext cx="4206240" cy="256032"/>
          </a:xfrm>
          <a:prstGeom prst="rect">
            <a:avLst/>
          </a:prstGeom>
          <a:noFill/>
          <a:ln/>
        </p:spPr>
        <p:txBody>
          <a:bodyPr wrap="square" rtlCol="0" anchor="ctr"/>
          <a:lstStyle/>
          <a:p>
            <a:pPr marL="0" indent="0">
              <a:buNone/>
            </a:pPr>
            <a:r>
              <a:rPr lang="en-US" sz="950" b="1" kern="0" spc="100" dirty="0">
                <a:solidFill>
                  <a:srgbClr val="0D9488"/>
                </a:solidFill>
              </a:rPr>
              <a:t>ONE-TIME  ·  COMMON TO BOTH OPTIONS</a:t>
            </a:r>
            <a:endParaRPr lang="en-US" sz="950" dirty="0"/>
          </a:p>
        </p:txBody>
      </p:sp>
      <p:sp>
        <p:nvSpPr>
          <p:cNvPr id="6" name="Text 4"/>
          <p:cNvSpPr/>
          <p:nvPr/>
        </p:nvSpPr>
        <p:spPr>
          <a:xfrm>
            <a:off x="777240" y="1737360"/>
            <a:ext cx="4206240" cy="256032"/>
          </a:xfrm>
          <a:prstGeom prst="rect">
            <a:avLst/>
          </a:prstGeom>
          <a:noFill/>
          <a:ln/>
        </p:spPr>
        <p:txBody>
          <a:bodyPr wrap="square" rtlCol="0" anchor="ctr"/>
          <a:lstStyle/>
          <a:p>
            <a:pPr marL="0" indent="0">
              <a:buNone/>
            </a:pPr>
            <a:r>
              <a:rPr lang="en-US" sz="1050" dirty="0">
                <a:solidFill>
                  <a:srgbClr val="334155"/>
                </a:solidFill>
              </a:rPr>
              <a:t>Implementation &amp; Onboarding</a:t>
            </a:r>
            <a:endParaRPr lang="en-US" sz="1050" dirty="0"/>
          </a:p>
        </p:txBody>
      </p:sp>
      <p:sp>
        <p:nvSpPr>
          <p:cNvPr id="7" name="Text 5"/>
          <p:cNvSpPr/>
          <p:nvPr/>
        </p:nvSpPr>
        <p:spPr>
          <a:xfrm>
            <a:off x="5120640" y="1536192"/>
            <a:ext cx="4480560" cy="457200"/>
          </a:xfrm>
          <a:prstGeom prst="rect">
            <a:avLst/>
          </a:prstGeom>
          <a:noFill/>
          <a:ln/>
        </p:spPr>
        <p:txBody>
          <a:bodyPr wrap="square" rtlCol="0" anchor="ctr"/>
          <a:lstStyle/>
          <a:p>
            <a:pPr marL="0" indent="0">
              <a:lnSpc>
                <a:spcPts val="1100"/>
              </a:lnSpc>
              <a:buNone/>
            </a:pPr>
            <a:r>
              <a:rPr lang="en-US" sz="850" dirty="0">
                <a:solidFill>
                  <a:srgbClr val="64748B"/>
                </a:solidFill>
              </a:rPr>
              <a:t>Includes agreement digitisation setup, bulk upload of 1,500 rental agreements, freight rate cards, Maker–Checker configuration, UAT and go-live hypercare.</a:t>
            </a:r>
            <a:endParaRPr lang="en-US" sz="850" dirty="0"/>
          </a:p>
        </p:txBody>
      </p:sp>
      <p:sp>
        <p:nvSpPr>
          <p:cNvPr id="8" name="Text 6"/>
          <p:cNvSpPr/>
          <p:nvPr/>
        </p:nvSpPr>
        <p:spPr>
          <a:xfrm>
            <a:off x="9692640" y="1481328"/>
            <a:ext cx="1737360" cy="502920"/>
          </a:xfrm>
          <a:prstGeom prst="rect">
            <a:avLst/>
          </a:prstGeom>
          <a:noFill/>
          <a:ln/>
        </p:spPr>
        <p:txBody>
          <a:bodyPr wrap="square" rtlCol="0" anchor="ctr"/>
          <a:lstStyle/>
          <a:p>
            <a:pPr marL="0" indent="0" algn="r">
              <a:buNone/>
            </a:pPr>
            <a:r>
              <a:rPr lang="en-US" sz="1700" b="1" dirty="0">
                <a:solidFill>
                  <a:srgbClr val="0D1B2A"/>
                </a:solidFill>
              </a:rPr>
              <a:t>₹ 3,00,000</a:t>
            </a:r>
            <a:endParaRPr lang="en-US" sz="1700" dirty="0"/>
          </a:p>
        </p:txBody>
      </p:sp>
      <p:sp>
        <p:nvSpPr>
          <p:cNvPr id="9" name="Shape 7"/>
          <p:cNvSpPr/>
          <p:nvPr/>
        </p:nvSpPr>
        <p:spPr>
          <a:xfrm>
            <a:off x="502920" y="2267712"/>
            <a:ext cx="5440680" cy="3246120"/>
          </a:xfrm>
          <a:prstGeom prst="roundRect">
            <a:avLst>
              <a:gd name="adj" fmla="val 1690"/>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10" name="Shape 8"/>
          <p:cNvSpPr/>
          <p:nvPr/>
        </p:nvSpPr>
        <p:spPr>
          <a:xfrm>
            <a:off x="502920" y="2267712"/>
            <a:ext cx="5440680" cy="530352"/>
          </a:xfrm>
          <a:prstGeom prst="roundRect">
            <a:avLst>
              <a:gd name="adj" fmla="val 10345"/>
            </a:avLst>
          </a:prstGeom>
          <a:solidFill>
            <a:srgbClr val="0D1B2A"/>
          </a:solidFill>
          <a:ln w="12700">
            <a:solidFill>
              <a:srgbClr val="0D1B2A"/>
            </a:solidFill>
            <a:prstDash val="solid"/>
          </a:ln>
        </p:spPr>
      </p:sp>
      <p:sp>
        <p:nvSpPr>
          <p:cNvPr id="11" name="Text 9"/>
          <p:cNvSpPr/>
          <p:nvPr/>
        </p:nvSpPr>
        <p:spPr>
          <a:xfrm>
            <a:off x="777240" y="2359152"/>
            <a:ext cx="4937760" cy="347472"/>
          </a:xfrm>
          <a:prstGeom prst="rect">
            <a:avLst/>
          </a:prstGeom>
          <a:noFill/>
          <a:ln/>
        </p:spPr>
        <p:txBody>
          <a:bodyPr wrap="square" rtlCol="0" anchor="ctr"/>
          <a:lstStyle/>
          <a:p>
            <a:pPr marL="0" indent="0">
              <a:buNone/>
            </a:pPr>
            <a:r>
              <a:rPr lang="en-US" sz="1100" b="1" kern="0" spc="100" dirty="0">
                <a:solidFill>
                  <a:srgbClr val="0D9488"/>
                </a:solidFill>
              </a:rPr>
              <a:t>OPTION A  ·  PER-BILL</a:t>
            </a:r>
            <a:endParaRPr lang="en-US" sz="1100" dirty="0"/>
          </a:p>
        </p:txBody>
      </p:sp>
      <p:sp>
        <p:nvSpPr>
          <p:cNvPr id="12" name="Text 10"/>
          <p:cNvSpPr/>
          <p:nvPr/>
        </p:nvSpPr>
        <p:spPr>
          <a:xfrm>
            <a:off x="777240" y="2907792"/>
            <a:ext cx="4937760" cy="219456"/>
          </a:xfrm>
          <a:prstGeom prst="rect">
            <a:avLst/>
          </a:prstGeom>
          <a:noFill/>
          <a:ln/>
        </p:spPr>
        <p:txBody>
          <a:bodyPr wrap="square" rtlCol="0" anchor="ctr"/>
          <a:lstStyle/>
          <a:p>
            <a:pPr marL="0" indent="0">
              <a:buNone/>
            </a:pPr>
            <a:r>
              <a:rPr lang="en-US" sz="850" b="1" kern="0" spc="100" dirty="0">
                <a:solidFill>
                  <a:srgbClr val="64748B"/>
                </a:solidFill>
              </a:rPr>
              <a:t>RECURRING  —  MONTHLY</a:t>
            </a:r>
            <a:endParaRPr lang="en-US" sz="850" dirty="0"/>
          </a:p>
        </p:txBody>
      </p:sp>
      <p:sp>
        <p:nvSpPr>
          <p:cNvPr id="13" name="Text 11"/>
          <p:cNvSpPr/>
          <p:nvPr/>
        </p:nvSpPr>
        <p:spPr>
          <a:xfrm>
            <a:off x="777240" y="3163824"/>
            <a:ext cx="2743200" cy="310896"/>
          </a:xfrm>
          <a:prstGeom prst="rect">
            <a:avLst/>
          </a:prstGeom>
          <a:noFill/>
          <a:ln/>
        </p:spPr>
        <p:txBody>
          <a:bodyPr wrap="square" lIns="0" tIns="0" rIns="0" bIns="0" rtlCol="0" anchor="ctr"/>
          <a:lstStyle/>
          <a:p>
            <a:pPr marL="0" indent="0">
              <a:buNone/>
            </a:pPr>
            <a:r>
              <a:rPr lang="en-US" sz="950" dirty="0">
                <a:solidFill>
                  <a:srgbClr val="334155"/>
                </a:solidFill>
              </a:rPr>
              <a:t>Processing fee</a:t>
            </a:r>
            <a:endParaRPr lang="en-US" sz="950" dirty="0"/>
          </a:p>
        </p:txBody>
      </p:sp>
      <p:sp>
        <p:nvSpPr>
          <p:cNvPr id="14" name="Text 12"/>
          <p:cNvSpPr/>
          <p:nvPr/>
        </p:nvSpPr>
        <p:spPr>
          <a:xfrm>
            <a:off x="3520440" y="3163824"/>
            <a:ext cx="2194560" cy="310896"/>
          </a:xfrm>
          <a:prstGeom prst="rect">
            <a:avLst/>
          </a:prstGeom>
          <a:noFill/>
          <a:ln/>
        </p:spPr>
        <p:txBody>
          <a:bodyPr wrap="square" lIns="0" tIns="0" rIns="0" bIns="0" rtlCol="0" anchor="ctr"/>
          <a:lstStyle/>
          <a:p>
            <a:pPr marL="0" indent="0" algn="r">
              <a:buNone/>
            </a:pPr>
            <a:r>
              <a:rPr lang="en-US" sz="950" b="1" dirty="0">
                <a:solidFill>
                  <a:srgbClr val="0D1B2A"/>
                </a:solidFill>
              </a:rPr>
              <a:t>₹75 per bill</a:t>
            </a:r>
            <a:endParaRPr lang="en-US" sz="950" dirty="0"/>
          </a:p>
        </p:txBody>
      </p:sp>
      <p:sp>
        <p:nvSpPr>
          <p:cNvPr id="15" name="Shape 13"/>
          <p:cNvSpPr/>
          <p:nvPr/>
        </p:nvSpPr>
        <p:spPr>
          <a:xfrm>
            <a:off x="777240" y="3493008"/>
            <a:ext cx="4937760" cy="0"/>
          </a:xfrm>
          <a:prstGeom prst="line">
            <a:avLst/>
          </a:prstGeom>
          <a:noFill/>
          <a:ln w="9525">
            <a:solidFill>
              <a:srgbClr val="E5EAF0"/>
            </a:solidFill>
            <a:prstDash val="solid"/>
          </a:ln>
        </p:spPr>
      </p:sp>
      <p:sp>
        <p:nvSpPr>
          <p:cNvPr id="16" name="Text 14"/>
          <p:cNvSpPr/>
          <p:nvPr/>
        </p:nvSpPr>
        <p:spPr>
          <a:xfrm>
            <a:off x="777240" y="3529584"/>
            <a:ext cx="2743200" cy="310896"/>
          </a:xfrm>
          <a:prstGeom prst="rect">
            <a:avLst/>
          </a:prstGeom>
          <a:noFill/>
          <a:ln/>
        </p:spPr>
        <p:txBody>
          <a:bodyPr wrap="square" lIns="0" tIns="0" rIns="0" bIns="0" rtlCol="0" anchor="ctr"/>
          <a:lstStyle/>
          <a:p>
            <a:pPr marL="0" indent="0">
              <a:buNone/>
            </a:pPr>
            <a:r>
              <a:rPr lang="en-US" sz="950" dirty="0">
                <a:solidFill>
                  <a:srgbClr val="334155"/>
                </a:solidFill>
              </a:rPr>
              <a:t>Est. volume</a:t>
            </a:r>
            <a:endParaRPr lang="en-US" sz="950" dirty="0"/>
          </a:p>
        </p:txBody>
      </p:sp>
      <p:sp>
        <p:nvSpPr>
          <p:cNvPr id="17" name="Text 15"/>
          <p:cNvSpPr/>
          <p:nvPr/>
        </p:nvSpPr>
        <p:spPr>
          <a:xfrm>
            <a:off x="3520440" y="3529584"/>
            <a:ext cx="2194560" cy="310896"/>
          </a:xfrm>
          <a:prstGeom prst="rect">
            <a:avLst/>
          </a:prstGeom>
          <a:noFill/>
          <a:ln/>
        </p:spPr>
        <p:txBody>
          <a:bodyPr wrap="square" lIns="0" tIns="0" rIns="0" bIns="0" rtlCol="0" anchor="ctr"/>
          <a:lstStyle/>
          <a:p>
            <a:pPr marL="0" indent="0" algn="r">
              <a:buNone/>
            </a:pPr>
            <a:r>
              <a:rPr lang="en-US" sz="950" b="1" dirty="0">
                <a:solidFill>
                  <a:srgbClr val="0D1B2A"/>
                </a:solidFill>
              </a:rPr>
              <a:t>3,300 bills / month</a:t>
            </a:r>
            <a:endParaRPr lang="en-US" sz="950" dirty="0"/>
          </a:p>
        </p:txBody>
      </p:sp>
      <p:sp>
        <p:nvSpPr>
          <p:cNvPr id="18" name="Shape 16"/>
          <p:cNvSpPr/>
          <p:nvPr/>
        </p:nvSpPr>
        <p:spPr>
          <a:xfrm>
            <a:off x="777240" y="3858768"/>
            <a:ext cx="4937760" cy="0"/>
          </a:xfrm>
          <a:prstGeom prst="line">
            <a:avLst/>
          </a:prstGeom>
          <a:noFill/>
          <a:ln w="9525">
            <a:solidFill>
              <a:srgbClr val="E5EAF0"/>
            </a:solidFill>
            <a:prstDash val="solid"/>
          </a:ln>
        </p:spPr>
      </p:sp>
      <p:sp>
        <p:nvSpPr>
          <p:cNvPr id="19" name="Text 17"/>
          <p:cNvSpPr/>
          <p:nvPr/>
        </p:nvSpPr>
        <p:spPr>
          <a:xfrm>
            <a:off x="777240" y="3895344"/>
            <a:ext cx="2743200" cy="310896"/>
          </a:xfrm>
          <a:prstGeom prst="rect">
            <a:avLst/>
          </a:prstGeom>
          <a:noFill/>
          <a:ln/>
        </p:spPr>
        <p:txBody>
          <a:bodyPr wrap="square" lIns="0" tIns="0" rIns="0" bIns="0" rtlCol="0" anchor="ctr"/>
          <a:lstStyle/>
          <a:p>
            <a:pPr marL="0" indent="0">
              <a:buNone/>
            </a:pPr>
            <a:r>
              <a:rPr lang="en-US" sz="950" dirty="0">
                <a:solidFill>
                  <a:srgbClr val="334155"/>
                </a:solidFill>
              </a:rPr>
              <a:t>Processing charge</a:t>
            </a:r>
            <a:endParaRPr lang="en-US" sz="950" dirty="0"/>
          </a:p>
        </p:txBody>
      </p:sp>
      <p:sp>
        <p:nvSpPr>
          <p:cNvPr id="20" name="Text 18"/>
          <p:cNvSpPr/>
          <p:nvPr/>
        </p:nvSpPr>
        <p:spPr>
          <a:xfrm>
            <a:off x="3520440" y="3895344"/>
            <a:ext cx="2194560" cy="310896"/>
          </a:xfrm>
          <a:prstGeom prst="rect">
            <a:avLst/>
          </a:prstGeom>
          <a:noFill/>
          <a:ln/>
        </p:spPr>
        <p:txBody>
          <a:bodyPr wrap="square" lIns="0" tIns="0" rIns="0" bIns="0" rtlCol="0" anchor="ctr"/>
          <a:lstStyle/>
          <a:p>
            <a:pPr marL="0" indent="0" algn="r">
              <a:buNone/>
            </a:pPr>
            <a:r>
              <a:rPr lang="en-US" sz="950" b="1" dirty="0">
                <a:solidFill>
                  <a:srgbClr val="0D1B2A"/>
                </a:solidFill>
              </a:rPr>
              <a:t>₹2,47,500</a:t>
            </a:r>
            <a:endParaRPr lang="en-US" sz="950" dirty="0"/>
          </a:p>
        </p:txBody>
      </p:sp>
      <p:sp>
        <p:nvSpPr>
          <p:cNvPr id="21" name="Shape 19"/>
          <p:cNvSpPr/>
          <p:nvPr/>
        </p:nvSpPr>
        <p:spPr>
          <a:xfrm>
            <a:off x="777240" y="4224528"/>
            <a:ext cx="4937760" cy="0"/>
          </a:xfrm>
          <a:prstGeom prst="line">
            <a:avLst/>
          </a:prstGeom>
          <a:noFill/>
          <a:ln w="9525">
            <a:solidFill>
              <a:srgbClr val="E5EAF0"/>
            </a:solidFill>
            <a:prstDash val="solid"/>
          </a:ln>
        </p:spPr>
      </p:sp>
      <p:sp>
        <p:nvSpPr>
          <p:cNvPr id="22" name="Text 20"/>
          <p:cNvSpPr/>
          <p:nvPr/>
        </p:nvSpPr>
        <p:spPr>
          <a:xfrm>
            <a:off x="777240" y="4261104"/>
            <a:ext cx="2743200" cy="310896"/>
          </a:xfrm>
          <a:prstGeom prst="rect">
            <a:avLst/>
          </a:prstGeom>
          <a:noFill/>
          <a:ln/>
        </p:spPr>
        <p:txBody>
          <a:bodyPr wrap="square" lIns="0" tIns="0" rIns="0" bIns="0" rtlCol="0" anchor="ctr"/>
          <a:lstStyle/>
          <a:p>
            <a:pPr marL="0" indent="0">
              <a:buNone/>
            </a:pPr>
            <a:r>
              <a:rPr lang="en-US" sz="950" b="1" dirty="0">
                <a:solidFill>
                  <a:srgbClr val="1A5276"/>
                </a:solidFill>
              </a:rPr>
              <a:t>Minimum monthly billing</a:t>
            </a:r>
            <a:endParaRPr lang="en-US" sz="950" dirty="0"/>
          </a:p>
        </p:txBody>
      </p:sp>
      <p:sp>
        <p:nvSpPr>
          <p:cNvPr id="23" name="Text 21"/>
          <p:cNvSpPr/>
          <p:nvPr/>
        </p:nvSpPr>
        <p:spPr>
          <a:xfrm>
            <a:off x="3520440" y="4261104"/>
            <a:ext cx="2194560" cy="310896"/>
          </a:xfrm>
          <a:prstGeom prst="rect">
            <a:avLst/>
          </a:prstGeom>
          <a:noFill/>
          <a:ln/>
        </p:spPr>
        <p:txBody>
          <a:bodyPr wrap="square" lIns="0" tIns="0" rIns="0" bIns="0" rtlCol="0" anchor="ctr"/>
          <a:lstStyle/>
          <a:p>
            <a:pPr marL="0" indent="0" algn="r">
              <a:buNone/>
            </a:pPr>
            <a:r>
              <a:rPr lang="en-US" sz="950" b="1" dirty="0">
                <a:solidFill>
                  <a:srgbClr val="1A5276"/>
                </a:solidFill>
              </a:rPr>
              <a:t>₹2,00,000</a:t>
            </a:r>
            <a:endParaRPr lang="en-US" sz="950" dirty="0"/>
          </a:p>
        </p:txBody>
      </p:sp>
      <p:sp>
        <p:nvSpPr>
          <p:cNvPr id="24" name="Shape 22"/>
          <p:cNvSpPr/>
          <p:nvPr/>
        </p:nvSpPr>
        <p:spPr>
          <a:xfrm>
            <a:off x="777240" y="4590288"/>
            <a:ext cx="4937760" cy="0"/>
          </a:xfrm>
          <a:prstGeom prst="line">
            <a:avLst/>
          </a:prstGeom>
          <a:noFill/>
          <a:ln w="9525">
            <a:solidFill>
              <a:srgbClr val="E5EAF0"/>
            </a:solidFill>
            <a:prstDash val="solid"/>
          </a:ln>
        </p:spPr>
      </p:sp>
      <p:sp>
        <p:nvSpPr>
          <p:cNvPr id="25" name="Text 23"/>
          <p:cNvSpPr/>
          <p:nvPr/>
        </p:nvSpPr>
        <p:spPr>
          <a:xfrm>
            <a:off x="777240" y="4626864"/>
            <a:ext cx="2743200" cy="310896"/>
          </a:xfrm>
          <a:prstGeom prst="rect">
            <a:avLst/>
          </a:prstGeom>
          <a:noFill/>
          <a:ln/>
        </p:spPr>
        <p:txBody>
          <a:bodyPr wrap="square" lIns="0" tIns="0" rIns="0" bIns="0" rtlCol="0" anchor="ctr"/>
          <a:lstStyle/>
          <a:p>
            <a:pPr marL="0" indent="0">
              <a:buNone/>
            </a:pPr>
            <a:r>
              <a:rPr lang="en-US" sz="950" dirty="0">
                <a:solidFill>
                  <a:srgbClr val="334155"/>
                </a:solidFill>
              </a:rPr>
              <a:t>Hosting fee</a:t>
            </a:r>
            <a:endParaRPr lang="en-US" sz="950" dirty="0"/>
          </a:p>
        </p:txBody>
      </p:sp>
      <p:sp>
        <p:nvSpPr>
          <p:cNvPr id="26" name="Text 24"/>
          <p:cNvSpPr/>
          <p:nvPr/>
        </p:nvSpPr>
        <p:spPr>
          <a:xfrm>
            <a:off x="3520440" y="4626864"/>
            <a:ext cx="2194560" cy="310896"/>
          </a:xfrm>
          <a:prstGeom prst="rect">
            <a:avLst/>
          </a:prstGeom>
          <a:noFill/>
          <a:ln/>
        </p:spPr>
        <p:txBody>
          <a:bodyPr wrap="square" lIns="0" tIns="0" rIns="0" bIns="0" rtlCol="0" anchor="ctr"/>
          <a:lstStyle/>
          <a:p>
            <a:pPr marL="0" indent="0" algn="r">
              <a:buNone/>
            </a:pPr>
            <a:r>
              <a:rPr lang="en-US" sz="950" b="1" dirty="0">
                <a:solidFill>
                  <a:srgbClr val="0D1B2A"/>
                </a:solidFill>
              </a:rPr>
              <a:t>₹25,000</a:t>
            </a:r>
            <a:endParaRPr lang="en-US" sz="950" dirty="0"/>
          </a:p>
        </p:txBody>
      </p:sp>
      <p:sp>
        <p:nvSpPr>
          <p:cNvPr id="27" name="Shape 25"/>
          <p:cNvSpPr/>
          <p:nvPr/>
        </p:nvSpPr>
        <p:spPr>
          <a:xfrm>
            <a:off x="777240" y="4956048"/>
            <a:ext cx="4937760" cy="0"/>
          </a:xfrm>
          <a:prstGeom prst="line">
            <a:avLst/>
          </a:prstGeom>
          <a:noFill/>
          <a:ln w="9525">
            <a:solidFill>
              <a:srgbClr val="E5EAF0"/>
            </a:solidFill>
            <a:prstDash val="solid"/>
          </a:ln>
        </p:spPr>
      </p:sp>
      <p:sp>
        <p:nvSpPr>
          <p:cNvPr id="28" name="Shape 26"/>
          <p:cNvSpPr/>
          <p:nvPr/>
        </p:nvSpPr>
        <p:spPr>
          <a:xfrm>
            <a:off x="777240" y="5047488"/>
            <a:ext cx="4937760" cy="365760"/>
          </a:xfrm>
          <a:prstGeom prst="roundRect">
            <a:avLst>
              <a:gd name="adj" fmla="val 10000"/>
            </a:avLst>
          </a:prstGeom>
          <a:solidFill>
            <a:srgbClr val="D1FAF6"/>
          </a:solidFill>
          <a:ln w="12700">
            <a:solidFill>
              <a:srgbClr val="D1FAF6"/>
            </a:solidFill>
            <a:prstDash val="solid"/>
          </a:ln>
        </p:spPr>
      </p:sp>
      <p:sp>
        <p:nvSpPr>
          <p:cNvPr id="29" name="Text 27"/>
          <p:cNvSpPr/>
          <p:nvPr/>
        </p:nvSpPr>
        <p:spPr>
          <a:xfrm>
            <a:off x="914400" y="5047488"/>
            <a:ext cx="2743200" cy="365760"/>
          </a:xfrm>
          <a:prstGeom prst="rect">
            <a:avLst/>
          </a:prstGeom>
          <a:noFill/>
          <a:ln/>
        </p:spPr>
        <p:txBody>
          <a:bodyPr wrap="square" lIns="0" tIns="0" rIns="0" bIns="0" rtlCol="0" anchor="ctr"/>
          <a:lstStyle/>
          <a:p>
            <a:pPr marL="0" indent="0">
              <a:buNone/>
            </a:pPr>
            <a:r>
              <a:rPr lang="en-US" sz="950" b="1" dirty="0">
                <a:solidFill>
                  <a:srgbClr val="0D1B2A"/>
                </a:solidFill>
              </a:rPr>
              <a:t>Est. Monthly Recurring</a:t>
            </a:r>
            <a:endParaRPr lang="en-US" sz="950" dirty="0"/>
          </a:p>
        </p:txBody>
      </p:sp>
      <p:sp>
        <p:nvSpPr>
          <p:cNvPr id="30" name="Text 28"/>
          <p:cNvSpPr/>
          <p:nvPr/>
        </p:nvSpPr>
        <p:spPr>
          <a:xfrm>
            <a:off x="3657600" y="5047488"/>
            <a:ext cx="1920240" cy="365760"/>
          </a:xfrm>
          <a:prstGeom prst="rect">
            <a:avLst/>
          </a:prstGeom>
          <a:noFill/>
          <a:ln/>
        </p:spPr>
        <p:txBody>
          <a:bodyPr wrap="square" lIns="0" tIns="0" rIns="0" bIns="0" rtlCol="0" anchor="ctr"/>
          <a:lstStyle/>
          <a:p>
            <a:pPr marL="0" indent="0" algn="r">
              <a:buNone/>
            </a:pPr>
            <a:r>
              <a:rPr lang="en-US" sz="1200" b="1" dirty="0">
                <a:solidFill>
                  <a:srgbClr val="0D9488"/>
                </a:solidFill>
              </a:rPr>
              <a:t>₹ 2,72,500</a:t>
            </a:r>
            <a:endParaRPr lang="en-US" sz="1200" dirty="0"/>
          </a:p>
        </p:txBody>
      </p:sp>
      <p:sp>
        <p:nvSpPr>
          <p:cNvPr id="31" name="Shape 29"/>
          <p:cNvSpPr/>
          <p:nvPr/>
        </p:nvSpPr>
        <p:spPr>
          <a:xfrm>
            <a:off x="6217920" y="2267712"/>
            <a:ext cx="5440680" cy="3246120"/>
          </a:xfrm>
          <a:prstGeom prst="roundRect">
            <a:avLst>
              <a:gd name="adj" fmla="val 1690"/>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32" name="Shape 30"/>
          <p:cNvSpPr/>
          <p:nvPr/>
        </p:nvSpPr>
        <p:spPr>
          <a:xfrm>
            <a:off x="6217920" y="2267712"/>
            <a:ext cx="5440680" cy="530352"/>
          </a:xfrm>
          <a:prstGeom prst="roundRect">
            <a:avLst>
              <a:gd name="adj" fmla="val 10345"/>
            </a:avLst>
          </a:prstGeom>
          <a:solidFill>
            <a:srgbClr val="1A5276"/>
          </a:solidFill>
          <a:ln w="12700">
            <a:solidFill>
              <a:srgbClr val="1A5276"/>
            </a:solidFill>
            <a:prstDash val="solid"/>
          </a:ln>
        </p:spPr>
      </p:sp>
      <p:sp>
        <p:nvSpPr>
          <p:cNvPr id="33" name="Text 31"/>
          <p:cNvSpPr/>
          <p:nvPr/>
        </p:nvSpPr>
        <p:spPr>
          <a:xfrm>
            <a:off x="6492240" y="2359152"/>
            <a:ext cx="4937760" cy="347472"/>
          </a:xfrm>
          <a:prstGeom prst="rect">
            <a:avLst/>
          </a:prstGeom>
          <a:noFill/>
          <a:ln/>
        </p:spPr>
        <p:txBody>
          <a:bodyPr wrap="square" rtlCol="0" anchor="ctr"/>
          <a:lstStyle/>
          <a:p>
            <a:pPr marL="0" indent="0">
              <a:buNone/>
            </a:pPr>
            <a:r>
              <a:rPr lang="en-US" sz="1100" b="1" kern="0" spc="100" dirty="0">
                <a:solidFill>
                  <a:srgbClr val="FFFFFF"/>
                </a:solidFill>
              </a:rPr>
              <a:t>OPTION B  ·  PER-SUPPLIER</a:t>
            </a:r>
            <a:endParaRPr lang="en-US" sz="1100" dirty="0"/>
          </a:p>
        </p:txBody>
      </p:sp>
      <p:sp>
        <p:nvSpPr>
          <p:cNvPr id="34" name="Text 32"/>
          <p:cNvSpPr/>
          <p:nvPr/>
        </p:nvSpPr>
        <p:spPr>
          <a:xfrm>
            <a:off x="6492240" y="2907792"/>
            <a:ext cx="4937760" cy="219456"/>
          </a:xfrm>
          <a:prstGeom prst="rect">
            <a:avLst/>
          </a:prstGeom>
          <a:noFill/>
          <a:ln/>
        </p:spPr>
        <p:txBody>
          <a:bodyPr wrap="square" rtlCol="0" anchor="ctr"/>
          <a:lstStyle/>
          <a:p>
            <a:pPr marL="0" indent="0">
              <a:buNone/>
            </a:pPr>
            <a:r>
              <a:rPr lang="en-US" sz="850" b="1" kern="0" spc="100" dirty="0">
                <a:solidFill>
                  <a:srgbClr val="64748B"/>
                </a:solidFill>
              </a:rPr>
              <a:t>RECURRING  —  MONTHLY</a:t>
            </a:r>
            <a:endParaRPr lang="en-US" sz="850" dirty="0"/>
          </a:p>
        </p:txBody>
      </p:sp>
      <p:sp>
        <p:nvSpPr>
          <p:cNvPr id="35" name="Text 33"/>
          <p:cNvSpPr/>
          <p:nvPr/>
        </p:nvSpPr>
        <p:spPr>
          <a:xfrm>
            <a:off x="6492240" y="3163824"/>
            <a:ext cx="2743200" cy="310896"/>
          </a:xfrm>
          <a:prstGeom prst="rect">
            <a:avLst/>
          </a:prstGeom>
          <a:noFill/>
          <a:ln/>
        </p:spPr>
        <p:txBody>
          <a:bodyPr wrap="square" lIns="0" tIns="0" rIns="0" bIns="0" rtlCol="0" anchor="ctr"/>
          <a:lstStyle/>
          <a:p>
            <a:pPr marL="0" indent="0">
              <a:buNone/>
            </a:pPr>
            <a:r>
              <a:rPr lang="en-US" sz="950" dirty="0">
                <a:solidFill>
                  <a:srgbClr val="334155"/>
                </a:solidFill>
              </a:rPr>
              <a:t>Subscription fee</a:t>
            </a:r>
            <a:endParaRPr lang="en-US" sz="950" dirty="0"/>
          </a:p>
        </p:txBody>
      </p:sp>
      <p:sp>
        <p:nvSpPr>
          <p:cNvPr id="36" name="Text 34"/>
          <p:cNvSpPr/>
          <p:nvPr/>
        </p:nvSpPr>
        <p:spPr>
          <a:xfrm>
            <a:off x="9235440" y="3163824"/>
            <a:ext cx="2194560" cy="310896"/>
          </a:xfrm>
          <a:prstGeom prst="rect">
            <a:avLst/>
          </a:prstGeom>
          <a:noFill/>
          <a:ln/>
        </p:spPr>
        <p:txBody>
          <a:bodyPr wrap="square" lIns="0" tIns="0" rIns="0" bIns="0" rtlCol="0" anchor="ctr"/>
          <a:lstStyle/>
          <a:p>
            <a:pPr marL="0" indent="0" algn="r">
              <a:buNone/>
            </a:pPr>
            <a:r>
              <a:rPr lang="en-US" sz="950" b="1" dirty="0">
                <a:solidFill>
                  <a:srgbClr val="0D1B2A"/>
                </a:solidFill>
              </a:rPr>
              <a:t>₹75 per supplier</a:t>
            </a:r>
            <a:endParaRPr lang="en-US" sz="950" dirty="0"/>
          </a:p>
        </p:txBody>
      </p:sp>
      <p:sp>
        <p:nvSpPr>
          <p:cNvPr id="37" name="Shape 35"/>
          <p:cNvSpPr/>
          <p:nvPr/>
        </p:nvSpPr>
        <p:spPr>
          <a:xfrm>
            <a:off x="6492240" y="3493008"/>
            <a:ext cx="4937760" cy="0"/>
          </a:xfrm>
          <a:prstGeom prst="line">
            <a:avLst/>
          </a:prstGeom>
          <a:noFill/>
          <a:ln w="9525">
            <a:solidFill>
              <a:srgbClr val="E5EAF0"/>
            </a:solidFill>
            <a:prstDash val="solid"/>
          </a:ln>
        </p:spPr>
      </p:sp>
      <p:sp>
        <p:nvSpPr>
          <p:cNvPr id="38" name="Text 36"/>
          <p:cNvSpPr/>
          <p:nvPr/>
        </p:nvSpPr>
        <p:spPr>
          <a:xfrm>
            <a:off x="6492240" y="3529584"/>
            <a:ext cx="2743200" cy="310896"/>
          </a:xfrm>
          <a:prstGeom prst="rect">
            <a:avLst/>
          </a:prstGeom>
          <a:noFill/>
          <a:ln/>
        </p:spPr>
        <p:txBody>
          <a:bodyPr wrap="square" lIns="0" tIns="0" rIns="0" bIns="0" rtlCol="0" anchor="ctr"/>
          <a:lstStyle/>
          <a:p>
            <a:pPr marL="0" indent="0">
              <a:buNone/>
            </a:pPr>
            <a:r>
              <a:rPr lang="en-US" sz="950" dirty="0">
                <a:solidFill>
                  <a:srgbClr val="334155"/>
                </a:solidFill>
              </a:rPr>
              <a:t>Est. supplier base</a:t>
            </a:r>
            <a:endParaRPr lang="en-US" sz="950" dirty="0"/>
          </a:p>
        </p:txBody>
      </p:sp>
      <p:sp>
        <p:nvSpPr>
          <p:cNvPr id="39" name="Text 37"/>
          <p:cNvSpPr/>
          <p:nvPr/>
        </p:nvSpPr>
        <p:spPr>
          <a:xfrm>
            <a:off x="9235440" y="3529584"/>
            <a:ext cx="2194560" cy="310896"/>
          </a:xfrm>
          <a:prstGeom prst="rect">
            <a:avLst/>
          </a:prstGeom>
          <a:noFill/>
          <a:ln/>
        </p:spPr>
        <p:txBody>
          <a:bodyPr wrap="square" lIns="0" tIns="0" rIns="0" bIns="0" rtlCol="0" anchor="ctr"/>
          <a:lstStyle/>
          <a:p>
            <a:pPr marL="0" indent="0" algn="r">
              <a:buNone/>
            </a:pPr>
            <a:r>
              <a:rPr lang="en-US" sz="950" b="1" dirty="0">
                <a:solidFill>
                  <a:srgbClr val="0D1B2A"/>
                </a:solidFill>
              </a:rPr>
              <a:t>3,000 suppliers</a:t>
            </a:r>
            <a:endParaRPr lang="en-US" sz="950" dirty="0"/>
          </a:p>
        </p:txBody>
      </p:sp>
      <p:sp>
        <p:nvSpPr>
          <p:cNvPr id="40" name="Shape 38"/>
          <p:cNvSpPr/>
          <p:nvPr/>
        </p:nvSpPr>
        <p:spPr>
          <a:xfrm>
            <a:off x="6492240" y="3858768"/>
            <a:ext cx="4937760" cy="0"/>
          </a:xfrm>
          <a:prstGeom prst="line">
            <a:avLst/>
          </a:prstGeom>
          <a:noFill/>
          <a:ln w="9525">
            <a:solidFill>
              <a:srgbClr val="E5EAF0"/>
            </a:solidFill>
            <a:prstDash val="solid"/>
          </a:ln>
        </p:spPr>
      </p:sp>
      <p:sp>
        <p:nvSpPr>
          <p:cNvPr id="41" name="Text 39"/>
          <p:cNvSpPr/>
          <p:nvPr/>
        </p:nvSpPr>
        <p:spPr>
          <a:xfrm>
            <a:off x="6492240" y="3895344"/>
            <a:ext cx="2743200" cy="310896"/>
          </a:xfrm>
          <a:prstGeom prst="rect">
            <a:avLst/>
          </a:prstGeom>
          <a:noFill/>
          <a:ln/>
        </p:spPr>
        <p:txBody>
          <a:bodyPr wrap="square" lIns="0" tIns="0" rIns="0" bIns="0" rtlCol="0" anchor="ctr"/>
          <a:lstStyle/>
          <a:p>
            <a:pPr marL="0" indent="0">
              <a:buNone/>
            </a:pPr>
            <a:r>
              <a:rPr lang="en-US" sz="950" dirty="0">
                <a:solidFill>
                  <a:srgbClr val="334155"/>
                </a:solidFill>
              </a:rPr>
              <a:t>Subscription charge</a:t>
            </a:r>
            <a:endParaRPr lang="en-US" sz="950" dirty="0"/>
          </a:p>
        </p:txBody>
      </p:sp>
      <p:sp>
        <p:nvSpPr>
          <p:cNvPr id="42" name="Text 40"/>
          <p:cNvSpPr/>
          <p:nvPr/>
        </p:nvSpPr>
        <p:spPr>
          <a:xfrm>
            <a:off x="9235440" y="3895344"/>
            <a:ext cx="2194560" cy="310896"/>
          </a:xfrm>
          <a:prstGeom prst="rect">
            <a:avLst/>
          </a:prstGeom>
          <a:noFill/>
          <a:ln/>
        </p:spPr>
        <p:txBody>
          <a:bodyPr wrap="square" lIns="0" tIns="0" rIns="0" bIns="0" rtlCol="0" anchor="ctr"/>
          <a:lstStyle/>
          <a:p>
            <a:pPr marL="0" indent="0" algn="r">
              <a:buNone/>
            </a:pPr>
            <a:r>
              <a:rPr lang="en-US" sz="950" b="1" dirty="0">
                <a:solidFill>
                  <a:srgbClr val="0D1B2A"/>
                </a:solidFill>
              </a:rPr>
              <a:t>₹2,25,000</a:t>
            </a:r>
            <a:endParaRPr lang="en-US" sz="950" dirty="0"/>
          </a:p>
        </p:txBody>
      </p:sp>
      <p:sp>
        <p:nvSpPr>
          <p:cNvPr id="43" name="Shape 41"/>
          <p:cNvSpPr/>
          <p:nvPr/>
        </p:nvSpPr>
        <p:spPr>
          <a:xfrm>
            <a:off x="6492240" y="4224528"/>
            <a:ext cx="4937760" cy="0"/>
          </a:xfrm>
          <a:prstGeom prst="line">
            <a:avLst/>
          </a:prstGeom>
          <a:noFill/>
          <a:ln w="9525">
            <a:solidFill>
              <a:srgbClr val="E5EAF0"/>
            </a:solidFill>
            <a:prstDash val="solid"/>
          </a:ln>
        </p:spPr>
      </p:sp>
      <p:sp>
        <p:nvSpPr>
          <p:cNvPr id="44" name="Text 42"/>
          <p:cNvSpPr/>
          <p:nvPr/>
        </p:nvSpPr>
        <p:spPr>
          <a:xfrm>
            <a:off x="6492240" y="4261104"/>
            <a:ext cx="2743200" cy="310896"/>
          </a:xfrm>
          <a:prstGeom prst="rect">
            <a:avLst/>
          </a:prstGeom>
          <a:noFill/>
          <a:ln/>
        </p:spPr>
        <p:txBody>
          <a:bodyPr wrap="square" lIns="0" tIns="0" rIns="0" bIns="0" rtlCol="0" anchor="ctr"/>
          <a:lstStyle/>
          <a:p>
            <a:pPr marL="0" indent="0">
              <a:buNone/>
            </a:pPr>
            <a:r>
              <a:rPr lang="en-US" sz="950" b="1" dirty="0">
                <a:solidFill>
                  <a:srgbClr val="1A5276"/>
                </a:solidFill>
              </a:rPr>
              <a:t>Minimum monthly billing</a:t>
            </a:r>
            <a:endParaRPr lang="en-US" sz="950" dirty="0"/>
          </a:p>
        </p:txBody>
      </p:sp>
      <p:sp>
        <p:nvSpPr>
          <p:cNvPr id="45" name="Text 43"/>
          <p:cNvSpPr/>
          <p:nvPr/>
        </p:nvSpPr>
        <p:spPr>
          <a:xfrm>
            <a:off x="9235440" y="4261104"/>
            <a:ext cx="2194560" cy="310896"/>
          </a:xfrm>
          <a:prstGeom prst="rect">
            <a:avLst/>
          </a:prstGeom>
          <a:noFill/>
          <a:ln/>
        </p:spPr>
        <p:txBody>
          <a:bodyPr wrap="square" lIns="0" tIns="0" rIns="0" bIns="0" rtlCol="0" anchor="ctr"/>
          <a:lstStyle/>
          <a:p>
            <a:pPr marL="0" indent="0" algn="r">
              <a:buNone/>
            </a:pPr>
            <a:r>
              <a:rPr lang="en-US" sz="950" b="1" dirty="0">
                <a:solidFill>
                  <a:srgbClr val="1A5276"/>
                </a:solidFill>
              </a:rPr>
              <a:t>₹2,00,000</a:t>
            </a:r>
            <a:endParaRPr lang="en-US" sz="950" dirty="0"/>
          </a:p>
        </p:txBody>
      </p:sp>
      <p:sp>
        <p:nvSpPr>
          <p:cNvPr id="46" name="Shape 44"/>
          <p:cNvSpPr/>
          <p:nvPr/>
        </p:nvSpPr>
        <p:spPr>
          <a:xfrm>
            <a:off x="6492240" y="4590288"/>
            <a:ext cx="4937760" cy="0"/>
          </a:xfrm>
          <a:prstGeom prst="line">
            <a:avLst/>
          </a:prstGeom>
          <a:noFill/>
          <a:ln w="9525">
            <a:solidFill>
              <a:srgbClr val="E5EAF0"/>
            </a:solidFill>
            <a:prstDash val="solid"/>
          </a:ln>
        </p:spPr>
      </p:sp>
      <p:sp>
        <p:nvSpPr>
          <p:cNvPr id="47" name="Text 45"/>
          <p:cNvSpPr/>
          <p:nvPr/>
        </p:nvSpPr>
        <p:spPr>
          <a:xfrm>
            <a:off x="6492240" y="4626864"/>
            <a:ext cx="2743200" cy="310896"/>
          </a:xfrm>
          <a:prstGeom prst="rect">
            <a:avLst/>
          </a:prstGeom>
          <a:noFill/>
          <a:ln/>
        </p:spPr>
        <p:txBody>
          <a:bodyPr wrap="square" lIns="0" tIns="0" rIns="0" bIns="0" rtlCol="0" anchor="ctr"/>
          <a:lstStyle/>
          <a:p>
            <a:pPr marL="0" indent="0">
              <a:buNone/>
            </a:pPr>
            <a:r>
              <a:rPr lang="en-US" sz="950" dirty="0">
                <a:solidFill>
                  <a:srgbClr val="334155"/>
                </a:solidFill>
              </a:rPr>
              <a:t>Hosting fee</a:t>
            </a:r>
            <a:endParaRPr lang="en-US" sz="950" dirty="0"/>
          </a:p>
        </p:txBody>
      </p:sp>
      <p:sp>
        <p:nvSpPr>
          <p:cNvPr id="48" name="Text 46"/>
          <p:cNvSpPr/>
          <p:nvPr/>
        </p:nvSpPr>
        <p:spPr>
          <a:xfrm>
            <a:off x="9235440" y="4626864"/>
            <a:ext cx="2194560" cy="310896"/>
          </a:xfrm>
          <a:prstGeom prst="rect">
            <a:avLst/>
          </a:prstGeom>
          <a:noFill/>
          <a:ln/>
        </p:spPr>
        <p:txBody>
          <a:bodyPr wrap="square" lIns="0" tIns="0" rIns="0" bIns="0" rtlCol="0" anchor="ctr"/>
          <a:lstStyle/>
          <a:p>
            <a:pPr marL="0" indent="0" algn="r">
              <a:buNone/>
            </a:pPr>
            <a:r>
              <a:rPr lang="en-US" sz="950" b="1" dirty="0">
                <a:solidFill>
                  <a:srgbClr val="0D1B2A"/>
                </a:solidFill>
              </a:rPr>
              <a:t>₹25,000</a:t>
            </a:r>
            <a:endParaRPr lang="en-US" sz="950" dirty="0"/>
          </a:p>
        </p:txBody>
      </p:sp>
      <p:sp>
        <p:nvSpPr>
          <p:cNvPr id="49" name="Shape 47"/>
          <p:cNvSpPr/>
          <p:nvPr/>
        </p:nvSpPr>
        <p:spPr>
          <a:xfrm>
            <a:off x="6492240" y="4956048"/>
            <a:ext cx="4937760" cy="0"/>
          </a:xfrm>
          <a:prstGeom prst="line">
            <a:avLst/>
          </a:prstGeom>
          <a:noFill/>
          <a:ln w="9525">
            <a:solidFill>
              <a:srgbClr val="E5EAF0"/>
            </a:solidFill>
            <a:prstDash val="solid"/>
          </a:ln>
        </p:spPr>
      </p:sp>
      <p:sp>
        <p:nvSpPr>
          <p:cNvPr id="50" name="Shape 48"/>
          <p:cNvSpPr/>
          <p:nvPr/>
        </p:nvSpPr>
        <p:spPr>
          <a:xfrm>
            <a:off x="6492240" y="5047488"/>
            <a:ext cx="4937760" cy="365760"/>
          </a:xfrm>
          <a:prstGeom prst="roundRect">
            <a:avLst>
              <a:gd name="adj" fmla="val 10000"/>
            </a:avLst>
          </a:prstGeom>
          <a:solidFill>
            <a:srgbClr val="D1FAF6"/>
          </a:solidFill>
          <a:ln w="12700">
            <a:solidFill>
              <a:srgbClr val="D1FAF6"/>
            </a:solidFill>
            <a:prstDash val="solid"/>
          </a:ln>
        </p:spPr>
      </p:sp>
      <p:sp>
        <p:nvSpPr>
          <p:cNvPr id="51" name="Text 49"/>
          <p:cNvSpPr/>
          <p:nvPr/>
        </p:nvSpPr>
        <p:spPr>
          <a:xfrm>
            <a:off x="6629400" y="5047488"/>
            <a:ext cx="2743200" cy="365760"/>
          </a:xfrm>
          <a:prstGeom prst="rect">
            <a:avLst/>
          </a:prstGeom>
          <a:noFill/>
          <a:ln/>
        </p:spPr>
        <p:txBody>
          <a:bodyPr wrap="square" lIns="0" tIns="0" rIns="0" bIns="0" rtlCol="0" anchor="ctr"/>
          <a:lstStyle/>
          <a:p>
            <a:pPr marL="0" indent="0">
              <a:buNone/>
            </a:pPr>
            <a:r>
              <a:rPr lang="en-US" sz="950" b="1" dirty="0">
                <a:solidFill>
                  <a:srgbClr val="0D1B2A"/>
                </a:solidFill>
              </a:rPr>
              <a:t>Est. Monthly Recurring</a:t>
            </a:r>
            <a:endParaRPr lang="en-US" sz="950" dirty="0"/>
          </a:p>
        </p:txBody>
      </p:sp>
      <p:sp>
        <p:nvSpPr>
          <p:cNvPr id="52" name="Text 50"/>
          <p:cNvSpPr/>
          <p:nvPr/>
        </p:nvSpPr>
        <p:spPr>
          <a:xfrm>
            <a:off x="9372600" y="5047488"/>
            <a:ext cx="1920240" cy="365760"/>
          </a:xfrm>
          <a:prstGeom prst="rect">
            <a:avLst/>
          </a:prstGeom>
          <a:noFill/>
          <a:ln/>
        </p:spPr>
        <p:txBody>
          <a:bodyPr wrap="square" lIns="0" tIns="0" rIns="0" bIns="0" rtlCol="0" anchor="ctr"/>
          <a:lstStyle/>
          <a:p>
            <a:pPr marL="0" indent="0" algn="r">
              <a:buNone/>
            </a:pPr>
            <a:r>
              <a:rPr lang="en-US" sz="1200" b="1" dirty="0">
                <a:solidFill>
                  <a:srgbClr val="0D9488"/>
                </a:solidFill>
              </a:rPr>
              <a:t>₹ 2,50,000</a:t>
            </a:r>
            <a:endParaRPr lang="en-US" sz="1200" dirty="0"/>
          </a:p>
        </p:txBody>
      </p:sp>
      <p:sp>
        <p:nvSpPr>
          <p:cNvPr id="53" name="Shape 51"/>
          <p:cNvSpPr/>
          <p:nvPr/>
        </p:nvSpPr>
        <p:spPr>
          <a:xfrm>
            <a:off x="502920" y="5623560"/>
            <a:ext cx="11155680" cy="621792"/>
          </a:xfrm>
          <a:prstGeom prst="roundRect">
            <a:avLst>
              <a:gd name="adj" fmla="val 7353"/>
            </a:avLst>
          </a:prstGeom>
          <a:solidFill>
            <a:srgbClr val="FFFFFF"/>
          </a:solidFill>
          <a:ln w="12700">
            <a:solidFill>
              <a:srgbClr val="E5EAF0"/>
            </a:solidFill>
            <a:prstDash val="solid"/>
          </a:ln>
        </p:spPr>
      </p:sp>
      <p:sp>
        <p:nvSpPr>
          <p:cNvPr id="54" name="Text 52"/>
          <p:cNvSpPr/>
          <p:nvPr/>
        </p:nvSpPr>
        <p:spPr>
          <a:xfrm>
            <a:off x="731520" y="5687568"/>
            <a:ext cx="10698480" cy="493776"/>
          </a:xfrm>
          <a:prstGeom prst="rect">
            <a:avLst/>
          </a:prstGeom>
          <a:noFill/>
          <a:ln/>
        </p:spPr>
        <p:txBody>
          <a:bodyPr wrap="square" rtlCol="0" anchor="ctr"/>
          <a:lstStyle/>
          <a:p>
            <a:pPr marL="0" indent="0">
              <a:lnSpc>
                <a:spcPts val="1150"/>
              </a:lnSpc>
              <a:buNone/>
            </a:pPr>
            <a:r>
              <a:rPr lang="en-US" sz="900" dirty="0">
                <a:solidFill>
                  <a:srgbClr val="334155"/>
                </a:solidFill>
              </a:rPr>
              <a:t>Minimum monthly billing of ₹2,00,000 applies to the processing / subscription charge (hosting is additional).  Where actual usage exceeds the minimum, actual usage is billed.  All figures exclude GST.  Implementation billed 50% on signing, 50% on go-live.</a:t>
            </a:r>
            <a:endParaRPr lang="en-US" sz="900" dirty="0"/>
          </a:p>
        </p:txBody>
      </p:sp>
      <p:sp>
        <p:nvSpPr>
          <p:cNvPr id="55" name="Text 53"/>
          <p:cNvSpPr/>
          <p:nvPr/>
        </p:nvSpPr>
        <p:spPr>
          <a:xfrm>
            <a:off x="502920" y="6419088"/>
            <a:ext cx="11155680" cy="256032"/>
          </a:xfrm>
          <a:prstGeom prst="rect">
            <a:avLst/>
          </a:prstGeom>
          <a:noFill/>
          <a:ln/>
        </p:spPr>
        <p:txBody>
          <a:bodyPr wrap="square" rtlCol="0" anchor="ctr"/>
          <a:lstStyle/>
          <a:p>
            <a:pPr marL="0" indent="0">
              <a:buNone/>
            </a:pPr>
            <a:r>
              <a:rPr lang="en-US" sz="750" dirty="0">
                <a:solidFill>
                  <a:srgbClr val="64748B"/>
                </a:solidFill>
              </a:rPr>
              <a:t>BillionTech  ·  billiontech.ai  ·  Strictly Confidential  ·  Proposal for BigBasket  ·  July 2026</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B"/>
        </a:solidFill>
        <a:effectLst/>
      </p:bgPr>
    </p:bg>
    <p:spTree>
      <p:nvGrpSpPr>
        <p:cNvPr id="1" name=""/>
        <p:cNvGrpSpPr/>
        <p:nvPr/>
      </p:nvGrpSpPr>
      <p:grpSpPr>
        <a:xfrm>
          <a:off x="0" y="0"/>
          <a:ext cx="0" cy="0"/>
          <a:chOff x="0" y="0"/>
          <a:chExt cx="0" cy="0"/>
        </a:xfrm>
      </p:grpSpPr>
      <p:sp>
        <p:nvSpPr>
          <p:cNvPr id="2" name="Text 0"/>
          <p:cNvSpPr/>
          <p:nvPr/>
        </p:nvSpPr>
        <p:spPr>
          <a:xfrm>
            <a:off x="502920" y="347472"/>
            <a:ext cx="11155680" cy="411480"/>
          </a:xfrm>
          <a:prstGeom prst="rect">
            <a:avLst/>
          </a:prstGeom>
          <a:noFill/>
          <a:ln/>
        </p:spPr>
        <p:txBody>
          <a:bodyPr wrap="square" rtlCol="0" anchor="ctr"/>
          <a:lstStyle/>
          <a:p>
            <a:pPr marL="0" indent="0">
              <a:buNone/>
            </a:pPr>
            <a:r>
              <a:rPr lang="en-US" sz="2300" b="1" dirty="0">
                <a:solidFill>
                  <a:srgbClr val="0D1B2A"/>
                </a:solidFill>
              </a:rPr>
              <a:t>Deployment Plan  |  8 Weeks to Live Processing — With No ERP Dependency</a:t>
            </a:r>
            <a:endParaRPr lang="en-US" sz="2300" dirty="0"/>
          </a:p>
        </p:txBody>
      </p:sp>
      <p:sp>
        <p:nvSpPr>
          <p:cNvPr id="3" name="Text 1"/>
          <p:cNvSpPr/>
          <p:nvPr/>
        </p:nvSpPr>
        <p:spPr>
          <a:xfrm>
            <a:off x="502920" y="786384"/>
            <a:ext cx="11155680" cy="384048"/>
          </a:xfrm>
          <a:prstGeom prst="rect">
            <a:avLst/>
          </a:prstGeom>
          <a:noFill/>
          <a:ln/>
        </p:spPr>
        <p:txBody>
          <a:bodyPr wrap="square" rtlCol="0" anchor="ctr"/>
          <a:lstStyle/>
          <a:p>
            <a:pPr marL="0" indent="0">
              <a:buNone/>
            </a:pPr>
            <a:r>
              <a:rPr lang="en-US" sz="1150" dirty="0">
                <a:solidFill>
                  <a:srgbClr val="64748B"/>
                </a:solidFill>
              </a:rPr>
              <a:t>Phase 1 goes live on file-based posting. Nothing in this plan requires bandwidth from your Oracle Fusion team.</a:t>
            </a:r>
            <a:endParaRPr lang="en-US" sz="1150" dirty="0"/>
          </a:p>
        </p:txBody>
      </p:sp>
      <p:sp>
        <p:nvSpPr>
          <p:cNvPr id="4" name="Shape 2"/>
          <p:cNvSpPr/>
          <p:nvPr/>
        </p:nvSpPr>
        <p:spPr>
          <a:xfrm>
            <a:off x="502920" y="1463040"/>
            <a:ext cx="3566160" cy="4160520"/>
          </a:xfrm>
          <a:prstGeom prst="roundRect">
            <a:avLst>
              <a:gd name="adj" fmla="val 1538"/>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5" name="Shape 3"/>
          <p:cNvSpPr/>
          <p:nvPr/>
        </p:nvSpPr>
        <p:spPr>
          <a:xfrm>
            <a:off x="502920" y="1463040"/>
            <a:ext cx="3566160" cy="457200"/>
          </a:xfrm>
          <a:prstGeom prst="roundRect">
            <a:avLst>
              <a:gd name="adj" fmla="val 12000"/>
            </a:avLst>
          </a:prstGeom>
          <a:solidFill>
            <a:srgbClr val="0D9488"/>
          </a:solidFill>
          <a:ln w="12700">
            <a:solidFill>
              <a:srgbClr val="0D9488"/>
            </a:solidFill>
            <a:prstDash val="solid"/>
          </a:ln>
        </p:spPr>
      </p:sp>
      <p:sp>
        <p:nvSpPr>
          <p:cNvPr id="6" name="Text 4"/>
          <p:cNvSpPr/>
          <p:nvPr/>
        </p:nvSpPr>
        <p:spPr>
          <a:xfrm>
            <a:off x="704088" y="1536192"/>
            <a:ext cx="3200400" cy="310896"/>
          </a:xfrm>
          <a:prstGeom prst="rect">
            <a:avLst/>
          </a:prstGeom>
          <a:noFill/>
          <a:ln/>
        </p:spPr>
        <p:txBody>
          <a:bodyPr wrap="square" rtlCol="0" anchor="ctr"/>
          <a:lstStyle/>
          <a:p>
            <a:pPr marL="0" indent="0">
              <a:buNone/>
            </a:pPr>
            <a:r>
              <a:rPr lang="en-US" sz="950" b="1" kern="0" spc="100" dirty="0">
                <a:solidFill>
                  <a:srgbClr val="FFFFFF"/>
                </a:solidFill>
              </a:rPr>
              <a:t>Phase 1  ·  Weeks 1–3</a:t>
            </a:r>
            <a:endParaRPr lang="en-US" sz="950" dirty="0"/>
          </a:p>
        </p:txBody>
      </p:sp>
      <p:sp>
        <p:nvSpPr>
          <p:cNvPr id="7" name="Text 5"/>
          <p:cNvSpPr/>
          <p:nvPr/>
        </p:nvSpPr>
        <p:spPr>
          <a:xfrm>
            <a:off x="704088" y="2029968"/>
            <a:ext cx="3200400" cy="457200"/>
          </a:xfrm>
          <a:prstGeom prst="rect">
            <a:avLst/>
          </a:prstGeom>
          <a:noFill/>
          <a:ln/>
        </p:spPr>
        <p:txBody>
          <a:bodyPr wrap="square" rtlCol="0" anchor="ctr"/>
          <a:lstStyle/>
          <a:p>
            <a:pPr marL="0" indent="0">
              <a:lnSpc>
                <a:spcPts val="1300"/>
              </a:lnSpc>
              <a:buNone/>
            </a:pPr>
            <a:r>
              <a:rPr lang="en-US" sz="1150" b="1" dirty="0">
                <a:solidFill>
                  <a:srgbClr val="0D1B2A"/>
                </a:solidFill>
              </a:rPr>
              <a:t>Foundation &amp; Agreement Onboarding</a:t>
            </a:r>
            <a:endParaRPr lang="en-US" sz="1150" dirty="0"/>
          </a:p>
        </p:txBody>
      </p:sp>
      <p:sp>
        <p:nvSpPr>
          <p:cNvPr id="8" name="Text 6"/>
          <p:cNvSpPr/>
          <p:nvPr/>
        </p:nvSpPr>
        <p:spPr>
          <a:xfrm>
            <a:off x="704088" y="2560320"/>
            <a:ext cx="3182112" cy="2194560"/>
          </a:xfrm>
          <a:prstGeom prst="rect">
            <a:avLst/>
          </a:prstGeom>
          <a:noFill/>
          <a:ln/>
        </p:spPr>
        <p:txBody>
          <a:bodyPr wrap="square" rtlCol="0" anchor="ctr"/>
          <a:lstStyle/>
          <a:p>
            <a:pPr marL="342900" indent="-342900">
              <a:lnSpc>
                <a:spcPts val="1200"/>
              </a:lnSpc>
              <a:spcAft>
                <a:spcPts val="600"/>
              </a:spcAft>
              <a:buSzPct val="100000"/>
              <a:buChar char="•"/>
            </a:pPr>
            <a:r>
              <a:rPr lang="en-US" sz="1000" dirty="0">
                <a:solidFill>
                  <a:srgbClr val="334155"/>
                </a:solidFill>
              </a:rPr>
              <a:t>Platform provisioning, environment setup and security review</a:t>
            </a:r>
            <a:endParaRPr lang="en-US" sz="1000" dirty="0"/>
          </a:p>
          <a:p>
            <a:pPr marL="342900" indent="-342900">
              <a:lnSpc>
                <a:spcPts val="1200"/>
              </a:lnSpc>
              <a:spcAft>
                <a:spcPts val="600"/>
              </a:spcAft>
              <a:buSzPct val="100000"/>
              <a:buChar char="•"/>
            </a:pPr>
            <a:r>
              <a:rPr lang="en-US" sz="1000" dirty="0">
                <a:solidFill>
                  <a:srgbClr val="334155"/>
                </a:solidFill>
              </a:rPr>
              <a:t>Agreement template design — rental terms and freight rate cards</a:t>
            </a:r>
            <a:endParaRPr lang="en-US" sz="1000" dirty="0"/>
          </a:p>
          <a:p>
            <a:pPr marL="342900" indent="-342900">
              <a:lnSpc>
                <a:spcPts val="1200"/>
              </a:lnSpc>
              <a:spcAft>
                <a:spcPts val="600"/>
              </a:spcAft>
              <a:buSzPct val="100000"/>
              <a:buChar char="•"/>
            </a:pPr>
            <a:r>
              <a:rPr lang="en-US" sz="1000" dirty="0">
                <a:solidFill>
                  <a:srgbClr val="334155"/>
                </a:solidFill>
              </a:rPr>
              <a:t>Bulk upload of 1,500 rental agreement key data records</a:t>
            </a:r>
            <a:endParaRPr lang="en-US" sz="1000" dirty="0"/>
          </a:p>
          <a:p>
            <a:pPr marL="342900" indent="-342900">
              <a:lnSpc>
                <a:spcPts val="1200"/>
              </a:lnSpc>
              <a:spcAft>
                <a:spcPts val="600"/>
              </a:spcAft>
              <a:buSzPct val="100000"/>
              <a:buChar char="•"/>
            </a:pPr>
            <a:r>
              <a:rPr lang="en-US" sz="1000" dirty="0">
                <a:solidFill>
                  <a:srgbClr val="334155"/>
                </a:solidFill>
              </a:rPr>
              <a:t>Freight rate card onboarding per transporter</a:t>
            </a:r>
            <a:endParaRPr lang="en-US" sz="1000" dirty="0"/>
          </a:p>
          <a:p>
            <a:pPr marL="342900" indent="-342900">
              <a:lnSpc>
                <a:spcPts val="1200"/>
              </a:lnSpc>
              <a:spcAft>
                <a:spcPts val="600"/>
              </a:spcAft>
              <a:buSzPct val="100000"/>
              <a:buChar char="•"/>
            </a:pPr>
            <a:r>
              <a:rPr lang="en-US" sz="1000" dirty="0">
                <a:solidFill>
                  <a:srgbClr val="334155"/>
                </a:solidFill>
              </a:rPr>
              <a:t>Maker–Checker roles, approval matrix and user provisioning</a:t>
            </a:r>
            <a:endParaRPr lang="en-US" sz="1000" dirty="0"/>
          </a:p>
        </p:txBody>
      </p:sp>
      <p:sp>
        <p:nvSpPr>
          <p:cNvPr id="9" name="Shape 7"/>
          <p:cNvSpPr/>
          <p:nvPr/>
        </p:nvSpPr>
        <p:spPr>
          <a:xfrm>
            <a:off x="704088" y="4956048"/>
            <a:ext cx="3182112" cy="530352"/>
          </a:xfrm>
          <a:prstGeom prst="roundRect">
            <a:avLst>
              <a:gd name="adj" fmla="val 6897"/>
            </a:avLst>
          </a:prstGeom>
          <a:solidFill>
            <a:srgbClr val="D1FAF6"/>
          </a:solidFill>
          <a:ln w="12700">
            <a:solidFill>
              <a:srgbClr val="D1FAF6"/>
            </a:solidFill>
            <a:prstDash val="solid"/>
          </a:ln>
        </p:spPr>
      </p:sp>
      <p:sp>
        <p:nvSpPr>
          <p:cNvPr id="10" name="Text 8"/>
          <p:cNvSpPr/>
          <p:nvPr/>
        </p:nvSpPr>
        <p:spPr>
          <a:xfrm>
            <a:off x="795528" y="5010912"/>
            <a:ext cx="2999232" cy="438912"/>
          </a:xfrm>
          <a:prstGeom prst="rect">
            <a:avLst/>
          </a:prstGeom>
          <a:noFill/>
          <a:ln/>
        </p:spPr>
        <p:txBody>
          <a:bodyPr wrap="square" rtlCol="0" anchor="ctr"/>
          <a:lstStyle/>
          <a:p>
            <a:pPr marL="0" indent="0">
              <a:lnSpc>
                <a:spcPts val="1100"/>
              </a:lnSpc>
              <a:buNone/>
            </a:pPr>
            <a:r>
              <a:rPr lang="en-US" sz="900" b="1" dirty="0">
                <a:solidFill>
                  <a:srgbClr val="0D1B2A"/>
                </a:solidFill>
              </a:rPr>
              <a:t>Exit: all 1,500 agreements live as active rules on the platform</a:t>
            </a:r>
            <a:endParaRPr lang="en-US" sz="900" dirty="0"/>
          </a:p>
        </p:txBody>
      </p:sp>
      <p:sp>
        <p:nvSpPr>
          <p:cNvPr id="11" name="Shape 9"/>
          <p:cNvSpPr/>
          <p:nvPr/>
        </p:nvSpPr>
        <p:spPr>
          <a:xfrm>
            <a:off x="4279392" y="1463040"/>
            <a:ext cx="3566160" cy="4160520"/>
          </a:xfrm>
          <a:prstGeom prst="roundRect">
            <a:avLst>
              <a:gd name="adj" fmla="val 1538"/>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12" name="Shape 10"/>
          <p:cNvSpPr/>
          <p:nvPr/>
        </p:nvSpPr>
        <p:spPr>
          <a:xfrm>
            <a:off x="4279392" y="1463040"/>
            <a:ext cx="3566160" cy="457200"/>
          </a:xfrm>
          <a:prstGeom prst="roundRect">
            <a:avLst>
              <a:gd name="adj" fmla="val 12000"/>
            </a:avLst>
          </a:prstGeom>
          <a:solidFill>
            <a:srgbClr val="1A5276"/>
          </a:solidFill>
          <a:ln w="12700">
            <a:solidFill>
              <a:srgbClr val="1A5276"/>
            </a:solidFill>
            <a:prstDash val="solid"/>
          </a:ln>
        </p:spPr>
      </p:sp>
      <p:sp>
        <p:nvSpPr>
          <p:cNvPr id="13" name="Text 11"/>
          <p:cNvSpPr/>
          <p:nvPr/>
        </p:nvSpPr>
        <p:spPr>
          <a:xfrm>
            <a:off x="4480560" y="1536192"/>
            <a:ext cx="3200400" cy="310896"/>
          </a:xfrm>
          <a:prstGeom prst="rect">
            <a:avLst/>
          </a:prstGeom>
          <a:noFill/>
          <a:ln/>
        </p:spPr>
        <p:txBody>
          <a:bodyPr wrap="square" rtlCol="0" anchor="ctr"/>
          <a:lstStyle/>
          <a:p>
            <a:pPr marL="0" indent="0">
              <a:buNone/>
            </a:pPr>
            <a:r>
              <a:rPr lang="en-US" sz="950" b="1" kern="0" spc="100" dirty="0">
                <a:solidFill>
                  <a:srgbClr val="FFFFFF"/>
                </a:solidFill>
              </a:rPr>
              <a:t>Phase 2  ·  Weeks 3–6</a:t>
            </a:r>
            <a:endParaRPr lang="en-US" sz="950" dirty="0"/>
          </a:p>
        </p:txBody>
      </p:sp>
      <p:sp>
        <p:nvSpPr>
          <p:cNvPr id="14" name="Text 12"/>
          <p:cNvSpPr/>
          <p:nvPr/>
        </p:nvSpPr>
        <p:spPr>
          <a:xfrm>
            <a:off x="4480560" y="2029968"/>
            <a:ext cx="3200400" cy="457200"/>
          </a:xfrm>
          <a:prstGeom prst="rect">
            <a:avLst/>
          </a:prstGeom>
          <a:noFill/>
          <a:ln/>
        </p:spPr>
        <p:txBody>
          <a:bodyPr wrap="square" rtlCol="0" anchor="ctr"/>
          <a:lstStyle/>
          <a:p>
            <a:pPr marL="0" indent="0">
              <a:lnSpc>
                <a:spcPts val="1300"/>
              </a:lnSpc>
              <a:buNone/>
            </a:pPr>
            <a:r>
              <a:rPr lang="en-US" sz="1150" b="1" dirty="0">
                <a:solidFill>
                  <a:srgbClr val="0D1B2A"/>
                </a:solidFill>
              </a:rPr>
              <a:t>Capture, Validation &amp; Supplier Portal</a:t>
            </a:r>
            <a:endParaRPr lang="en-US" sz="1150" dirty="0"/>
          </a:p>
        </p:txBody>
      </p:sp>
      <p:sp>
        <p:nvSpPr>
          <p:cNvPr id="15" name="Text 13"/>
          <p:cNvSpPr/>
          <p:nvPr/>
        </p:nvSpPr>
        <p:spPr>
          <a:xfrm>
            <a:off x="4480560" y="2560320"/>
            <a:ext cx="3182112" cy="2194560"/>
          </a:xfrm>
          <a:prstGeom prst="rect">
            <a:avLst/>
          </a:prstGeom>
          <a:noFill/>
          <a:ln/>
        </p:spPr>
        <p:txBody>
          <a:bodyPr wrap="square" rtlCol="0" anchor="ctr"/>
          <a:lstStyle/>
          <a:p>
            <a:pPr marL="342900" indent="-342900">
              <a:lnSpc>
                <a:spcPts val="1200"/>
              </a:lnSpc>
              <a:spcAft>
                <a:spcPts val="600"/>
              </a:spcAft>
              <a:buSzPct val="100000"/>
              <a:buChar char="•"/>
            </a:pPr>
            <a:r>
              <a:rPr lang="en-US" sz="1000" dirty="0">
                <a:solidFill>
                  <a:srgbClr val="334155"/>
                </a:solidFill>
              </a:rPr>
              <a:t>Supplier Portal activation and landlord/transporter onboarding</a:t>
            </a:r>
            <a:endParaRPr lang="en-US" sz="1000" dirty="0"/>
          </a:p>
          <a:p>
            <a:pPr marL="342900" indent="-342900">
              <a:lnSpc>
                <a:spcPts val="1200"/>
              </a:lnSpc>
              <a:spcAft>
                <a:spcPts val="600"/>
              </a:spcAft>
              <a:buSzPct val="100000"/>
              <a:buChar char="•"/>
            </a:pPr>
            <a:r>
              <a:rPr lang="en-US" sz="1000" dirty="0">
                <a:solidFill>
                  <a:srgbClr val="334155"/>
                </a:solidFill>
              </a:rPr>
              <a:t>Email and scan capture channels configured and tested</a:t>
            </a:r>
            <a:endParaRPr lang="en-US" sz="1000" dirty="0"/>
          </a:p>
          <a:p>
            <a:pPr marL="342900" indent="-342900">
              <a:lnSpc>
                <a:spcPts val="1200"/>
              </a:lnSpc>
              <a:spcAft>
                <a:spcPts val="600"/>
              </a:spcAft>
              <a:buSzPct val="100000"/>
              <a:buChar char="•"/>
            </a:pPr>
            <a:r>
              <a:rPr lang="en-US" sz="1000" dirty="0">
                <a:solidFill>
                  <a:srgbClr val="334155"/>
                </a:solidFill>
              </a:rPr>
              <a:t>AI extraction tuned to your actual bill formats</a:t>
            </a:r>
            <a:endParaRPr lang="en-US" sz="1000" dirty="0"/>
          </a:p>
          <a:p>
            <a:pPr marL="342900" indent="-342900">
              <a:lnSpc>
                <a:spcPts val="1200"/>
              </a:lnSpc>
              <a:spcAft>
                <a:spcPts val="600"/>
              </a:spcAft>
              <a:buSzPct val="100000"/>
              <a:buChar char="•"/>
            </a:pPr>
            <a:r>
              <a:rPr lang="en-US" sz="1000" dirty="0">
                <a:solidFill>
                  <a:srgbClr val="334155"/>
                </a:solidFill>
              </a:rPr>
              <a:t>Validation rules live — escalation, rate, GST, TDS, duplicates</a:t>
            </a:r>
            <a:endParaRPr lang="en-US" sz="1000" dirty="0"/>
          </a:p>
          <a:p>
            <a:pPr marL="342900" indent="-342900">
              <a:lnSpc>
                <a:spcPts val="1200"/>
              </a:lnSpc>
              <a:spcAft>
                <a:spcPts val="600"/>
              </a:spcAft>
              <a:buSzPct val="100000"/>
              <a:buChar char="•"/>
            </a:pPr>
            <a:r>
              <a:rPr lang="en-US" sz="1000" dirty="0">
                <a:solidFill>
                  <a:srgbClr val="334155"/>
                </a:solidFill>
              </a:rPr>
              <a:t>Attachment binding (LR, POD, weighment) configured</a:t>
            </a:r>
            <a:endParaRPr lang="en-US" sz="1000" dirty="0"/>
          </a:p>
        </p:txBody>
      </p:sp>
      <p:sp>
        <p:nvSpPr>
          <p:cNvPr id="16" name="Shape 14"/>
          <p:cNvSpPr/>
          <p:nvPr/>
        </p:nvSpPr>
        <p:spPr>
          <a:xfrm>
            <a:off x="4480560" y="4956048"/>
            <a:ext cx="3182112" cy="530352"/>
          </a:xfrm>
          <a:prstGeom prst="roundRect">
            <a:avLst>
              <a:gd name="adj" fmla="val 6897"/>
            </a:avLst>
          </a:prstGeom>
          <a:solidFill>
            <a:srgbClr val="D1FAF6"/>
          </a:solidFill>
          <a:ln w="12700">
            <a:solidFill>
              <a:srgbClr val="D1FAF6"/>
            </a:solidFill>
            <a:prstDash val="solid"/>
          </a:ln>
        </p:spPr>
      </p:sp>
      <p:sp>
        <p:nvSpPr>
          <p:cNvPr id="17" name="Text 15"/>
          <p:cNvSpPr/>
          <p:nvPr/>
        </p:nvSpPr>
        <p:spPr>
          <a:xfrm>
            <a:off x="4572000" y="5010912"/>
            <a:ext cx="2999232" cy="438912"/>
          </a:xfrm>
          <a:prstGeom prst="rect">
            <a:avLst/>
          </a:prstGeom>
          <a:noFill/>
          <a:ln/>
        </p:spPr>
        <p:txBody>
          <a:bodyPr wrap="square" rtlCol="0" anchor="ctr"/>
          <a:lstStyle/>
          <a:p>
            <a:pPr marL="0" indent="0">
              <a:lnSpc>
                <a:spcPts val="1100"/>
              </a:lnSpc>
              <a:buNone/>
            </a:pPr>
            <a:r>
              <a:rPr lang="en-US" sz="900" b="1" dirty="0">
                <a:solidFill>
                  <a:srgbClr val="0D1B2A"/>
                </a:solidFill>
              </a:rPr>
              <a:t>Exit: bills flowing into Maker inbox, auto-validated</a:t>
            </a:r>
            <a:endParaRPr lang="en-US" sz="900" dirty="0"/>
          </a:p>
        </p:txBody>
      </p:sp>
      <p:sp>
        <p:nvSpPr>
          <p:cNvPr id="18" name="Shape 16"/>
          <p:cNvSpPr/>
          <p:nvPr/>
        </p:nvSpPr>
        <p:spPr>
          <a:xfrm>
            <a:off x="8055864" y="1463040"/>
            <a:ext cx="3566160" cy="4160520"/>
          </a:xfrm>
          <a:prstGeom prst="roundRect">
            <a:avLst>
              <a:gd name="adj" fmla="val 1538"/>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19" name="Shape 17"/>
          <p:cNvSpPr/>
          <p:nvPr/>
        </p:nvSpPr>
        <p:spPr>
          <a:xfrm>
            <a:off x="8055864" y="1463040"/>
            <a:ext cx="3566160" cy="457200"/>
          </a:xfrm>
          <a:prstGeom prst="roundRect">
            <a:avLst>
              <a:gd name="adj" fmla="val 12000"/>
            </a:avLst>
          </a:prstGeom>
          <a:solidFill>
            <a:srgbClr val="0D1B2A"/>
          </a:solidFill>
          <a:ln w="12700">
            <a:solidFill>
              <a:srgbClr val="0D1B2A"/>
            </a:solidFill>
            <a:prstDash val="solid"/>
          </a:ln>
        </p:spPr>
      </p:sp>
      <p:sp>
        <p:nvSpPr>
          <p:cNvPr id="20" name="Text 18"/>
          <p:cNvSpPr/>
          <p:nvPr/>
        </p:nvSpPr>
        <p:spPr>
          <a:xfrm>
            <a:off x="8257032" y="1536192"/>
            <a:ext cx="3200400" cy="310896"/>
          </a:xfrm>
          <a:prstGeom prst="rect">
            <a:avLst/>
          </a:prstGeom>
          <a:noFill/>
          <a:ln/>
        </p:spPr>
        <p:txBody>
          <a:bodyPr wrap="square" rtlCol="0" anchor="ctr"/>
          <a:lstStyle/>
          <a:p>
            <a:pPr marL="0" indent="0">
              <a:buNone/>
            </a:pPr>
            <a:r>
              <a:rPr lang="en-US" sz="950" b="1" kern="0" spc="100" dirty="0">
                <a:solidFill>
                  <a:srgbClr val="FFFFFF"/>
                </a:solidFill>
              </a:rPr>
              <a:t>Phase 3  ·  Weeks 6–8</a:t>
            </a:r>
            <a:endParaRPr lang="en-US" sz="950" dirty="0"/>
          </a:p>
        </p:txBody>
      </p:sp>
      <p:sp>
        <p:nvSpPr>
          <p:cNvPr id="21" name="Text 19"/>
          <p:cNvSpPr/>
          <p:nvPr/>
        </p:nvSpPr>
        <p:spPr>
          <a:xfrm>
            <a:off x="8257032" y="2029968"/>
            <a:ext cx="3200400" cy="457200"/>
          </a:xfrm>
          <a:prstGeom prst="rect">
            <a:avLst/>
          </a:prstGeom>
          <a:noFill/>
          <a:ln/>
        </p:spPr>
        <p:txBody>
          <a:bodyPr wrap="square" rtlCol="0" anchor="ctr"/>
          <a:lstStyle/>
          <a:p>
            <a:pPr marL="0" indent="0">
              <a:lnSpc>
                <a:spcPts val="1300"/>
              </a:lnSpc>
              <a:buNone/>
            </a:pPr>
            <a:r>
              <a:rPr lang="en-US" sz="1150" b="1" dirty="0">
                <a:solidFill>
                  <a:srgbClr val="0D1B2A"/>
                </a:solidFill>
              </a:rPr>
              <a:t>Go-Live, File Posting &amp; Hypercare</a:t>
            </a:r>
            <a:endParaRPr lang="en-US" sz="1150" dirty="0"/>
          </a:p>
        </p:txBody>
      </p:sp>
      <p:sp>
        <p:nvSpPr>
          <p:cNvPr id="22" name="Text 20"/>
          <p:cNvSpPr/>
          <p:nvPr/>
        </p:nvSpPr>
        <p:spPr>
          <a:xfrm>
            <a:off x="8257032" y="2560320"/>
            <a:ext cx="3182112" cy="2194560"/>
          </a:xfrm>
          <a:prstGeom prst="rect">
            <a:avLst/>
          </a:prstGeom>
          <a:noFill/>
          <a:ln/>
        </p:spPr>
        <p:txBody>
          <a:bodyPr wrap="square" rtlCol="0" anchor="ctr"/>
          <a:lstStyle/>
          <a:p>
            <a:pPr marL="342900" indent="-342900">
              <a:lnSpc>
                <a:spcPts val="1200"/>
              </a:lnSpc>
              <a:spcAft>
                <a:spcPts val="600"/>
              </a:spcAft>
              <a:buSzPct val="100000"/>
              <a:buChar char="•"/>
            </a:pPr>
            <a:r>
              <a:rPr lang="en-US" sz="1000" dirty="0">
                <a:solidFill>
                  <a:srgbClr val="334155"/>
                </a:solidFill>
              </a:rPr>
              <a:t>UAT with your finance team on live rental and freight bills</a:t>
            </a:r>
            <a:endParaRPr lang="en-US" sz="1000" dirty="0"/>
          </a:p>
          <a:p>
            <a:pPr marL="342900" indent="-342900">
              <a:lnSpc>
                <a:spcPts val="1200"/>
              </a:lnSpc>
              <a:spcAft>
                <a:spcPts val="600"/>
              </a:spcAft>
              <a:buSzPct val="100000"/>
              <a:buChar char="•"/>
            </a:pPr>
            <a:r>
              <a:rPr lang="en-US" sz="1000" dirty="0">
                <a:solidFill>
                  <a:srgbClr val="334155"/>
                </a:solidFill>
              </a:rPr>
              <a:t>Oracle Fusion file export format finalised and validated</a:t>
            </a:r>
            <a:endParaRPr lang="en-US" sz="1000" dirty="0"/>
          </a:p>
          <a:p>
            <a:pPr marL="342900" indent="-342900">
              <a:lnSpc>
                <a:spcPts val="1200"/>
              </a:lnSpc>
              <a:spcAft>
                <a:spcPts val="600"/>
              </a:spcAft>
              <a:buSzPct val="100000"/>
              <a:buChar char="•"/>
            </a:pPr>
            <a:r>
              <a:rPr lang="en-US" sz="1000" dirty="0">
                <a:solidFill>
                  <a:srgbClr val="334155"/>
                </a:solidFill>
              </a:rPr>
              <a:t>Parallel run — platform output vs current manual process</a:t>
            </a:r>
            <a:endParaRPr lang="en-US" sz="1000" dirty="0"/>
          </a:p>
          <a:p>
            <a:pPr marL="342900" indent="-342900">
              <a:lnSpc>
                <a:spcPts val="1200"/>
              </a:lnSpc>
              <a:spcAft>
                <a:spcPts val="600"/>
              </a:spcAft>
              <a:buSzPct val="100000"/>
              <a:buChar char="•"/>
            </a:pPr>
            <a:r>
              <a:rPr lang="en-US" sz="1000" dirty="0">
                <a:solidFill>
                  <a:srgbClr val="334155"/>
                </a:solidFill>
              </a:rPr>
              <a:t>Go-live with full Maker–Checker on both streams</a:t>
            </a:r>
            <a:endParaRPr lang="en-US" sz="1000" dirty="0"/>
          </a:p>
          <a:p>
            <a:pPr marL="342900" indent="-342900">
              <a:lnSpc>
                <a:spcPts val="1200"/>
              </a:lnSpc>
              <a:spcAft>
                <a:spcPts val="600"/>
              </a:spcAft>
              <a:buSzPct val="100000"/>
              <a:buChar char="•"/>
            </a:pPr>
            <a:r>
              <a:rPr lang="en-US" sz="1000" dirty="0">
                <a:solidFill>
                  <a:srgbClr val="334155"/>
                </a:solidFill>
              </a:rPr>
              <a:t>Hypercare, dashboards and MIS handover</a:t>
            </a:r>
            <a:endParaRPr lang="en-US" sz="1000" dirty="0"/>
          </a:p>
        </p:txBody>
      </p:sp>
      <p:sp>
        <p:nvSpPr>
          <p:cNvPr id="23" name="Shape 21"/>
          <p:cNvSpPr/>
          <p:nvPr/>
        </p:nvSpPr>
        <p:spPr>
          <a:xfrm>
            <a:off x="8257032" y="4956048"/>
            <a:ext cx="3182112" cy="530352"/>
          </a:xfrm>
          <a:prstGeom prst="roundRect">
            <a:avLst>
              <a:gd name="adj" fmla="val 6897"/>
            </a:avLst>
          </a:prstGeom>
          <a:solidFill>
            <a:srgbClr val="D1FAF6"/>
          </a:solidFill>
          <a:ln w="12700">
            <a:solidFill>
              <a:srgbClr val="D1FAF6"/>
            </a:solidFill>
            <a:prstDash val="solid"/>
          </a:ln>
        </p:spPr>
      </p:sp>
      <p:sp>
        <p:nvSpPr>
          <p:cNvPr id="24" name="Text 22"/>
          <p:cNvSpPr/>
          <p:nvPr/>
        </p:nvSpPr>
        <p:spPr>
          <a:xfrm>
            <a:off x="8348472" y="5010912"/>
            <a:ext cx="2999232" cy="438912"/>
          </a:xfrm>
          <a:prstGeom prst="rect">
            <a:avLst/>
          </a:prstGeom>
          <a:noFill/>
          <a:ln/>
        </p:spPr>
        <p:txBody>
          <a:bodyPr wrap="square" rtlCol="0" anchor="ctr"/>
          <a:lstStyle/>
          <a:p>
            <a:pPr marL="0" indent="0">
              <a:lnSpc>
                <a:spcPts val="1100"/>
              </a:lnSpc>
              <a:buNone/>
            </a:pPr>
            <a:r>
              <a:rPr lang="en-US" sz="900" b="1" dirty="0">
                <a:solidFill>
                  <a:srgbClr val="0D1B2A"/>
                </a:solidFill>
              </a:rPr>
              <a:t>Exit: 3,300 bills / month processed under full control</a:t>
            </a:r>
            <a:endParaRPr lang="en-US" sz="900" dirty="0"/>
          </a:p>
        </p:txBody>
      </p:sp>
      <p:sp>
        <p:nvSpPr>
          <p:cNvPr id="25" name="Text 23"/>
          <p:cNvSpPr/>
          <p:nvPr/>
        </p:nvSpPr>
        <p:spPr>
          <a:xfrm>
            <a:off x="502920" y="5806440"/>
            <a:ext cx="11155680" cy="274320"/>
          </a:xfrm>
          <a:prstGeom prst="rect">
            <a:avLst/>
          </a:prstGeom>
          <a:noFill/>
          <a:ln/>
        </p:spPr>
        <p:txBody>
          <a:bodyPr wrap="square" rtlCol="0" anchor="ctr"/>
          <a:lstStyle/>
          <a:p>
            <a:pPr marL="0" indent="0">
              <a:buNone/>
            </a:pPr>
            <a:r>
              <a:rPr lang="en-US" sz="1050" b="1" dirty="0">
                <a:solidFill>
                  <a:srgbClr val="1A5276"/>
                </a:solidFill>
              </a:rPr>
              <a:t>Phase 4 (optional, post go-live):  Direct API posting to Oracle Fusion — activated on your ERP team's timeline, at no additional cost.</a:t>
            </a:r>
            <a:endParaRPr lang="en-US" sz="1050" dirty="0"/>
          </a:p>
        </p:txBody>
      </p:sp>
      <p:sp>
        <p:nvSpPr>
          <p:cNvPr id="26" name="Text 24"/>
          <p:cNvSpPr/>
          <p:nvPr/>
        </p:nvSpPr>
        <p:spPr>
          <a:xfrm>
            <a:off x="502920" y="6089904"/>
            <a:ext cx="11155680" cy="274320"/>
          </a:xfrm>
          <a:prstGeom prst="rect">
            <a:avLst/>
          </a:prstGeom>
          <a:noFill/>
          <a:ln/>
        </p:spPr>
        <p:txBody>
          <a:bodyPr wrap="square" rtlCol="0" anchor="ctr"/>
          <a:lstStyle/>
          <a:p>
            <a:pPr marL="0" indent="0">
              <a:buNone/>
            </a:pPr>
            <a:r>
              <a:rPr lang="en-US" sz="1000" i="1" dirty="0">
                <a:solidFill>
                  <a:srgbClr val="64748B"/>
                </a:solidFill>
              </a:rPr>
              <a:t>SOC 2 certification is expected to conclude within 2–3 months — broadly in parallel with this deployment. The audit report will be shared with BigBasket on issue.</a:t>
            </a:r>
            <a:endParaRPr lang="en-US" sz="1000" dirty="0"/>
          </a:p>
        </p:txBody>
      </p:sp>
      <p:sp>
        <p:nvSpPr>
          <p:cNvPr id="27" name="Text 25"/>
          <p:cNvSpPr/>
          <p:nvPr/>
        </p:nvSpPr>
        <p:spPr>
          <a:xfrm>
            <a:off x="502920" y="6419088"/>
            <a:ext cx="11155680" cy="256032"/>
          </a:xfrm>
          <a:prstGeom prst="rect">
            <a:avLst/>
          </a:prstGeom>
          <a:noFill/>
          <a:ln/>
        </p:spPr>
        <p:txBody>
          <a:bodyPr wrap="square" rtlCol="0" anchor="ctr"/>
          <a:lstStyle/>
          <a:p>
            <a:pPr marL="0" indent="0">
              <a:buNone/>
            </a:pPr>
            <a:r>
              <a:rPr lang="en-US" sz="750" dirty="0">
                <a:solidFill>
                  <a:srgbClr val="64748B"/>
                </a:solidFill>
              </a:rPr>
              <a:t>BillionTech  ·  billiontech.ai  ·  Strictly Confidential  ·  Proposal for BigBasket  ·  July 2026</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B"/>
        </a:solidFill>
        <a:effectLst/>
      </p:bgPr>
    </p:bg>
    <p:spTree>
      <p:nvGrpSpPr>
        <p:cNvPr id="1" name=""/>
        <p:cNvGrpSpPr/>
        <p:nvPr/>
      </p:nvGrpSpPr>
      <p:grpSpPr>
        <a:xfrm>
          <a:off x="0" y="0"/>
          <a:ext cx="0" cy="0"/>
          <a:chOff x="0" y="0"/>
          <a:chExt cx="0" cy="0"/>
        </a:xfrm>
      </p:grpSpPr>
      <p:sp>
        <p:nvSpPr>
          <p:cNvPr id="2" name="Text 0"/>
          <p:cNvSpPr/>
          <p:nvPr/>
        </p:nvSpPr>
        <p:spPr>
          <a:xfrm>
            <a:off x="502920" y="347472"/>
            <a:ext cx="11155680" cy="411480"/>
          </a:xfrm>
          <a:prstGeom prst="rect">
            <a:avLst/>
          </a:prstGeom>
          <a:noFill/>
          <a:ln/>
        </p:spPr>
        <p:txBody>
          <a:bodyPr wrap="square" rtlCol="0" anchor="ctr"/>
          <a:lstStyle/>
          <a:p>
            <a:pPr marL="0" indent="0">
              <a:buNone/>
            </a:pPr>
            <a:r>
              <a:rPr lang="en-US" sz="2300" b="1" dirty="0">
                <a:solidFill>
                  <a:srgbClr val="0D1B2A"/>
                </a:solidFill>
              </a:rPr>
              <a:t>The Value  |  What Changes for BigBasket on Day One</a:t>
            </a:r>
            <a:endParaRPr lang="en-US" sz="2300" dirty="0"/>
          </a:p>
        </p:txBody>
      </p:sp>
      <p:sp>
        <p:nvSpPr>
          <p:cNvPr id="3" name="Text 1"/>
          <p:cNvSpPr/>
          <p:nvPr/>
        </p:nvSpPr>
        <p:spPr>
          <a:xfrm>
            <a:off x="502920" y="786384"/>
            <a:ext cx="11155680" cy="384048"/>
          </a:xfrm>
          <a:prstGeom prst="rect">
            <a:avLst/>
          </a:prstGeom>
          <a:noFill/>
          <a:ln/>
        </p:spPr>
        <p:txBody>
          <a:bodyPr wrap="square" rtlCol="0" anchor="ctr"/>
          <a:lstStyle/>
          <a:p>
            <a:pPr marL="0" indent="0">
              <a:buNone/>
            </a:pPr>
            <a:r>
              <a:rPr lang="en-US" sz="1150" dirty="0">
                <a:solidFill>
                  <a:srgbClr val="64748B"/>
                </a:solidFill>
              </a:rPr>
              <a:t>The return is not only processing effort. It is control, accuracy and the elimination of silent leakage across 1,500 agreements.</a:t>
            </a:r>
            <a:endParaRPr lang="en-US" sz="1150" dirty="0"/>
          </a:p>
        </p:txBody>
      </p:sp>
      <p:sp>
        <p:nvSpPr>
          <p:cNvPr id="4" name="Shape 2"/>
          <p:cNvSpPr/>
          <p:nvPr/>
        </p:nvSpPr>
        <p:spPr>
          <a:xfrm>
            <a:off x="502920" y="1481328"/>
            <a:ext cx="3566160" cy="2121408"/>
          </a:xfrm>
          <a:prstGeom prst="roundRect">
            <a:avLst>
              <a:gd name="adj" fmla="val 2586"/>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5" name="Shape 3"/>
          <p:cNvSpPr/>
          <p:nvPr/>
        </p:nvSpPr>
        <p:spPr>
          <a:xfrm>
            <a:off x="731520" y="1700784"/>
            <a:ext cx="91440" cy="274320"/>
          </a:xfrm>
          <a:prstGeom prst="roundRect">
            <a:avLst>
              <a:gd name="adj" fmla="val 30000"/>
            </a:avLst>
          </a:prstGeom>
          <a:solidFill>
            <a:srgbClr val="0D9488"/>
          </a:solidFill>
          <a:ln w="12700">
            <a:solidFill>
              <a:srgbClr val="0D9488"/>
            </a:solidFill>
            <a:prstDash val="solid"/>
          </a:ln>
        </p:spPr>
      </p:sp>
      <p:sp>
        <p:nvSpPr>
          <p:cNvPr id="6" name="Text 4"/>
          <p:cNvSpPr/>
          <p:nvPr/>
        </p:nvSpPr>
        <p:spPr>
          <a:xfrm>
            <a:off x="941832" y="1664208"/>
            <a:ext cx="2926080" cy="347472"/>
          </a:xfrm>
          <a:prstGeom prst="rect">
            <a:avLst/>
          </a:prstGeom>
          <a:noFill/>
          <a:ln/>
        </p:spPr>
        <p:txBody>
          <a:bodyPr wrap="square" rtlCol="0" anchor="ctr"/>
          <a:lstStyle/>
          <a:p>
            <a:pPr marL="0" indent="0">
              <a:buNone/>
            </a:pPr>
            <a:r>
              <a:rPr lang="en-US" sz="1200" b="1" dirty="0">
                <a:solidFill>
                  <a:srgbClr val="0D1B2A"/>
                </a:solidFill>
              </a:rPr>
              <a:t>Rental Leakage Stops</a:t>
            </a:r>
            <a:endParaRPr lang="en-US" sz="1200" dirty="0"/>
          </a:p>
        </p:txBody>
      </p:sp>
      <p:sp>
        <p:nvSpPr>
          <p:cNvPr id="7" name="Text 5"/>
          <p:cNvSpPr/>
          <p:nvPr/>
        </p:nvSpPr>
        <p:spPr>
          <a:xfrm>
            <a:off x="731520" y="2103120"/>
            <a:ext cx="3127248" cy="1371600"/>
          </a:xfrm>
          <a:prstGeom prst="rect">
            <a:avLst/>
          </a:prstGeom>
          <a:noFill/>
          <a:ln/>
        </p:spPr>
        <p:txBody>
          <a:bodyPr wrap="square" rtlCol="0" anchor="ctr"/>
          <a:lstStyle/>
          <a:p>
            <a:pPr marL="0" indent="0">
              <a:lnSpc>
                <a:spcPts val="1250"/>
              </a:lnSpc>
              <a:buNone/>
            </a:pPr>
            <a:r>
              <a:rPr lang="en-US" sz="1000" dirty="0">
                <a:solidFill>
                  <a:srgbClr val="334155"/>
                </a:solidFill>
              </a:rPr>
              <a:t>Across 1,500 agreements, missed escalations and stale rates cause silent overpayment and underpayment. The platform applies every clause on its due date, automatically. This alone typically pays for the system.</a:t>
            </a:r>
            <a:endParaRPr lang="en-US" sz="1000" dirty="0"/>
          </a:p>
        </p:txBody>
      </p:sp>
      <p:sp>
        <p:nvSpPr>
          <p:cNvPr id="8" name="Shape 6"/>
          <p:cNvSpPr/>
          <p:nvPr/>
        </p:nvSpPr>
        <p:spPr>
          <a:xfrm>
            <a:off x="4279392" y="1481328"/>
            <a:ext cx="3566160" cy="2121408"/>
          </a:xfrm>
          <a:prstGeom prst="roundRect">
            <a:avLst>
              <a:gd name="adj" fmla="val 2586"/>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9" name="Shape 7"/>
          <p:cNvSpPr/>
          <p:nvPr/>
        </p:nvSpPr>
        <p:spPr>
          <a:xfrm>
            <a:off x="4507992" y="1700784"/>
            <a:ext cx="91440" cy="274320"/>
          </a:xfrm>
          <a:prstGeom prst="roundRect">
            <a:avLst>
              <a:gd name="adj" fmla="val 30000"/>
            </a:avLst>
          </a:prstGeom>
          <a:solidFill>
            <a:srgbClr val="0D9488"/>
          </a:solidFill>
          <a:ln w="12700">
            <a:solidFill>
              <a:srgbClr val="0D9488"/>
            </a:solidFill>
            <a:prstDash val="solid"/>
          </a:ln>
        </p:spPr>
      </p:sp>
      <p:sp>
        <p:nvSpPr>
          <p:cNvPr id="10" name="Text 8"/>
          <p:cNvSpPr/>
          <p:nvPr/>
        </p:nvSpPr>
        <p:spPr>
          <a:xfrm>
            <a:off x="4718304" y="1664208"/>
            <a:ext cx="2926080" cy="347472"/>
          </a:xfrm>
          <a:prstGeom prst="rect">
            <a:avLst/>
          </a:prstGeom>
          <a:noFill/>
          <a:ln/>
        </p:spPr>
        <p:txBody>
          <a:bodyPr wrap="square" rtlCol="0" anchor="ctr"/>
          <a:lstStyle/>
          <a:p>
            <a:pPr marL="0" indent="0">
              <a:buNone/>
            </a:pPr>
            <a:r>
              <a:rPr lang="en-US" sz="1200" b="1" dirty="0">
                <a:solidFill>
                  <a:srgbClr val="0D1B2A"/>
                </a:solidFill>
              </a:rPr>
              <a:t>Effort Collapses</a:t>
            </a:r>
            <a:endParaRPr lang="en-US" sz="1200" dirty="0"/>
          </a:p>
        </p:txBody>
      </p:sp>
      <p:sp>
        <p:nvSpPr>
          <p:cNvPr id="11" name="Text 9"/>
          <p:cNvSpPr/>
          <p:nvPr/>
        </p:nvSpPr>
        <p:spPr>
          <a:xfrm>
            <a:off x="4507992" y="2103120"/>
            <a:ext cx="3127248" cy="1371600"/>
          </a:xfrm>
          <a:prstGeom prst="rect">
            <a:avLst/>
          </a:prstGeom>
          <a:noFill/>
          <a:ln/>
        </p:spPr>
        <p:txBody>
          <a:bodyPr wrap="square" rtlCol="0" anchor="ctr"/>
          <a:lstStyle/>
          <a:p>
            <a:pPr marL="0" indent="0">
              <a:lnSpc>
                <a:spcPts val="1250"/>
              </a:lnSpc>
              <a:buNone/>
            </a:pPr>
            <a:r>
              <a:rPr lang="en-US" sz="1000" dirty="0">
                <a:solidFill>
                  <a:srgbClr val="334155"/>
                </a:solidFill>
              </a:rPr>
              <a:t>3,300 bills a month currently consume a large manual verification burden. With 80%+ auto-validating clean, your team touches only genuine exceptions — with the reason already explained.</a:t>
            </a:r>
            <a:endParaRPr lang="en-US" sz="1000" dirty="0"/>
          </a:p>
        </p:txBody>
      </p:sp>
      <p:sp>
        <p:nvSpPr>
          <p:cNvPr id="12" name="Shape 10"/>
          <p:cNvSpPr/>
          <p:nvPr/>
        </p:nvSpPr>
        <p:spPr>
          <a:xfrm>
            <a:off x="8055864" y="1481328"/>
            <a:ext cx="3566160" cy="2121408"/>
          </a:xfrm>
          <a:prstGeom prst="roundRect">
            <a:avLst>
              <a:gd name="adj" fmla="val 2586"/>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13" name="Shape 11"/>
          <p:cNvSpPr/>
          <p:nvPr/>
        </p:nvSpPr>
        <p:spPr>
          <a:xfrm>
            <a:off x="8284464" y="1700784"/>
            <a:ext cx="91440" cy="274320"/>
          </a:xfrm>
          <a:prstGeom prst="roundRect">
            <a:avLst>
              <a:gd name="adj" fmla="val 30000"/>
            </a:avLst>
          </a:prstGeom>
          <a:solidFill>
            <a:srgbClr val="0D9488"/>
          </a:solidFill>
          <a:ln w="12700">
            <a:solidFill>
              <a:srgbClr val="0D9488"/>
            </a:solidFill>
            <a:prstDash val="solid"/>
          </a:ln>
        </p:spPr>
      </p:sp>
      <p:sp>
        <p:nvSpPr>
          <p:cNvPr id="14" name="Text 12"/>
          <p:cNvSpPr/>
          <p:nvPr/>
        </p:nvSpPr>
        <p:spPr>
          <a:xfrm>
            <a:off x="8494776" y="1664208"/>
            <a:ext cx="2926080" cy="347472"/>
          </a:xfrm>
          <a:prstGeom prst="rect">
            <a:avLst/>
          </a:prstGeom>
          <a:noFill/>
          <a:ln/>
        </p:spPr>
        <p:txBody>
          <a:bodyPr wrap="square" rtlCol="0" anchor="ctr"/>
          <a:lstStyle/>
          <a:p>
            <a:pPr marL="0" indent="0">
              <a:buNone/>
            </a:pPr>
            <a:r>
              <a:rPr lang="en-US" sz="1200" b="1" dirty="0">
                <a:solidFill>
                  <a:srgbClr val="0D1B2A"/>
                </a:solidFill>
              </a:rPr>
              <a:t>Control Is Provable</a:t>
            </a:r>
            <a:endParaRPr lang="en-US" sz="1200" dirty="0"/>
          </a:p>
        </p:txBody>
      </p:sp>
      <p:sp>
        <p:nvSpPr>
          <p:cNvPr id="15" name="Text 13"/>
          <p:cNvSpPr/>
          <p:nvPr/>
        </p:nvSpPr>
        <p:spPr>
          <a:xfrm>
            <a:off x="8284464" y="2103120"/>
            <a:ext cx="3127248" cy="1371600"/>
          </a:xfrm>
          <a:prstGeom prst="rect">
            <a:avLst/>
          </a:prstGeom>
          <a:noFill/>
          <a:ln/>
        </p:spPr>
        <p:txBody>
          <a:bodyPr wrap="square" rtlCol="0" anchor="ctr"/>
          <a:lstStyle/>
          <a:p>
            <a:pPr marL="0" indent="0">
              <a:lnSpc>
                <a:spcPts val="1250"/>
              </a:lnSpc>
              <a:buNone/>
            </a:pPr>
            <a:r>
              <a:rPr lang="en-US" sz="1000" dirty="0">
                <a:solidFill>
                  <a:srgbClr val="334155"/>
                </a:solidFill>
              </a:rPr>
              <a:t>Maker–Checker enforced by system, not convention. Every bill carries who captured it, who verified it, who approved it, and against which contractual clause. Audit becomes a query, not a project.</a:t>
            </a:r>
            <a:endParaRPr lang="en-US" sz="1000" dirty="0"/>
          </a:p>
        </p:txBody>
      </p:sp>
      <p:sp>
        <p:nvSpPr>
          <p:cNvPr id="16" name="Shape 14"/>
          <p:cNvSpPr/>
          <p:nvPr/>
        </p:nvSpPr>
        <p:spPr>
          <a:xfrm>
            <a:off x="502920" y="3813048"/>
            <a:ext cx="3566160" cy="2121408"/>
          </a:xfrm>
          <a:prstGeom prst="roundRect">
            <a:avLst>
              <a:gd name="adj" fmla="val 2586"/>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17" name="Shape 15"/>
          <p:cNvSpPr/>
          <p:nvPr/>
        </p:nvSpPr>
        <p:spPr>
          <a:xfrm>
            <a:off x="731520" y="4032504"/>
            <a:ext cx="91440" cy="274320"/>
          </a:xfrm>
          <a:prstGeom prst="roundRect">
            <a:avLst>
              <a:gd name="adj" fmla="val 30000"/>
            </a:avLst>
          </a:prstGeom>
          <a:solidFill>
            <a:srgbClr val="0D9488"/>
          </a:solidFill>
          <a:ln w="12700">
            <a:solidFill>
              <a:srgbClr val="0D9488"/>
            </a:solidFill>
            <a:prstDash val="solid"/>
          </a:ln>
        </p:spPr>
      </p:sp>
      <p:sp>
        <p:nvSpPr>
          <p:cNvPr id="18" name="Text 16"/>
          <p:cNvSpPr/>
          <p:nvPr/>
        </p:nvSpPr>
        <p:spPr>
          <a:xfrm>
            <a:off x="941832" y="3995928"/>
            <a:ext cx="2926080" cy="347472"/>
          </a:xfrm>
          <a:prstGeom prst="rect">
            <a:avLst/>
          </a:prstGeom>
          <a:noFill/>
          <a:ln/>
        </p:spPr>
        <p:txBody>
          <a:bodyPr wrap="square" rtlCol="0" anchor="ctr"/>
          <a:lstStyle/>
          <a:p>
            <a:pPr marL="0" indent="0">
              <a:buNone/>
            </a:pPr>
            <a:r>
              <a:rPr lang="en-US" sz="1200" b="1" dirty="0">
                <a:solidFill>
                  <a:srgbClr val="0D1B2A"/>
                </a:solidFill>
              </a:rPr>
              <a:t>Suppliers Don't Change</a:t>
            </a:r>
            <a:endParaRPr lang="en-US" sz="1200" dirty="0"/>
          </a:p>
        </p:txBody>
      </p:sp>
      <p:sp>
        <p:nvSpPr>
          <p:cNvPr id="19" name="Text 17"/>
          <p:cNvSpPr/>
          <p:nvPr/>
        </p:nvSpPr>
        <p:spPr>
          <a:xfrm>
            <a:off x="731520" y="4434840"/>
            <a:ext cx="3127248" cy="1371600"/>
          </a:xfrm>
          <a:prstGeom prst="rect">
            <a:avLst/>
          </a:prstGeom>
          <a:noFill/>
          <a:ln/>
        </p:spPr>
        <p:txBody>
          <a:bodyPr wrap="square" rtlCol="0" anchor="ctr"/>
          <a:lstStyle/>
          <a:p>
            <a:pPr marL="0" indent="0">
              <a:lnSpc>
                <a:spcPts val="1250"/>
              </a:lnSpc>
              <a:buNone/>
            </a:pPr>
            <a:r>
              <a:rPr lang="en-US" sz="1000" dirty="0">
                <a:solidFill>
                  <a:srgbClr val="334155"/>
                </a:solidFill>
              </a:rPr>
              <a:t>3,000+ landlords and transporters keep working the way they already do — email, scan, or portal, their choice. Adoption risk is near zero because no behaviour change is imposed on them.</a:t>
            </a:r>
            <a:endParaRPr lang="en-US" sz="1000" dirty="0"/>
          </a:p>
        </p:txBody>
      </p:sp>
      <p:sp>
        <p:nvSpPr>
          <p:cNvPr id="20" name="Shape 18"/>
          <p:cNvSpPr/>
          <p:nvPr/>
        </p:nvSpPr>
        <p:spPr>
          <a:xfrm>
            <a:off x="4279392" y="3813048"/>
            <a:ext cx="3566160" cy="2121408"/>
          </a:xfrm>
          <a:prstGeom prst="roundRect">
            <a:avLst>
              <a:gd name="adj" fmla="val 2586"/>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21" name="Shape 19"/>
          <p:cNvSpPr/>
          <p:nvPr/>
        </p:nvSpPr>
        <p:spPr>
          <a:xfrm>
            <a:off x="4507992" y="4032504"/>
            <a:ext cx="91440" cy="274320"/>
          </a:xfrm>
          <a:prstGeom prst="roundRect">
            <a:avLst>
              <a:gd name="adj" fmla="val 30000"/>
            </a:avLst>
          </a:prstGeom>
          <a:solidFill>
            <a:srgbClr val="0D9488"/>
          </a:solidFill>
          <a:ln w="12700">
            <a:solidFill>
              <a:srgbClr val="0D9488"/>
            </a:solidFill>
            <a:prstDash val="solid"/>
          </a:ln>
        </p:spPr>
      </p:sp>
      <p:sp>
        <p:nvSpPr>
          <p:cNvPr id="22" name="Text 20"/>
          <p:cNvSpPr/>
          <p:nvPr/>
        </p:nvSpPr>
        <p:spPr>
          <a:xfrm>
            <a:off x="4718304" y="3995928"/>
            <a:ext cx="2926080" cy="347472"/>
          </a:xfrm>
          <a:prstGeom prst="rect">
            <a:avLst/>
          </a:prstGeom>
          <a:noFill/>
          <a:ln/>
        </p:spPr>
        <p:txBody>
          <a:bodyPr wrap="square" rtlCol="0" anchor="ctr"/>
          <a:lstStyle/>
          <a:p>
            <a:pPr marL="0" indent="0">
              <a:buNone/>
            </a:pPr>
            <a:r>
              <a:rPr lang="en-US" sz="1200" b="1" dirty="0">
                <a:solidFill>
                  <a:srgbClr val="0D1B2A"/>
                </a:solidFill>
              </a:rPr>
              <a:t>ERP Stays Untouched</a:t>
            </a:r>
            <a:endParaRPr lang="en-US" sz="1200" dirty="0"/>
          </a:p>
        </p:txBody>
      </p:sp>
      <p:sp>
        <p:nvSpPr>
          <p:cNvPr id="23" name="Text 21"/>
          <p:cNvSpPr/>
          <p:nvPr/>
        </p:nvSpPr>
        <p:spPr>
          <a:xfrm>
            <a:off x="4507992" y="4434840"/>
            <a:ext cx="3127248" cy="1371600"/>
          </a:xfrm>
          <a:prstGeom prst="rect">
            <a:avLst/>
          </a:prstGeom>
          <a:noFill/>
          <a:ln/>
        </p:spPr>
        <p:txBody>
          <a:bodyPr wrap="square" rtlCol="0" anchor="ctr"/>
          <a:lstStyle/>
          <a:p>
            <a:pPr marL="0" indent="0">
              <a:lnSpc>
                <a:spcPts val="1250"/>
              </a:lnSpc>
              <a:buNone/>
            </a:pPr>
            <a:r>
              <a:rPr lang="en-US" sz="1000" dirty="0">
                <a:solidFill>
                  <a:srgbClr val="334155"/>
                </a:solidFill>
              </a:rPr>
              <a:t>Your Oracle Fusion team, fresh off implementation, does nothing in Phase 1. The platform delivers a clean, validated file. API integration waits until they have bandwidth.</a:t>
            </a:r>
            <a:endParaRPr lang="en-US" sz="1000" dirty="0"/>
          </a:p>
        </p:txBody>
      </p:sp>
      <p:sp>
        <p:nvSpPr>
          <p:cNvPr id="24" name="Shape 22"/>
          <p:cNvSpPr/>
          <p:nvPr/>
        </p:nvSpPr>
        <p:spPr>
          <a:xfrm>
            <a:off x="8055864" y="3813048"/>
            <a:ext cx="3566160" cy="2121408"/>
          </a:xfrm>
          <a:prstGeom prst="roundRect">
            <a:avLst>
              <a:gd name="adj" fmla="val 2586"/>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25" name="Shape 23"/>
          <p:cNvSpPr/>
          <p:nvPr/>
        </p:nvSpPr>
        <p:spPr>
          <a:xfrm>
            <a:off x="8284464" y="4032504"/>
            <a:ext cx="91440" cy="274320"/>
          </a:xfrm>
          <a:prstGeom prst="roundRect">
            <a:avLst>
              <a:gd name="adj" fmla="val 30000"/>
            </a:avLst>
          </a:prstGeom>
          <a:solidFill>
            <a:srgbClr val="0D9488"/>
          </a:solidFill>
          <a:ln w="12700">
            <a:solidFill>
              <a:srgbClr val="0D9488"/>
            </a:solidFill>
            <a:prstDash val="solid"/>
          </a:ln>
        </p:spPr>
      </p:sp>
      <p:sp>
        <p:nvSpPr>
          <p:cNvPr id="26" name="Text 24"/>
          <p:cNvSpPr/>
          <p:nvPr/>
        </p:nvSpPr>
        <p:spPr>
          <a:xfrm>
            <a:off x="8494776" y="3995928"/>
            <a:ext cx="2926080" cy="347472"/>
          </a:xfrm>
          <a:prstGeom prst="rect">
            <a:avLst/>
          </a:prstGeom>
          <a:noFill/>
          <a:ln/>
        </p:spPr>
        <p:txBody>
          <a:bodyPr wrap="square" rtlCol="0" anchor="ctr"/>
          <a:lstStyle/>
          <a:p>
            <a:pPr marL="0" indent="0">
              <a:buNone/>
            </a:pPr>
            <a:r>
              <a:rPr lang="en-US" sz="1200" b="1" dirty="0">
                <a:solidFill>
                  <a:srgbClr val="0D1B2A"/>
                </a:solidFill>
              </a:rPr>
              <a:t>Scales Without Headcount</a:t>
            </a:r>
            <a:endParaRPr lang="en-US" sz="1200" dirty="0"/>
          </a:p>
        </p:txBody>
      </p:sp>
      <p:sp>
        <p:nvSpPr>
          <p:cNvPr id="27" name="Text 25"/>
          <p:cNvSpPr/>
          <p:nvPr/>
        </p:nvSpPr>
        <p:spPr>
          <a:xfrm>
            <a:off x="8284464" y="4434840"/>
            <a:ext cx="3127248" cy="1371600"/>
          </a:xfrm>
          <a:prstGeom prst="rect">
            <a:avLst/>
          </a:prstGeom>
          <a:noFill/>
          <a:ln/>
        </p:spPr>
        <p:txBody>
          <a:bodyPr wrap="square" rtlCol="0" anchor="ctr"/>
          <a:lstStyle/>
          <a:p>
            <a:pPr marL="0" indent="0">
              <a:lnSpc>
                <a:spcPts val="1250"/>
              </a:lnSpc>
              <a:buNone/>
            </a:pPr>
            <a:r>
              <a:rPr lang="en-US" sz="1000" dirty="0">
                <a:solidFill>
                  <a:srgbClr val="334155"/>
                </a:solidFill>
              </a:rPr>
              <a:t>New rental locations and new transporters onboard as data, not as hiring. The platform absorbs volume growth — 1,500 locations or 5,000 — without a proportional increase in AP staff.</a:t>
            </a:r>
            <a:endParaRPr lang="en-US" sz="1000" dirty="0"/>
          </a:p>
        </p:txBody>
      </p:sp>
      <p:sp>
        <p:nvSpPr>
          <p:cNvPr id="28" name="Text 26"/>
          <p:cNvSpPr/>
          <p:nvPr/>
        </p:nvSpPr>
        <p:spPr>
          <a:xfrm>
            <a:off x="502920" y="6144768"/>
            <a:ext cx="11155680" cy="274320"/>
          </a:xfrm>
          <a:prstGeom prst="rect">
            <a:avLst/>
          </a:prstGeom>
          <a:noFill/>
          <a:ln/>
        </p:spPr>
        <p:txBody>
          <a:bodyPr wrap="square" rtlCol="0" anchor="ctr"/>
          <a:lstStyle/>
          <a:p>
            <a:pPr marL="0" indent="0">
              <a:buNone/>
            </a:pPr>
            <a:r>
              <a:rPr lang="en-US" sz="1100" b="1" dirty="0">
                <a:solidFill>
                  <a:srgbClr val="0D9488"/>
                </a:solidFill>
              </a:rPr>
              <a:t>The question is not whether 3,300 bills can be processed faster. It is whether every one of them can be proven correct against its contract.</a:t>
            </a:r>
            <a:endParaRPr lang="en-US" sz="1100" dirty="0"/>
          </a:p>
        </p:txBody>
      </p:sp>
      <p:sp>
        <p:nvSpPr>
          <p:cNvPr id="29" name="Text 27"/>
          <p:cNvSpPr/>
          <p:nvPr/>
        </p:nvSpPr>
        <p:spPr>
          <a:xfrm>
            <a:off x="502920" y="6419088"/>
            <a:ext cx="11155680" cy="256032"/>
          </a:xfrm>
          <a:prstGeom prst="rect">
            <a:avLst/>
          </a:prstGeom>
          <a:noFill/>
          <a:ln/>
        </p:spPr>
        <p:txBody>
          <a:bodyPr wrap="square" rtlCol="0" anchor="ctr"/>
          <a:lstStyle/>
          <a:p>
            <a:pPr marL="0" indent="0">
              <a:buNone/>
            </a:pPr>
            <a:r>
              <a:rPr lang="en-US" sz="750" dirty="0">
                <a:solidFill>
                  <a:srgbClr val="64748B"/>
                </a:solidFill>
              </a:rPr>
              <a:t>BillionTech  ·  billiontech.ai  ·  Strictly Confidential  ·  Proposal for BigBasket  ·  July 2026</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B"/>
        </a:solidFill>
        <a:effectLst/>
      </p:bgPr>
    </p:bg>
    <p:spTree>
      <p:nvGrpSpPr>
        <p:cNvPr id="1" name=""/>
        <p:cNvGrpSpPr/>
        <p:nvPr/>
      </p:nvGrpSpPr>
      <p:grpSpPr>
        <a:xfrm>
          <a:off x="0" y="0"/>
          <a:ext cx="0" cy="0"/>
          <a:chOff x="0" y="0"/>
          <a:chExt cx="0" cy="0"/>
        </a:xfrm>
      </p:grpSpPr>
      <p:sp>
        <p:nvSpPr>
          <p:cNvPr id="2" name="Text 0"/>
          <p:cNvSpPr/>
          <p:nvPr/>
        </p:nvSpPr>
        <p:spPr>
          <a:xfrm>
            <a:off x="502920" y="347472"/>
            <a:ext cx="11155680" cy="411480"/>
          </a:xfrm>
          <a:prstGeom prst="rect">
            <a:avLst/>
          </a:prstGeom>
          <a:noFill/>
          <a:ln/>
        </p:spPr>
        <p:txBody>
          <a:bodyPr wrap="square" rtlCol="0" anchor="ctr"/>
          <a:lstStyle/>
          <a:p>
            <a:pPr marL="0" indent="0">
              <a:buNone/>
            </a:pPr>
            <a:r>
              <a:rPr lang="en-US" sz="2300" b="1" dirty="0">
                <a:solidFill>
                  <a:srgbClr val="0D1B2A"/>
                </a:solidFill>
              </a:rPr>
              <a:t>Our Numbers Speak For Us  |  ₹5,700 Cr+ Processed Across 7,00,000+ Invoices</a:t>
            </a:r>
            <a:endParaRPr lang="en-US" sz="2300" dirty="0"/>
          </a:p>
        </p:txBody>
      </p:sp>
      <p:sp>
        <p:nvSpPr>
          <p:cNvPr id="3" name="Text 1"/>
          <p:cNvSpPr/>
          <p:nvPr/>
        </p:nvSpPr>
        <p:spPr>
          <a:xfrm>
            <a:off x="502920" y="786384"/>
            <a:ext cx="11155680" cy="384048"/>
          </a:xfrm>
          <a:prstGeom prst="rect">
            <a:avLst/>
          </a:prstGeom>
          <a:noFill/>
          <a:ln/>
        </p:spPr>
        <p:txBody>
          <a:bodyPr wrap="square" rtlCol="0" anchor="ctr"/>
          <a:lstStyle/>
          <a:p>
            <a:pPr marL="0" indent="0">
              <a:buNone/>
            </a:pPr>
            <a:r>
              <a:rPr lang="en-US" sz="1150" dirty="0">
                <a:solidFill>
                  <a:srgbClr val="64748B"/>
                </a:solidFill>
              </a:rPr>
              <a:t>BillionTech is not a first deployment. The platform runs at enterprise scale today — currently processing over 47,000 invoices in a single month.</a:t>
            </a:r>
            <a:endParaRPr lang="en-US" sz="1150" dirty="0"/>
          </a:p>
        </p:txBody>
      </p:sp>
      <p:sp>
        <p:nvSpPr>
          <p:cNvPr id="4" name="Shape 2"/>
          <p:cNvSpPr/>
          <p:nvPr/>
        </p:nvSpPr>
        <p:spPr>
          <a:xfrm>
            <a:off x="502920" y="1463040"/>
            <a:ext cx="6766560" cy="4160520"/>
          </a:xfrm>
          <a:prstGeom prst="roundRect">
            <a:avLst>
              <a:gd name="adj" fmla="val 1319"/>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5" name="Text 3"/>
          <p:cNvSpPr/>
          <p:nvPr/>
        </p:nvSpPr>
        <p:spPr>
          <a:xfrm>
            <a:off x="777240" y="1627632"/>
            <a:ext cx="6217920" cy="256032"/>
          </a:xfrm>
          <a:prstGeom prst="rect">
            <a:avLst/>
          </a:prstGeom>
          <a:noFill/>
          <a:ln/>
        </p:spPr>
        <p:txBody>
          <a:bodyPr wrap="square" rtlCol="0" anchor="ctr"/>
          <a:lstStyle/>
          <a:p>
            <a:pPr marL="0" indent="0">
              <a:buNone/>
            </a:pPr>
            <a:r>
              <a:rPr lang="en-US" sz="950" b="1" kern="0" spc="100" dirty="0">
                <a:solidFill>
                  <a:srgbClr val="0D9488"/>
                </a:solidFill>
              </a:rPr>
              <a:t>CUMULATIVE VALUE PROCESSED  (₹ Cr)</a:t>
            </a:r>
            <a:endParaRPr lang="en-US" sz="950" dirty="0"/>
          </a:p>
        </p:txBody>
      </p:sp>
      <p:graphicFrame>
        <p:nvGraphicFramePr>
          <p:cNvPr id="6" name="Chart 0"/>
          <p:cNvGraphicFramePr/>
          <p:nvPr/>
        </p:nvGraphicFramePr>
        <p:xfrm>
          <a:off x="731520" y="1965960"/>
          <a:ext cx="630936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498080" y="1463040"/>
            <a:ext cx="4160520" cy="4160520"/>
          </a:xfrm>
          <a:prstGeom prst="roundRect">
            <a:avLst>
              <a:gd name="adj" fmla="val 1319"/>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8" name="Text 5"/>
          <p:cNvSpPr/>
          <p:nvPr/>
        </p:nvSpPr>
        <p:spPr>
          <a:xfrm>
            <a:off x="7772400" y="1627632"/>
            <a:ext cx="3657600" cy="256032"/>
          </a:xfrm>
          <a:prstGeom prst="rect">
            <a:avLst/>
          </a:prstGeom>
          <a:noFill/>
          <a:ln/>
        </p:spPr>
        <p:txBody>
          <a:bodyPr wrap="square" rtlCol="0" anchor="ctr"/>
          <a:lstStyle/>
          <a:p>
            <a:pPr marL="0" indent="0">
              <a:buNone/>
            </a:pPr>
            <a:r>
              <a:rPr lang="en-US" sz="950" b="1" kern="0" spc="100" dirty="0">
                <a:solidFill>
                  <a:srgbClr val="0D9488"/>
                </a:solidFill>
              </a:rPr>
              <a:t>KEY METRICS</a:t>
            </a:r>
            <a:endParaRPr lang="en-US" sz="950" dirty="0"/>
          </a:p>
        </p:txBody>
      </p:sp>
      <p:sp>
        <p:nvSpPr>
          <p:cNvPr id="9" name="Text 6"/>
          <p:cNvSpPr/>
          <p:nvPr/>
        </p:nvSpPr>
        <p:spPr>
          <a:xfrm>
            <a:off x="7772400" y="1993392"/>
            <a:ext cx="1783080" cy="347472"/>
          </a:xfrm>
          <a:prstGeom prst="rect">
            <a:avLst/>
          </a:prstGeom>
          <a:noFill/>
          <a:ln/>
        </p:spPr>
        <p:txBody>
          <a:bodyPr wrap="square" lIns="0" tIns="0" rIns="0" bIns="0" rtlCol="0" anchor="ctr"/>
          <a:lstStyle/>
          <a:p>
            <a:pPr marL="0" indent="0">
              <a:buNone/>
            </a:pPr>
            <a:r>
              <a:rPr lang="en-US" sz="1500" b="1" dirty="0">
                <a:solidFill>
                  <a:srgbClr val="0D1B2A"/>
                </a:solidFill>
              </a:rPr>
              <a:t>₹5,785 Cr</a:t>
            </a:r>
            <a:endParaRPr lang="en-US" sz="1500" dirty="0"/>
          </a:p>
        </p:txBody>
      </p:sp>
      <p:sp>
        <p:nvSpPr>
          <p:cNvPr id="10" name="Text 7"/>
          <p:cNvSpPr/>
          <p:nvPr/>
        </p:nvSpPr>
        <p:spPr>
          <a:xfrm>
            <a:off x="7772400" y="2340864"/>
            <a:ext cx="1783080" cy="420624"/>
          </a:xfrm>
          <a:prstGeom prst="rect">
            <a:avLst/>
          </a:prstGeom>
          <a:noFill/>
          <a:ln/>
        </p:spPr>
        <p:txBody>
          <a:bodyPr wrap="square" lIns="0" tIns="0" rIns="0" bIns="0" rtlCol="0" anchor="ctr"/>
          <a:lstStyle/>
          <a:p>
            <a:pPr marL="0" indent="0">
              <a:lnSpc>
                <a:spcPts val="1000"/>
              </a:lnSpc>
              <a:buNone/>
            </a:pPr>
            <a:r>
              <a:rPr lang="en-US" sz="800" dirty="0">
                <a:solidFill>
                  <a:srgbClr val="64748B"/>
                </a:solidFill>
              </a:rPr>
              <a:t>Total Value Processed</a:t>
            </a:r>
            <a:endParaRPr lang="en-US" sz="800" dirty="0"/>
          </a:p>
        </p:txBody>
      </p:sp>
      <p:sp>
        <p:nvSpPr>
          <p:cNvPr id="11" name="Text 8"/>
          <p:cNvSpPr/>
          <p:nvPr/>
        </p:nvSpPr>
        <p:spPr>
          <a:xfrm>
            <a:off x="9646920" y="1993392"/>
            <a:ext cx="1783080" cy="347472"/>
          </a:xfrm>
          <a:prstGeom prst="rect">
            <a:avLst/>
          </a:prstGeom>
          <a:noFill/>
          <a:ln/>
        </p:spPr>
        <p:txBody>
          <a:bodyPr wrap="square" lIns="0" tIns="0" rIns="0" bIns="0" rtlCol="0" anchor="ctr"/>
          <a:lstStyle/>
          <a:p>
            <a:pPr marL="0" indent="0">
              <a:buNone/>
            </a:pPr>
            <a:r>
              <a:rPr lang="en-US" sz="1500" b="1" dirty="0">
                <a:solidFill>
                  <a:srgbClr val="0D1B2A"/>
                </a:solidFill>
              </a:rPr>
              <a:t>7,01,000+</a:t>
            </a:r>
            <a:endParaRPr lang="en-US" sz="1500" dirty="0"/>
          </a:p>
        </p:txBody>
      </p:sp>
      <p:sp>
        <p:nvSpPr>
          <p:cNvPr id="12" name="Text 9"/>
          <p:cNvSpPr/>
          <p:nvPr/>
        </p:nvSpPr>
        <p:spPr>
          <a:xfrm>
            <a:off x="9646920" y="2340864"/>
            <a:ext cx="1783080" cy="420624"/>
          </a:xfrm>
          <a:prstGeom prst="rect">
            <a:avLst/>
          </a:prstGeom>
          <a:noFill/>
          <a:ln/>
        </p:spPr>
        <p:txBody>
          <a:bodyPr wrap="square" lIns="0" tIns="0" rIns="0" bIns="0" rtlCol="0" anchor="ctr"/>
          <a:lstStyle/>
          <a:p>
            <a:pPr marL="0" indent="0">
              <a:lnSpc>
                <a:spcPts val="1000"/>
              </a:lnSpc>
              <a:buNone/>
            </a:pPr>
            <a:r>
              <a:rPr lang="en-US" sz="800" dirty="0">
                <a:solidFill>
                  <a:srgbClr val="64748B"/>
                </a:solidFill>
              </a:rPr>
              <a:t>Invoices Processed</a:t>
            </a:r>
            <a:endParaRPr lang="en-US" sz="800" dirty="0"/>
          </a:p>
        </p:txBody>
      </p:sp>
      <p:sp>
        <p:nvSpPr>
          <p:cNvPr id="13" name="Text 10"/>
          <p:cNvSpPr/>
          <p:nvPr/>
        </p:nvSpPr>
        <p:spPr>
          <a:xfrm>
            <a:off x="7772400" y="3017520"/>
            <a:ext cx="1783080" cy="347472"/>
          </a:xfrm>
          <a:prstGeom prst="rect">
            <a:avLst/>
          </a:prstGeom>
          <a:noFill/>
          <a:ln/>
        </p:spPr>
        <p:txBody>
          <a:bodyPr wrap="square" lIns="0" tIns="0" rIns="0" bIns="0" rtlCol="0" anchor="ctr"/>
          <a:lstStyle/>
          <a:p>
            <a:pPr marL="0" indent="0">
              <a:buNone/>
            </a:pPr>
            <a:r>
              <a:rPr lang="en-US" sz="1500" b="1" dirty="0">
                <a:solidFill>
                  <a:srgbClr val="0D1B2A"/>
                </a:solidFill>
              </a:rPr>
              <a:t>47,000+</a:t>
            </a:r>
            <a:endParaRPr lang="en-US" sz="1500" dirty="0"/>
          </a:p>
        </p:txBody>
      </p:sp>
      <p:sp>
        <p:nvSpPr>
          <p:cNvPr id="14" name="Text 11"/>
          <p:cNvSpPr/>
          <p:nvPr/>
        </p:nvSpPr>
        <p:spPr>
          <a:xfrm>
            <a:off x="7772400" y="3364992"/>
            <a:ext cx="1783080" cy="420624"/>
          </a:xfrm>
          <a:prstGeom prst="rect">
            <a:avLst/>
          </a:prstGeom>
          <a:noFill/>
          <a:ln/>
        </p:spPr>
        <p:txBody>
          <a:bodyPr wrap="square" lIns="0" tIns="0" rIns="0" bIns="0" rtlCol="0" anchor="ctr"/>
          <a:lstStyle/>
          <a:p>
            <a:pPr marL="0" indent="0">
              <a:lnSpc>
                <a:spcPts val="1000"/>
              </a:lnSpc>
              <a:buNone/>
            </a:pPr>
            <a:r>
              <a:rPr lang="en-US" sz="800" dirty="0">
                <a:solidFill>
                  <a:srgbClr val="64748B"/>
                </a:solidFill>
              </a:rPr>
              <a:t>Invoices in a Single Month</a:t>
            </a:r>
            <a:endParaRPr lang="en-US" sz="800" dirty="0"/>
          </a:p>
        </p:txBody>
      </p:sp>
      <p:sp>
        <p:nvSpPr>
          <p:cNvPr id="15" name="Text 12"/>
          <p:cNvSpPr/>
          <p:nvPr/>
        </p:nvSpPr>
        <p:spPr>
          <a:xfrm>
            <a:off x="9646920" y="3017520"/>
            <a:ext cx="1783080" cy="347472"/>
          </a:xfrm>
          <a:prstGeom prst="rect">
            <a:avLst/>
          </a:prstGeom>
          <a:noFill/>
          <a:ln/>
        </p:spPr>
        <p:txBody>
          <a:bodyPr wrap="square" lIns="0" tIns="0" rIns="0" bIns="0" rtlCol="0" anchor="ctr"/>
          <a:lstStyle/>
          <a:p>
            <a:pPr marL="0" indent="0">
              <a:buNone/>
            </a:pPr>
            <a:r>
              <a:rPr lang="en-US" sz="1500" b="1" dirty="0">
                <a:solidFill>
                  <a:srgbClr val="0D1B2A"/>
                </a:solidFill>
              </a:rPr>
              <a:t>₹2,550 Cr</a:t>
            </a:r>
            <a:endParaRPr lang="en-US" sz="1500" dirty="0"/>
          </a:p>
        </p:txBody>
      </p:sp>
      <p:sp>
        <p:nvSpPr>
          <p:cNvPr id="16" name="Text 13"/>
          <p:cNvSpPr/>
          <p:nvPr/>
        </p:nvSpPr>
        <p:spPr>
          <a:xfrm>
            <a:off x="9646920" y="3364992"/>
            <a:ext cx="1783080" cy="420624"/>
          </a:xfrm>
          <a:prstGeom prst="rect">
            <a:avLst/>
          </a:prstGeom>
          <a:noFill/>
          <a:ln/>
        </p:spPr>
        <p:txBody>
          <a:bodyPr wrap="square" lIns="0" tIns="0" rIns="0" bIns="0" rtlCol="0" anchor="ctr"/>
          <a:lstStyle/>
          <a:p>
            <a:pPr marL="0" indent="0">
              <a:lnSpc>
                <a:spcPts val="1000"/>
              </a:lnSpc>
              <a:buNone/>
            </a:pPr>
            <a:r>
              <a:rPr lang="en-US" sz="800" dirty="0">
                <a:solidFill>
                  <a:srgbClr val="64748B"/>
                </a:solidFill>
              </a:rPr>
              <a:t>Trailing 12-Month Run Rate</a:t>
            </a:r>
            <a:endParaRPr lang="en-US" sz="800" dirty="0"/>
          </a:p>
        </p:txBody>
      </p:sp>
      <p:sp>
        <p:nvSpPr>
          <p:cNvPr id="17" name="Text 14"/>
          <p:cNvSpPr/>
          <p:nvPr/>
        </p:nvSpPr>
        <p:spPr>
          <a:xfrm>
            <a:off x="7772400" y="4041648"/>
            <a:ext cx="1783080" cy="347472"/>
          </a:xfrm>
          <a:prstGeom prst="rect">
            <a:avLst/>
          </a:prstGeom>
          <a:noFill/>
          <a:ln/>
        </p:spPr>
        <p:txBody>
          <a:bodyPr wrap="square" lIns="0" tIns="0" rIns="0" bIns="0" rtlCol="0" anchor="ctr"/>
          <a:lstStyle/>
          <a:p>
            <a:pPr marL="0" indent="0">
              <a:buNone/>
            </a:pPr>
            <a:r>
              <a:rPr lang="en-US" sz="1500" b="1" dirty="0">
                <a:solidFill>
                  <a:srgbClr val="0D1B2A"/>
                </a:solidFill>
              </a:rPr>
              <a:t>4,28,000+</a:t>
            </a:r>
            <a:endParaRPr lang="en-US" sz="1500" dirty="0"/>
          </a:p>
        </p:txBody>
      </p:sp>
      <p:sp>
        <p:nvSpPr>
          <p:cNvPr id="18" name="Text 15"/>
          <p:cNvSpPr/>
          <p:nvPr/>
        </p:nvSpPr>
        <p:spPr>
          <a:xfrm>
            <a:off x="7772400" y="4389120"/>
            <a:ext cx="1783080" cy="420624"/>
          </a:xfrm>
          <a:prstGeom prst="rect">
            <a:avLst/>
          </a:prstGeom>
          <a:noFill/>
          <a:ln/>
        </p:spPr>
        <p:txBody>
          <a:bodyPr wrap="square" lIns="0" tIns="0" rIns="0" bIns="0" rtlCol="0" anchor="ctr"/>
          <a:lstStyle/>
          <a:p>
            <a:pPr marL="0" indent="0">
              <a:lnSpc>
                <a:spcPts val="1000"/>
              </a:lnSpc>
              <a:buNone/>
            </a:pPr>
            <a:r>
              <a:rPr lang="en-US" sz="800" dirty="0">
                <a:solidFill>
                  <a:srgbClr val="64748B"/>
                </a:solidFill>
              </a:rPr>
              <a:t>Invoices in Last 12 Months</a:t>
            </a:r>
            <a:endParaRPr lang="en-US" sz="800" dirty="0"/>
          </a:p>
        </p:txBody>
      </p:sp>
      <p:sp>
        <p:nvSpPr>
          <p:cNvPr id="19" name="Text 16"/>
          <p:cNvSpPr/>
          <p:nvPr/>
        </p:nvSpPr>
        <p:spPr>
          <a:xfrm>
            <a:off x="9646920" y="4041648"/>
            <a:ext cx="1783080" cy="347472"/>
          </a:xfrm>
          <a:prstGeom prst="rect">
            <a:avLst/>
          </a:prstGeom>
          <a:noFill/>
          <a:ln/>
        </p:spPr>
        <p:txBody>
          <a:bodyPr wrap="square" lIns="0" tIns="0" rIns="0" bIns="0" rtlCol="0" anchor="ctr"/>
          <a:lstStyle/>
          <a:p>
            <a:pPr marL="0" indent="0">
              <a:buNone/>
            </a:pPr>
            <a:r>
              <a:rPr lang="en-US" sz="1500" b="1" dirty="0">
                <a:solidFill>
                  <a:srgbClr val="0D1B2A"/>
                </a:solidFill>
              </a:rPr>
              <a:t>5 Years</a:t>
            </a:r>
            <a:endParaRPr lang="en-US" sz="1500" dirty="0"/>
          </a:p>
        </p:txBody>
      </p:sp>
      <p:sp>
        <p:nvSpPr>
          <p:cNvPr id="20" name="Text 17"/>
          <p:cNvSpPr/>
          <p:nvPr/>
        </p:nvSpPr>
        <p:spPr>
          <a:xfrm>
            <a:off x="9646920" y="4389120"/>
            <a:ext cx="1783080" cy="420624"/>
          </a:xfrm>
          <a:prstGeom prst="rect">
            <a:avLst/>
          </a:prstGeom>
          <a:noFill/>
          <a:ln/>
        </p:spPr>
        <p:txBody>
          <a:bodyPr wrap="square" lIns="0" tIns="0" rIns="0" bIns="0" rtlCol="0" anchor="ctr"/>
          <a:lstStyle/>
          <a:p>
            <a:pPr marL="0" indent="0">
              <a:lnSpc>
                <a:spcPts val="1000"/>
              </a:lnSpc>
              <a:buNone/>
            </a:pPr>
            <a:r>
              <a:rPr lang="en-US" sz="800" dirty="0">
                <a:solidFill>
                  <a:srgbClr val="64748B"/>
                </a:solidFill>
              </a:rPr>
              <a:t>In Live Production</a:t>
            </a:r>
            <a:endParaRPr lang="en-US" sz="800" dirty="0"/>
          </a:p>
        </p:txBody>
      </p:sp>
      <p:sp>
        <p:nvSpPr>
          <p:cNvPr id="21" name="Shape 18"/>
          <p:cNvSpPr/>
          <p:nvPr/>
        </p:nvSpPr>
        <p:spPr>
          <a:xfrm>
            <a:off x="7772400" y="5120640"/>
            <a:ext cx="3657600" cy="384048"/>
          </a:xfrm>
          <a:prstGeom prst="roundRect">
            <a:avLst>
              <a:gd name="adj" fmla="val 9524"/>
            </a:avLst>
          </a:prstGeom>
          <a:solidFill>
            <a:srgbClr val="D1FAF6"/>
          </a:solidFill>
          <a:ln w="12700">
            <a:solidFill>
              <a:srgbClr val="D1FAF6"/>
            </a:solidFill>
            <a:prstDash val="solid"/>
          </a:ln>
        </p:spPr>
      </p:sp>
      <p:sp>
        <p:nvSpPr>
          <p:cNvPr id="22" name="Text 19"/>
          <p:cNvSpPr/>
          <p:nvPr/>
        </p:nvSpPr>
        <p:spPr>
          <a:xfrm>
            <a:off x="7863840" y="5120640"/>
            <a:ext cx="3474720" cy="384048"/>
          </a:xfrm>
          <a:prstGeom prst="rect">
            <a:avLst/>
          </a:prstGeom>
          <a:noFill/>
          <a:ln/>
        </p:spPr>
        <p:txBody>
          <a:bodyPr wrap="square" lIns="0" tIns="0" rIns="0" bIns="0" rtlCol="0" anchor="ctr"/>
          <a:lstStyle/>
          <a:p>
            <a:pPr marL="0" indent="0">
              <a:lnSpc>
                <a:spcPts val="1000"/>
              </a:lnSpc>
              <a:buNone/>
            </a:pPr>
            <a:r>
              <a:rPr lang="en-US" sz="800" dirty="0">
                <a:solidFill>
                  <a:srgbClr val="0D1B2A"/>
                </a:solidFill>
              </a:rPr>
              <a:t>Volume has grown ~9x in three years — the platform scales without adding headcount</a:t>
            </a:r>
            <a:endParaRPr lang="en-US" sz="800" dirty="0"/>
          </a:p>
        </p:txBody>
      </p:sp>
      <p:sp>
        <p:nvSpPr>
          <p:cNvPr id="23" name="Text 20"/>
          <p:cNvSpPr/>
          <p:nvPr/>
        </p:nvSpPr>
        <p:spPr>
          <a:xfrm>
            <a:off x="502920" y="5779008"/>
            <a:ext cx="11155680" cy="274320"/>
          </a:xfrm>
          <a:prstGeom prst="rect">
            <a:avLst/>
          </a:prstGeom>
          <a:noFill/>
          <a:ln/>
        </p:spPr>
        <p:txBody>
          <a:bodyPr wrap="square" rtlCol="0" anchor="ctr"/>
          <a:lstStyle/>
          <a:p>
            <a:pPr marL="0" indent="0">
              <a:buNone/>
            </a:pPr>
            <a:r>
              <a:rPr lang="en-US" sz="750" i="1" dirty="0">
                <a:solidFill>
                  <a:srgbClr val="64748B"/>
                </a:solidFill>
              </a:rPr>
              <a:t>Figures as at July 2026, based on live platform transaction records. Cumulative chart shown at quarter-ends.</a:t>
            </a:r>
            <a:endParaRPr lang="en-US" sz="750" dirty="0"/>
          </a:p>
        </p:txBody>
      </p:sp>
      <p:sp>
        <p:nvSpPr>
          <p:cNvPr id="24" name="Text 21"/>
          <p:cNvSpPr/>
          <p:nvPr/>
        </p:nvSpPr>
        <p:spPr>
          <a:xfrm>
            <a:off x="502920" y="6419088"/>
            <a:ext cx="11155680" cy="256032"/>
          </a:xfrm>
          <a:prstGeom prst="rect">
            <a:avLst/>
          </a:prstGeom>
          <a:noFill/>
          <a:ln/>
        </p:spPr>
        <p:txBody>
          <a:bodyPr wrap="square" rtlCol="0" anchor="ctr"/>
          <a:lstStyle/>
          <a:p>
            <a:pPr marL="0" indent="0">
              <a:buNone/>
            </a:pPr>
            <a:r>
              <a:rPr lang="en-US" sz="750" dirty="0">
                <a:solidFill>
                  <a:srgbClr val="64748B"/>
                </a:solidFill>
              </a:rPr>
              <a:t>BillionTech  ·  billiontech.ai  ·  Strictly Confidential  ·  Proposal for BigBasket  ·  July 2026</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B"/>
        </a:solidFill>
        <a:effectLst/>
      </p:bgPr>
    </p:bg>
    <p:spTree>
      <p:nvGrpSpPr>
        <p:cNvPr id="1" name=""/>
        <p:cNvGrpSpPr/>
        <p:nvPr/>
      </p:nvGrpSpPr>
      <p:grpSpPr>
        <a:xfrm>
          <a:off x="0" y="0"/>
          <a:ext cx="0" cy="0"/>
          <a:chOff x="0" y="0"/>
          <a:chExt cx="0" cy="0"/>
        </a:xfrm>
      </p:grpSpPr>
      <p:sp>
        <p:nvSpPr>
          <p:cNvPr id="2" name="Text 0"/>
          <p:cNvSpPr/>
          <p:nvPr/>
        </p:nvSpPr>
        <p:spPr>
          <a:xfrm>
            <a:off x="502920" y="347472"/>
            <a:ext cx="11155680" cy="411480"/>
          </a:xfrm>
          <a:prstGeom prst="rect">
            <a:avLst/>
          </a:prstGeom>
          <a:noFill/>
          <a:ln/>
        </p:spPr>
        <p:txBody>
          <a:bodyPr wrap="square" rtlCol="0" anchor="ctr"/>
          <a:lstStyle/>
          <a:p>
            <a:pPr marL="0" indent="0">
              <a:buNone/>
            </a:pPr>
            <a:r>
              <a:rPr lang="en-US" sz="2300" b="1" dirty="0">
                <a:solidFill>
                  <a:srgbClr val="0D1B2A"/>
                </a:solidFill>
              </a:rPr>
              <a:t>Leadership  |  A Passionate and Experienced Management Team</a:t>
            </a:r>
            <a:endParaRPr lang="en-US" sz="2300" dirty="0"/>
          </a:p>
        </p:txBody>
      </p:sp>
      <p:sp>
        <p:nvSpPr>
          <p:cNvPr id="3" name="Text 1"/>
          <p:cNvSpPr/>
          <p:nvPr/>
        </p:nvSpPr>
        <p:spPr>
          <a:xfrm>
            <a:off x="502920" y="786384"/>
            <a:ext cx="11155680" cy="384048"/>
          </a:xfrm>
          <a:prstGeom prst="rect">
            <a:avLst/>
          </a:prstGeom>
          <a:noFill/>
          <a:ln/>
        </p:spPr>
        <p:txBody>
          <a:bodyPr wrap="square" rtlCol="0" anchor="ctr"/>
          <a:lstStyle/>
          <a:p>
            <a:pPr marL="0" indent="0">
              <a:buNone/>
            </a:pPr>
            <a:r>
              <a:rPr lang="en-US" sz="1150" dirty="0">
                <a:solidFill>
                  <a:srgbClr val="64748B"/>
                </a:solidFill>
              </a:rPr>
              <a:t>Deep domain experience across financial services, technology, risk and enterprise transformation.</a:t>
            </a:r>
            <a:endParaRPr lang="en-US" sz="1150" dirty="0"/>
          </a:p>
        </p:txBody>
      </p:sp>
      <p:sp>
        <p:nvSpPr>
          <p:cNvPr id="4" name="Shape 2"/>
          <p:cNvSpPr/>
          <p:nvPr/>
        </p:nvSpPr>
        <p:spPr>
          <a:xfrm>
            <a:off x="502920" y="1481328"/>
            <a:ext cx="3566160" cy="2121408"/>
          </a:xfrm>
          <a:prstGeom prst="roundRect">
            <a:avLst>
              <a:gd name="adj" fmla="val 2586"/>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5" name="Shape 3"/>
          <p:cNvSpPr/>
          <p:nvPr/>
        </p:nvSpPr>
        <p:spPr>
          <a:xfrm>
            <a:off x="731520" y="1700784"/>
            <a:ext cx="91440" cy="566928"/>
          </a:xfrm>
          <a:prstGeom prst="roundRect">
            <a:avLst>
              <a:gd name="adj" fmla="val 30000"/>
            </a:avLst>
          </a:prstGeom>
          <a:solidFill>
            <a:srgbClr val="0D9488"/>
          </a:solidFill>
          <a:ln w="12700">
            <a:solidFill>
              <a:srgbClr val="0D9488"/>
            </a:solidFill>
            <a:prstDash val="solid"/>
          </a:ln>
        </p:spPr>
      </p:sp>
      <p:sp>
        <p:nvSpPr>
          <p:cNvPr id="6" name="Text 4"/>
          <p:cNvSpPr/>
          <p:nvPr/>
        </p:nvSpPr>
        <p:spPr>
          <a:xfrm>
            <a:off x="941832" y="1664208"/>
            <a:ext cx="2926080" cy="274320"/>
          </a:xfrm>
          <a:prstGeom prst="rect">
            <a:avLst/>
          </a:prstGeom>
          <a:noFill/>
          <a:ln/>
        </p:spPr>
        <p:txBody>
          <a:bodyPr wrap="square" lIns="0" tIns="0" rIns="0" bIns="0" rtlCol="0" anchor="ctr"/>
          <a:lstStyle/>
          <a:p>
            <a:pPr marL="0" indent="0">
              <a:buNone/>
            </a:pPr>
            <a:r>
              <a:rPr lang="en-US" sz="1200" b="1" dirty="0">
                <a:solidFill>
                  <a:srgbClr val="0D1B2A"/>
                </a:solidFill>
              </a:rPr>
              <a:t>Rangan V</a:t>
            </a:r>
            <a:endParaRPr lang="en-US" sz="1200" dirty="0"/>
          </a:p>
        </p:txBody>
      </p:sp>
      <p:sp>
        <p:nvSpPr>
          <p:cNvPr id="7" name="Text 5"/>
          <p:cNvSpPr/>
          <p:nvPr/>
        </p:nvSpPr>
        <p:spPr>
          <a:xfrm>
            <a:off x="941832" y="1938528"/>
            <a:ext cx="2926080" cy="256032"/>
          </a:xfrm>
          <a:prstGeom prst="rect">
            <a:avLst/>
          </a:prstGeom>
          <a:noFill/>
          <a:ln/>
        </p:spPr>
        <p:txBody>
          <a:bodyPr wrap="square" lIns="0" tIns="0" rIns="0" bIns="0" rtlCol="0" anchor="ctr"/>
          <a:lstStyle/>
          <a:p>
            <a:pPr marL="0" indent="0">
              <a:buNone/>
            </a:pPr>
            <a:r>
              <a:rPr lang="en-US" sz="900" b="1" dirty="0">
                <a:solidFill>
                  <a:srgbClr val="0D9488"/>
                </a:solidFill>
              </a:rPr>
              <a:t>Chief Executive Officer</a:t>
            </a:r>
            <a:endParaRPr lang="en-US" sz="900" dirty="0"/>
          </a:p>
        </p:txBody>
      </p:sp>
      <p:sp>
        <p:nvSpPr>
          <p:cNvPr id="8" name="Text 6"/>
          <p:cNvSpPr/>
          <p:nvPr/>
        </p:nvSpPr>
        <p:spPr>
          <a:xfrm>
            <a:off x="731520" y="2322576"/>
            <a:ext cx="3127248" cy="1170432"/>
          </a:xfrm>
          <a:prstGeom prst="rect">
            <a:avLst/>
          </a:prstGeom>
          <a:noFill/>
          <a:ln/>
        </p:spPr>
        <p:txBody>
          <a:bodyPr wrap="square" lIns="0" tIns="0" rIns="0" bIns="0" rtlCol="0" anchor="ctr"/>
          <a:lstStyle/>
          <a:p>
            <a:pPr marL="0" indent="0">
              <a:lnSpc>
                <a:spcPts val="1150"/>
              </a:lnSpc>
              <a:buNone/>
            </a:pPr>
            <a:r>
              <a:rPr lang="en-US" sz="900" dirty="0">
                <a:solidFill>
                  <a:srgbClr val="334155"/>
                </a:solidFill>
              </a:rPr>
              <a:t>Serial entrepreneur, 30+ years in consulting and financial services. Co-founder of MicroGram (NBFC-P2P lending) and Beyond Square. Former Head of Banking &amp; Capital Markets Domain, Infosys. PhD in Finance and Economics; Member of ICAI and ICWA.</a:t>
            </a:r>
            <a:endParaRPr lang="en-US" sz="900" dirty="0"/>
          </a:p>
        </p:txBody>
      </p:sp>
      <p:sp>
        <p:nvSpPr>
          <p:cNvPr id="9" name="Shape 7"/>
          <p:cNvSpPr/>
          <p:nvPr/>
        </p:nvSpPr>
        <p:spPr>
          <a:xfrm>
            <a:off x="4279392" y="1481328"/>
            <a:ext cx="3566160" cy="2121408"/>
          </a:xfrm>
          <a:prstGeom prst="roundRect">
            <a:avLst>
              <a:gd name="adj" fmla="val 2586"/>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10" name="Shape 8"/>
          <p:cNvSpPr/>
          <p:nvPr/>
        </p:nvSpPr>
        <p:spPr>
          <a:xfrm>
            <a:off x="4507992" y="1700784"/>
            <a:ext cx="91440" cy="566928"/>
          </a:xfrm>
          <a:prstGeom prst="roundRect">
            <a:avLst>
              <a:gd name="adj" fmla="val 30000"/>
            </a:avLst>
          </a:prstGeom>
          <a:solidFill>
            <a:srgbClr val="0D9488"/>
          </a:solidFill>
          <a:ln w="12700">
            <a:solidFill>
              <a:srgbClr val="0D9488"/>
            </a:solidFill>
            <a:prstDash val="solid"/>
          </a:ln>
        </p:spPr>
      </p:sp>
      <p:sp>
        <p:nvSpPr>
          <p:cNvPr id="11" name="Text 9"/>
          <p:cNvSpPr/>
          <p:nvPr/>
        </p:nvSpPr>
        <p:spPr>
          <a:xfrm>
            <a:off x="4718304" y="1664208"/>
            <a:ext cx="2926080" cy="274320"/>
          </a:xfrm>
          <a:prstGeom prst="rect">
            <a:avLst/>
          </a:prstGeom>
          <a:noFill/>
          <a:ln/>
        </p:spPr>
        <p:txBody>
          <a:bodyPr wrap="square" lIns="0" tIns="0" rIns="0" bIns="0" rtlCol="0" anchor="ctr"/>
          <a:lstStyle/>
          <a:p>
            <a:pPr marL="0" indent="0">
              <a:buNone/>
            </a:pPr>
            <a:r>
              <a:rPr lang="en-US" sz="1200" b="1" dirty="0">
                <a:solidFill>
                  <a:srgbClr val="0D1B2A"/>
                </a:solidFill>
              </a:rPr>
              <a:t>Bala KV</a:t>
            </a:r>
            <a:endParaRPr lang="en-US" sz="1200" dirty="0"/>
          </a:p>
        </p:txBody>
      </p:sp>
      <p:sp>
        <p:nvSpPr>
          <p:cNvPr id="12" name="Text 10"/>
          <p:cNvSpPr/>
          <p:nvPr/>
        </p:nvSpPr>
        <p:spPr>
          <a:xfrm>
            <a:off x="4718304" y="1938528"/>
            <a:ext cx="2926080" cy="256032"/>
          </a:xfrm>
          <a:prstGeom prst="rect">
            <a:avLst/>
          </a:prstGeom>
          <a:noFill/>
          <a:ln/>
        </p:spPr>
        <p:txBody>
          <a:bodyPr wrap="square" lIns="0" tIns="0" rIns="0" bIns="0" rtlCol="0" anchor="ctr"/>
          <a:lstStyle/>
          <a:p>
            <a:pPr marL="0" indent="0">
              <a:buNone/>
            </a:pPr>
            <a:r>
              <a:rPr lang="en-US" sz="900" b="1" dirty="0">
                <a:solidFill>
                  <a:srgbClr val="0D9488"/>
                </a:solidFill>
              </a:rPr>
              <a:t>Chairman (Non-Executive)</a:t>
            </a:r>
            <a:endParaRPr lang="en-US" sz="900" dirty="0"/>
          </a:p>
        </p:txBody>
      </p:sp>
      <p:sp>
        <p:nvSpPr>
          <p:cNvPr id="13" name="Text 11"/>
          <p:cNvSpPr/>
          <p:nvPr/>
        </p:nvSpPr>
        <p:spPr>
          <a:xfrm>
            <a:off x="4507992" y="2322576"/>
            <a:ext cx="3127248" cy="1170432"/>
          </a:xfrm>
          <a:prstGeom prst="rect">
            <a:avLst/>
          </a:prstGeom>
          <a:noFill/>
          <a:ln/>
        </p:spPr>
        <p:txBody>
          <a:bodyPr wrap="square" lIns="0" tIns="0" rIns="0" bIns="0" rtlCol="0" anchor="ctr"/>
          <a:lstStyle/>
          <a:p>
            <a:pPr marL="0" indent="0">
              <a:lnSpc>
                <a:spcPts val="1150"/>
              </a:lnSpc>
              <a:buNone/>
            </a:pPr>
            <a:r>
              <a:rPr lang="en-US" sz="900" dirty="0">
                <a:solidFill>
                  <a:srgbClr val="334155"/>
                </a:solidFill>
              </a:rPr>
              <a:t>30 years at Infosys, including CFO from 2006 to 2012. Significant experience in corporate finance, international taxation, risk management and mergers &amp; acquisitions. Member of ICAI, ICSI and ICWA.</a:t>
            </a:r>
            <a:endParaRPr lang="en-US" sz="900" dirty="0"/>
          </a:p>
        </p:txBody>
      </p:sp>
      <p:sp>
        <p:nvSpPr>
          <p:cNvPr id="14" name="Shape 12"/>
          <p:cNvSpPr/>
          <p:nvPr/>
        </p:nvSpPr>
        <p:spPr>
          <a:xfrm>
            <a:off x="493776" y="3800535"/>
            <a:ext cx="3566160" cy="2121408"/>
          </a:xfrm>
          <a:prstGeom prst="roundRect">
            <a:avLst>
              <a:gd name="adj" fmla="val 2586"/>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15" name="Shape 13"/>
          <p:cNvSpPr/>
          <p:nvPr/>
        </p:nvSpPr>
        <p:spPr>
          <a:xfrm>
            <a:off x="722376" y="4019991"/>
            <a:ext cx="91440" cy="566928"/>
          </a:xfrm>
          <a:prstGeom prst="roundRect">
            <a:avLst>
              <a:gd name="adj" fmla="val 30000"/>
            </a:avLst>
          </a:prstGeom>
          <a:solidFill>
            <a:srgbClr val="0D9488"/>
          </a:solidFill>
          <a:ln w="12700">
            <a:solidFill>
              <a:srgbClr val="0D9488"/>
            </a:solidFill>
            <a:prstDash val="solid"/>
          </a:ln>
        </p:spPr>
      </p:sp>
      <p:sp>
        <p:nvSpPr>
          <p:cNvPr id="16" name="Text 14"/>
          <p:cNvSpPr/>
          <p:nvPr/>
        </p:nvSpPr>
        <p:spPr>
          <a:xfrm>
            <a:off x="932688" y="3983415"/>
            <a:ext cx="2926080" cy="274320"/>
          </a:xfrm>
          <a:prstGeom prst="rect">
            <a:avLst/>
          </a:prstGeom>
          <a:noFill/>
          <a:ln/>
        </p:spPr>
        <p:txBody>
          <a:bodyPr wrap="square" lIns="0" tIns="0" rIns="0" bIns="0" rtlCol="0" anchor="ctr"/>
          <a:lstStyle/>
          <a:p>
            <a:pPr marL="0" indent="0">
              <a:buNone/>
            </a:pPr>
            <a:r>
              <a:rPr lang="en-US" sz="1200" b="1" dirty="0">
                <a:solidFill>
                  <a:srgbClr val="0D1B2A"/>
                </a:solidFill>
              </a:rPr>
              <a:t>Alwyn Vaz</a:t>
            </a:r>
            <a:endParaRPr lang="en-US" sz="1200" dirty="0"/>
          </a:p>
        </p:txBody>
      </p:sp>
      <p:sp>
        <p:nvSpPr>
          <p:cNvPr id="17" name="Text 15"/>
          <p:cNvSpPr/>
          <p:nvPr/>
        </p:nvSpPr>
        <p:spPr>
          <a:xfrm>
            <a:off x="932688" y="4257735"/>
            <a:ext cx="2926080" cy="256032"/>
          </a:xfrm>
          <a:prstGeom prst="rect">
            <a:avLst/>
          </a:prstGeom>
          <a:noFill/>
          <a:ln/>
        </p:spPr>
        <p:txBody>
          <a:bodyPr wrap="square" lIns="0" tIns="0" rIns="0" bIns="0" rtlCol="0" anchor="ctr"/>
          <a:lstStyle/>
          <a:p>
            <a:pPr marL="0" indent="0">
              <a:buNone/>
            </a:pPr>
            <a:r>
              <a:rPr lang="en-US" sz="900" b="1" dirty="0">
                <a:solidFill>
                  <a:srgbClr val="0D9488"/>
                </a:solidFill>
              </a:rPr>
              <a:t>Senior Business Analyst</a:t>
            </a:r>
            <a:endParaRPr lang="en-US" sz="900" dirty="0"/>
          </a:p>
        </p:txBody>
      </p:sp>
      <p:sp>
        <p:nvSpPr>
          <p:cNvPr id="18" name="Text 16"/>
          <p:cNvSpPr/>
          <p:nvPr/>
        </p:nvSpPr>
        <p:spPr>
          <a:xfrm>
            <a:off x="722376" y="4641783"/>
            <a:ext cx="3127248" cy="1170432"/>
          </a:xfrm>
          <a:prstGeom prst="rect">
            <a:avLst/>
          </a:prstGeom>
          <a:noFill/>
          <a:ln/>
        </p:spPr>
        <p:txBody>
          <a:bodyPr wrap="square" lIns="0" tIns="0" rIns="0" bIns="0" rtlCol="0" anchor="ctr"/>
          <a:lstStyle/>
          <a:p>
            <a:pPr marL="0" indent="0">
              <a:lnSpc>
                <a:spcPts val="1150"/>
              </a:lnSpc>
              <a:buNone/>
            </a:pPr>
            <a:r>
              <a:rPr lang="en-US" sz="900" dirty="0">
                <a:solidFill>
                  <a:srgbClr val="334155"/>
                </a:solidFill>
              </a:rPr>
              <a:t>20+ years' experience in bridging business needs and technology solutions. Skilled in requirements gathering, stakeholder management and process optimization that improve operational efficiency and business outcomes.</a:t>
            </a:r>
            <a:endParaRPr lang="en-US" sz="900" dirty="0"/>
          </a:p>
        </p:txBody>
      </p:sp>
      <p:sp>
        <p:nvSpPr>
          <p:cNvPr id="19" name="Shape 17"/>
          <p:cNvSpPr/>
          <p:nvPr/>
        </p:nvSpPr>
        <p:spPr>
          <a:xfrm>
            <a:off x="8055864" y="1481328"/>
            <a:ext cx="3566160" cy="2121408"/>
          </a:xfrm>
          <a:prstGeom prst="roundRect">
            <a:avLst>
              <a:gd name="adj" fmla="val 2586"/>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20" name="Shape 18"/>
          <p:cNvSpPr/>
          <p:nvPr/>
        </p:nvSpPr>
        <p:spPr>
          <a:xfrm>
            <a:off x="8284464" y="1700784"/>
            <a:ext cx="91440" cy="566928"/>
          </a:xfrm>
          <a:prstGeom prst="roundRect">
            <a:avLst>
              <a:gd name="adj" fmla="val 30000"/>
            </a:avLst>
          </a:prstGeom>
          <a:solidFill>
            <a:srgbClr val="0D9488"/>
          </a:solidFill>
          <a:ln w="12700">
            <a:solidFill>
              <a:srgbClr val="0D9488"/>
            </a:solidFill>
            <a:prstDash val="solid"/>
          </a:ln>
        </p:spPr>
      </p:sp>
      <p:sp>
        <p:nvSpPr>
          <p:cNvPr id="21" name="Text 19"/>
          <p:cNvSpPr/>
          <p:nvPr/>
        </p:nvSpPr>
        <p:spPr>
          <a:xfrm>
            <a:off x="8494776" y="1664208"/>
            <a:ext cx="2926080" cy="274320"/>
          </a:xfrm>
          <a:prstGeom prst="rect">
            <a:avLst/>
          </a:prstGeom>
          <a:noFill/>
          <a:ln/>
        </p:spPr>
        <p:txBody>
          <a:bodyPr wrap="square" lIns="0" tIns="0" rIns="0" bIns="0" rtlCol="0" anchor="ctr"/>
          <a:lstStyle/>
          <a:p>
            <a:pPr marL="0" indent="0">
              <a:buNone/>
            </a:pPr>
            <a:r>
              <a:rPr lang="en-US" sz="1200" b="1" dirty="0">
                <a:solidFill>
                  <a:srgbClr val="0D1B2A"/>
                </a:solidFill>
              </a:rPr>
              <a:t>Mohit C</a:t>
            </a:r>
            <a:endParaRPr lang="en-US" sz="1200" dirty="0"/>
          </a:p>
        </p:txBody>
      </p:sp>
      <p:sp>
        <p:nvSpPr>
          <p:cNvPr id="22" name="Text 20"/>
          <p:cNvSpPr/>
          <p:nvPr/>
        </p:nvSpPr>
        <p:spPr>
          <a:xfrm>
            <a:off x="8494776" y="1938528"/>
            <a:ext cx="2926080" cy="256032"/>
          </a:xfrm>
          <a:prstGeom prst="rect">
            <a:avLst/>
          </a:prstGeom>
          <a:noFill/>
          <a:ln/>
        </p:spPr>
        <p:txBody>
          <a:bodyPr wrap="square" lIns="0" tIns="0" rIns="0" bIns="0" rtlCol="0" anchor="ctr"/>
          <a:lstStyle/>
          <a:p>
            <a:pPr marL="0" indent="0">
              <a:buNone/>
            </a:pPr>
            <a:r>
              <a:rPr lang="en-US" sz="900" b="1" dirty="0">
                <a:solidFill>
                  <a:srgbClr val="0D9488"/>
                </a:solidFill>
              </a:rPr>
              <a:t>Chief Risk Officer</a:t>
            </a:r>
            <a:endParaRPr lang="en-US" sz="900" dirty="0"/>
          </a:p>
        </p:txBody>
      </p:sp>
      <p:sp>
        <p:nvSpPr>
          <p:cNvPr id="23" name="Text 21"/>
          <p:cNvSpPr/>
          <p:nvPr/>
        </p:nvSpPr>
        <p:spPr>
          <a:xfrm>
            <a:off x="8284464" y="2322576"/>
            <a:ext cx="3127248" cy="1170432"/>
          </a:xfrm>
          <a:prstGeom prst="rect">
            <a:avLst/>
          </a:prstGeom>
          <a:noFill/>
          <a:ln/>
        </p:spPr>
        <p:txBody>
          <a:bodyPr wrap="square" lIns="0" tIns="0" rIns="0" bIns="0" rtlCol="0" anchor="ctr"/>
          <a:lstStyle/>
          <a:p>
            <a:pPr marL="0" indent="0">
              <a:lnSpc>
                <a:spcPts val="1150"/>
              </a:lnSpc>
              <a:buNone/>
            </a:pPr>
            <a:r>
              <a:rPr lang="en-US" sz="900" dirty="0">
                <a:solidFill>
                  <a:srgbClr val="334155"/>
                </a:solidFill>
              </a:rPr>
              <a:t>25+ years in risk management, banking and consulting. Responsible for controls framework, compliance and governance across all platform deployments.</a:t>
            </a:r>
            <a:endParaRPr lang="en-US" sz="900" dirty="0"/>
          </a:p>
        </p:txBody>
      </p:sp>
      <p:sp>
        <p:nvSpPr>
          <p:cNvPr id="24" name="Shape 22"/>
          <p:cNvSpPr/>
          <p:nvPr/>
        </p:nvSpPr>
        <p:spPr>
          <a:xfrm>
            <a:off x="4279392" y="3813048"/>
            <a:ext cx="3566160" cy="2121408"/>
          </a:xfrm>
          <a:prstGeom prst="roundRect">
            <a:avLst>
              <a:gd name="adj" fmla="val 2586"/>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25" name="Shape 23"/>
          <p:cNvSpPr/>
          <p:nvPr/>
        </p:nvSpPr>
        <p:spPr>
          <a:xfrm>
            <a:off x="4507992" y="4032504"/>
            <a:ext cx="91440" cy="566928"/>
          </a:xfrm>
          <a:prstGeom prst="roundRect">
            <a:avLst>
              <a:gd name="adj" fmla="val 30000"/>
            </a:avLst>
          </a:prstGeom>
          <a:solidFill>
            <a:srgbClr val="0D9488"/>
          </a:solidFill>
          <a:ln w="12700">
            <a:solidFill>
              <a:srgbClr val="0D9488"/>
            </a:solidFill>
            <a:prstDash val="solid"/>
          </a:ln>
        </p:spPr>
      </p:sp>
      <p:sp>
        <p:nvSpPr>
          <p:cNvPr id="26" name="Text 24"/>
          <p:cNvSpPr/>
          <p:nvPr/>
        </p:nvSpPr>
        <p:spPr>
          <a:xfrm>
            <a:off x="4718304" y="3995928"/>
            <a:ext cx="2926080" cy="274320"/>
          </a:xfrm>
          <a:prstGeom prst="rect">
            <a:avLst/>
          </a:prstGeom>
          <a:noFill/>
          <a:ln/>
        </p:spPr>
        <p:txBody>
          <a:bodyPr wrap="square" lIns="0" tIns="0" rIns="0" bIns="0" rtlCol="0" anchor="ctr"/>
          <a:lstStyle/>
          <a:p>
            <a:pPr marL="0" indent="0">
              <a:buNone/>
            </a:pPr>
            <a:r>
              <a:rPr lang="en-US" sz="1200" b="1" dirty="0">
                <a:solidFill>
                  <a:srgbClr val="0D1B2A"/>
                </a:solidFill>
              </a:rPr>
              <a:t>Ramakrishnan V</a:t>
            </a:r>
            <a:endParaRPr lang="en-US" sz="1200" dirty="0"/>
          </a:p>
        </p:txBody>
      </p:sp>
      <p:sp>
        <p:nvSpPr>
          <p:cNvPr id="27" name="Text 25"/>
          <p:cNvSpPr/>
          <p:nvPr/>
        </p:nvSpPr>
        <p:spPr>
          <a:xfrm>
            <a:off x="4718304" y="4270248"/>
            <a:ext cx="2926080" cy="256032"/>
          </a:xfrm>
          <a:prstGeom prst="rect">
            <a:avLst/>
          </a:prstGeom>
          <a:noFill/>
          <a:ln/>
        </p:spPr>
        <p:txBody>
          <a:bodyPr wrap="square" lIns="0" tIns="0" rIns="0" bIns="0" rtlCol="0" anchor="ctr"/>
          <a:lstStyle/>
          <a:p>
            <a:pPr marL="0" indent="0">
              <a:buNone/>
            </a:pPr>
            <a:r>
              <a:rPr lang="en-US" sz="900" b="1" dirty="0">
                <a:solidFill>
                  <a:srgbClr val="0D9488"/>
                </a:solidFill>
              </a:rPr>
              <a:t>Advisor</a:t>
            </a:r>
            <a:endParaRPr lang="en-US" sz="900" dirty="0"/>
          </a:p>
        </p:txBody>
      </p:sp>
      <p:sp>
        <p:nvSpPr>
          <p:cNvPr id="28" name="Text 26"/>
          <p:cNvSpPr/>
          <p:nvPr/>
        </p:nvSpPr>
        <p:spPr>
          <a:xfrm>
            <a:off x="4507992" y="4654296"/>
            <a:ext cx="3127248" cy="1170432"/>
          </a:xfrm>
          <a:prstGeom prst="rect">
            <a:avLst/>
          </a:prstGeom>
          <a:noFill/>
          <a:ln/>
        </p:spPr>
        <p:txBody>
          <a:bodyPr wrap="square" lIns="0" tIns="0" rIns="0" bIns="0" rtlCol="0" anchor="ctr"/>
          <a:lstStyle/>
          <a:p>
            <a:pPr marL="0" indent="0">
              <a:lnSpc>
                <a:spcPts val="1150"/>
              </a:lnSpc>
              <a:buNone/>
            </a:pPr>
            <a:r>
              <a:rPr lang="en-US" sz="900" dirty="0">
                <a:solidFill>
                  <a:srgbClr val="334155"/>
                </a:solidFill>
              </a:rPr>
              <a:t>25+ years in BFSI, principally in lending across products and customer segments. Leads enterprise engagement and commercial strategy.</a:t>
            </a:r>
            <a:endParaRPr lang="en-US" sz="900" dirty="0"/>
          </a:p>
        </p:txBody>
      </p:sp>
      <p:sp>
        <p:nvSpPr>
          <p:cNvPr id="29" name="Shape 27"/>
          <p:cNvSpPr/>
          <p:nvPr/>
        </p:nvSpPr>
        <p:spPr>
          <a:xfrm>
            <a:off x="8055864" y="3813048"/>
            <a:ext cx="3566160" cy="2121408"/>
          </a:xfrm>
          <a:prstGeom prst="roundRect">
            <a:avLst>
              <a:gd name="adj" fmla="val 2586"/>
            </a:avLst>
          </a:prstGeom>
          <a:solidFill>
            <a:srgbClr val="FFFFFF"/>
          </a:solidFill>
          <a:ln w="12700">
            <a:solidFill>
              <a:srgbClr val="E5EAF0"/>
            </a:solidFill>
            <a:prstDash val="solid"/>
          </a:ln>
          <a:effectLst>
            <a:outerShdw blurRad="76200" dist="12700" dir="5400000" algn="bl" rotWithShape="0">
              <a:srgbClr val="A8C5DA">
                <a:alpha val="18000"/>
              </a:srgbClr>
            </a:outerShdw>
          </a:effectLst>
        </p:spPr>
      </p:sp>
      <p:sp>
        <p:nvSpPr>
          <p:cNvPr id="30" name="Shape 28"/>
          <p:cNvSpPr/>
          <p:nvPr/>
        </p:nvSpPr>
        <p:spPr>
          <a:xfrm>
            <a:off x="8284464" y="4032504"/>
            <a:ext cx="91440" cy="566928"/>
          </a:xfrm>
          <a:prstGeom prst="roundRect">
            <a:avLst>
              <a:gd name="adj" fmla="val 30000"/>
            </a:avLst>
          </a:prstGeom>
          <a:solidFill>
            <a:srgbClr val="0D9488"/>
          </a:solidFill>
          <a:ln w="12700">
            <a:solidFill>
              <a:srgbClr val="0D9488"/>
            </a:solidFill>
            <a:prstDash val="solid"/>
          </a:ln>
        </p:spPr>
      </p:sp>
      <p:sp>
        <p:nvSpPr>
          <p:cNvPr id="31" name="Text 29"/>
          <p:cNvSpPr/>
          <p:nvPr/>
        </p:nvSpPr>
        <p:spPr>
          <a:xfrm>
            <a:off x="8494776" y="3995928"/>
            <a:ext cx="2926080" cy="274320"/>
          </a:xfrm>
          <a:prstGeom prst="rect">
            <a:avLst/>
          </a:prstGeom>
          <a:noFill/>
          <a:ln/>
        </p:spPr>
        <p:txBody>
          <a:bodyPr wrap="square" lIns="0" tIns="0" rIns="0" bIns="0" rtlCol="0" anchor="ctr"/>
          <a:lstStyle/>
          <a:p>
            <a:pPr marL="0" indent="0">
              <a:buNone/>
            </a:pPr>
            <a:r>
              <a:rPr lang="en-US" sz="1200" b="1" dirty="0">
                <a:solidFill>
                  <a:srgbClr val="0D1B2A"/>
                </a:solidFill>
              </a:rPr>
              <a:t>Saseendran K</a:t>
            </a:r>
            <a:endParaRPr lang="en-US" sz="1200" dirty="0"/>
          </a:p>
        </p:txBody>
      </p:sp>
      <p:sp>
        <p:nvSpPr>
          <p:cNvPr id="32" name="Text 30"/>
          <p:cNvSpPr/>
          <p:nvPr/>
        </p:nvSpPr>
        <p:spPr>
          <a:xfrm>
            <a:off x="8494776" y="4270248"/>
            <a:ext cx="2926080" cy="256032"/>
          </a:xfrm>
          <a:prstGeom prst="rect">
            <a:avLst/>
          </a:prstGeom>
          <a:noFill/>
          <a:ln/>
        </p:spPr>
        <p:txBody>
          <a:bodyPr wrap="square" lIns="0" tIns="0" rIns="0" bIns="0" rtlCol="0" anchor="ctr"/>
          <a:lstStyle/>
          <a:p>
            <a:pPr marL="0" indent="0">
              <a:buNone/>
            </a:pPr>
            <a:r>
              <a:rPr lang="en-US" sz="900" b="1" dirty="0">
                <a:solidFill>
                  <a:srgbClr val="0D9488"/>
                </a:solidFill>
              </a:rPr>
              <a:t>Head — Partnerships</a:t>
            </a:r>
            <a:endParaRPr lang="en-US" sz="900" dirty="0"/>
          </a:p>
        </p:txBody>
      </p:sp>
      <p:sp>
        <p:nvSpPr>
          <p:cNvPr id="33" name="Text 31"/>
          <p:cNvSpPr/>
          <p:nvPr/>
        </p:nvSpPr>
        <p:spPr>
          <a:xfrm>
            <a:off x="8284464" y="4654296"/>
            <a:ext cx="3127248" cy="1170432"/>
          </a:xfrm>
          <a:prstGeom prst="rect">
            <a:avLst/>
          </a:prstGeom>
          <a:noFill/>
          <a:ln/>
        </p:spPr>
        <p:txBody>
          <a:bodyPr wrap="square" lIns="0" tIns="0" rIns="0" bIns="0" rtlCol="0" anchor="ctr"/>
          <a:lstStyle/>
          <a:p>
            <a:pPr marL="0" indent="0">
              <a:lnSpc>
                <a:spcPts val="1150"/>
              </a:lnSpc>
              <a:buNone/>
            </a:pPr>
            <a:r>
              <a:rPr lang="en-US" sz="900" dirty="0">
                <a:solidFill>
                  <a:srgbClr val="334155"/>
                </a:solidFill>
              </a:rPr>
              <a:t>20+ years of techno-functional experience in banking and financial services. Leads ecosystem partnerships and integration alliances.</a:t>
            </a:r>
            <a:endParaRPr lang="en-US" sz="900" dirty="0"/>
          </a:p>
        </p:txBody>
      </p:sp>
      <p:sp>
        <p:nvSpPr>
          <p:cNvPr id="34" name="Text 32"/>
          <p:cNvSpPr/>
          <p:nvPr/>
        </p:nvSpPr>
        <p:spPr>
          <a:xfrm>
            <a:off x="502920" y="6144768"/>
            <a:ext cx="11155680" cy="274320"/>
          </a:xfrm>
          <a:prstGeom prst="rect">
            <a:avLst/>
          </a:prstGeom>
          <a:noFill/>
          <a:ln/>
        </p:spPr>
        <p:txBody>
          <a:bodyPr wrap="square" rtlCol="0" anchor="ctr"/>
          <a:lstStyle/>
          <a:p>
            <a:pPr marL="0" indent="0">
              <a:buNone/>
            </a:pPr>
            <a:r>
              <a:rPr lang="en-US" sz="1100" b="1" dirty="0">
                <a:solidFill>
                  <a:srgbClr val="0D9488"/>
                </a:solidFill>
              </a:rPr>
              <a:t>The same team that built and scaled a ₹5,700 Cr+ transaction platform will deliver this engagement.</a:t>
            </a:r>
            <a:endParaRPr lang="en-US" sz="1100" dirty="0"/>
          </a:p>
        </p:txBody>
      </p:sp>
      <p:sp>
        <p:nvSpPr>
          <p:cNvPr id="35" name="Text 33"/>
          <p:cNvSpPr/>
          <p:nvPr/>
        </p:nvSpPr>
        <p:spPr>
          <a:xfrm>
            <a:off x="502920" y="6419088"/>
            <a:ext cx="11155680" cy="256032"/>
          </a:xfrm>
          <a:prstGeom prst="rect">
            <a:avLst/>
          </a:prstGeom>
          <a:noFill/>
          <a:ln/>
        </p:spPr>
        <p:txBody>
          <a:bodyPr wrap="square" rtlCol="0" anchor="ctr"/>
          <a:lstStyle/>
          <a:p>
            <a:pPr marL="0" indent="0">
              <a:buNone/>
            </a:pPr>
            <a:r>
              <a:rPr lang="en-US" sz="750" dirty="0">
                <a:solidFill>
                  <a:srgbClr val="64748B"/>
                </a:solidFill>
              </a:rPr>
              <a:t>BillionTech  ·  billiontech.ai  ·  Strictly Confidential  ·  Proposal for BigBasket  ·  July 2026</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685800" y="1005840"/>
            <a:ext cx="5852160" cy="1828800"/>
          </a:xfrm>
          <a:prstGeom prst="rect">
            <a:avLst/>
          </a:prstGeom>
          <a:noFill/>
          <a:ln/>
        </p:spPr>
        <p:txBody>
          <a:bodyPr wrap="square" rtlCol="0" anchor="ctr"/>
          <a:lstStyle/>
          <a:p>
            <a:pPr marL="0" indent="0">
              <a:lnSpc>
                <a:spcPts val="4000"/>
              </a:lnSpc>
              <a:buNone/>
            </a:pPr>
            <a:r>
              <a:rPr lang="en-US" sz="2900" b="1" dirty="0">
                <a:solidFill>
                  <a:srgbClr val="FFFFFF"/>
                </a:solidFill>
              </a:rPr>
              <a:t>Agreement-governed.</a:t>
            </a:r>
            <a:endParaRPr lang="en-US" sz="2900" dirty="0"/>
          </a:p>
          <a:p>
            <a:pPr marL="0" indent="0">
              <a:lnSpc>
                <a:spcPts val="4000"/>
              </a:lnSpc>
              <a:buNone/>
            </a:pPr>
            <a:r>
              <a:rPr lang="en-US" sz="2900" b="1" dirty="0">
                <a:solidFill>
                  <a:srgbClr val="FFFFFF"/>
                </a:solidFill>
              </a:rPr>
              <a:t>Maker-checker controlled.</a:t>
            </a:r>
            <a:endParaRPr lang="en-US" sz="2900" dirty="0"/>
          </a:p>
          <a:p>
            <a:pPr marL="0" indent="0">
              <a:lnSpc>
                <a:spcPts val="4000"/>
              </a:lnSpc>
              <a:buNone/>
            </a:pPr>
            <a:r>
              <a:rPr lang="en-US" sz="2900" b="1" dirty="0">
                <a:solidFill>
                  <a:srgbClr val="FFFFFF"/>
                </a:solidFill>
              </a:rPr>
              <a:t>ERP-ready.</a:t>
            </a:r>
            <a:endParaRPr lang="en-US" sz="2900" dirty="0"/>
          </a:p>
        </p:txBody>
      </p:sp>
      <p:sp>
        <p:nvSpPr>
          <p:cNvPr id="3" name="Text 1"/>
          <p:cNvSpPr/>
          <p:nvPr/>
        </p:nvSpPr>
        <p:spPr>
          <a:xfrm>
            <a:off x="685800" y="3063240"/>
            <a:ext cx="5486400" cy="1188720"/>
          </a:xfrm>
          <a:prstGeom prst="rect">
            <a:avLst/>
          </a:prstGeom>
          <a:noFill/>
          <a:ln/>
        </p:spPr>
        <p:txBody>
          <a:bodyPr wrap="square" rtlCol="0" anchor="ctr"/>
          <a:lstStyle/>
          <a:p>
            <a:pPr marL="0" indent="0">
              <a:lnSpc>
                <a:spcPts val="1800"/>
              </a:lnSpc>
              <a:buNone/>
            </a:pPr>
            <a:r>
              <a:rPr lang="en-US" sz="1400" dirty="0">
                <a:solidFill>
                  <a:srgbClr val="A8C5DA"/>
                </a:solidFill>
              </a:rPr>
              <a:t>BillionTech Flow turns 3,300 monthly bills from a verification burden into a controlled, auditable, contract-enforced process — without touching your ERP or asking 3,000 suppliers to change how they work.</a:t>
            </a:r>
            <a:endParaRPr lang="en-US" sz="1400" dirty="0"/>
          </a:p>
        </p:txBody>
      </p:sp>
      <p:sp>
        <p:nvSpPr>
          <p:cNvPr id="4" name="Text 2"/>
          <p:cNvSpPr/>
          <p:nvPr/>
        </p:nvSpPr>
        <p:spPr>
          <a:xfrm>
            <a:off x="6766560" y="1051560"/>
            <a:ext cx="4846320" cy="274320"/>
          </a:xfrm>
          <a:prstGeom prst="rect">
            <a:avLst/>
          </a:prstGeom>
          <a:noFill/>
          <a:ln/>
        </p:spPr>
        <p:txBody>
          <a:bodyPr wrap="square" rtlCol="0" anchor="ctr"/>
          <a:lstStyle/>
          <a:p>
            <a:pPr marL="0" indent="0">
              <a:buNone/>
            </a:pPr>
            <a:r>
              <a:rPr lang="en-US" sz="1100" b="1" kern="0" spc="200" dirty="0">
                <a:solidFill>
                  <a:srgbClr val="0D9488"/>
                </a:solidFill>
              </a:rPr>
              <a:t>WHAT WE PROPOSE NEXT</a:t>
            </a:r>
            <a:endParaRPr lang="en-US" sz="1100" dirty="0"/>
          </a:p>
        </p:txBody>
      </p:sp>
      <p:sp>
        <p:nvSpPr>
          <p:cNvPr id="5" name="Shape 3"/>
          <p:cNvSpPr/>
          <p:nvPr/>
        </p:nvSpPr>
        <p:spPr>
          <a:xfrm>
            <a:off x="6766560" y="1481328"/>
            <a:ext cx="384048" cy="384048"/>
          </a:xfrm>
          <a:prstGeom prst="roundRect">
            <a:avLst>
              <a:gd name="adj" fmla="val 50000"/>
            </a:avLst>
          </a:prstGeom>
          <a:solidFill>
            <a:srgbClr val="0D9488"/>
          </a:solidFill>
          <a:ln w="12700">
            <a:solidFill>
              <a:srgbClr val="0D9488"/>
            </a:solidFill>
            <a:prstDash val="solid"/>
          </a:ln>
        </p:spPr>
      </p:sp>
      <p:sp>
        <p:nvSpPr>
          <p:cNvPr id="6" name="Text 4"/>
          <p:cNvSpPr/>
          <p:nvPr/>
        </p:nvSpPr>
        <p:spPr>
          <a:xfrm>
            <a:off x="6766560" y="1499616"/>
            <a:ext cx="384048" cy="347472"/>
          </a:xfrm>
          <a:prstGeom prst="rect">
            <a:avLst/>
          </a:prstGeom>
          <a:noFill/>
          <a:ln/>
        </p:spPr>
        <p:txBody>
          <a:bodyPr wrap="square" rtlCol="0" anchor="ctr"/>
          <a:lstStyle/>
          <a:p>
            <a:pPr marL="0" indent="0" algn="ctr">
              <a:buNone/>
            </a:pPr>
            <a:r>
              <a:rPr lang="en-US" sz="1400" b="1" dirty="0">
                <a:solidFill>
                  <a:srgbClr val="0D1B2A"/>
                </a:solidFill>
              </a:rPr>
              <a:t>1</a:t>
            </a:r>
            <a:endParaRPr lang="en-US" sz="1400" dirty="0"/>
          </a:p>
        </p:txBody>
      </p:sp>
      <p:sp>
        <p:nvSpPr>
          <p:cNvPr id="7" name="Text 5"/>
          <p:cNvSpPr/>
          <p:nvPr/>
        </p:nvSpPr>
        <p:spPr>
          <a:xfrm>
            <a:off x="7315200" y="1463040"/>
            <a:ext cx="4343400" cy="292608"/>
          </a:xfrm>
          <a:prstGeom prst="rect">
            <a:avLst/>
          </a:prstGeom>
          <a:noFill/>
          <a:ln/>
        </p:spPr>
        <p:txBody>
          <a:bodyPr wrap="square" rtlCol="0" anchor="ctr"/>
          <a:lstStyle/>
          <a:p>
            <a:pPr marL="0" indent="0">
              <a:buNone/>
            </a:pPr>
            <a:r>
              <a:rPr lang="en-US" sz="1400" b="1" dirty="0">
                <a:solidFill>
                  <a:srgbClr val="FFFFFF"/>
                </a:solidFill>
              </a:rPr>
              <a:t>Confirm commercial option</a:t>
            </a:r>
            <a:endParaRPr lang="en-US" sz="1400" dirty="0"/>
          </a:p>
        </p:txBody>
      </p:sp>
      <p:sp>
        <p:nvSpPr>
          <p:cNvPr id="8" name="Text 6"/>
          <p:cNvSpPr/>
          <p:nvPr/>
        </p:nvSpPr>
        <p:spPr>
          <a:xfrm>
            <a:off x="7315200" y="1773936"/>
            <a:ext cx="4343400" cy="566928"/>
          </a:xfrm>
          <a:prstGeom prst="rect">
            <a:avLst/>
          </a:prstGeom>
          <a:noFill/>
          <a:ln/>
        </p:spPr>
        <p:txBody>
          <a:bodyPr wrap="square" rtlCol="0" anchor="ctr"/>
          <a:lstStyle/>
          <a:p>
            <a:pPr marL="0" indent="0">
              <a:lnSpc>
                <a:spcPts val="1200"/>
              </a:lnSpc>
              <a:buNone/>
            </a:pPr>
            <a:r>
              <a:rPr lang="en-US" sz="1050" dirty="0">
                <a:solidFill>
                  <a:srgbClr val="A8C5DA"/>
                </a:solidFill>
              </a:rPr>
              <a:t>Select Option A or Option B; we issue the formal SOW and agreement for signature.</a:t>
            </a:r>
            <a:endParaRPr lang="en-US" sz="1050" dirty="0"/>
          </a:p>
        </p:txBody>
      </p:sp>
      <p:sp>
        <p:nvSpPr>
          <p:cNvPr id="9" name="Shape 7"/>
          <p:cNvSpPr/>
          <p:nvPr/>
        </p:nvSpPr>
        <p:spPr>
          <a:xfrm>
            <a:off x="6766560" y="2560320"/>
            <a:ext cx="384048" cy="384048"/>
          </a:xfrm>
          <a:prstGeom prst="roundRect">
            <a:avLst>
              <a:gd name="adj" fmla="val 50000"/>
            </a:avLst>
          </a:prstGeom>
          <a:solidFill>
            <a:srgbClr val="0D9488"/>
          </a:solidFill>
          <a:ln w="12700">
            <a:solidFill>
              <a:srgbClr val="0D9488"/>
            </a:solidFill>
            <a:prstDash val="solid"/>
          </a:ln>
        </p:spPr>
      </p:sp>
      <p:sp>
        <p:nvSpPr>
          <p:cNvPr id="10" name="Text 8"/>
          <p:cNvSpPr/>
          <p:nvPr/>
        </p:nvSpPr>
        <p:spPr>
          <a:xfrm>
            <a:off x="6766560" y="2578608"/>
            <a:ext cx="384048" cy="347472"/>
          </a:xfrm>
          <a:prstGeom prst="rect">
            <a:avLst/>
          </a:prstGeom>
          <a:noFill/>
          <a:ln/>
        </p:spPr>
        <p:txBody>
          <a:bodyPr wrap="square" rtlCol="0" anchor="ctr"/>
          <a:lstStyle/>
          <a:p>
            <a:pPr marL="0" indent="0" algn="ctr">
              <a:buNone/>
            </a:pPr>
            <a:r>
              <a:rPr lang="en-US" sz="1400" b="1" dirty="0">
                <a:solidFill>
                  <a:srgbClr val="0D1B2A"/>
                </a:solidFill>
              </a:rPr>
              <a:t>2</a:t>
            </a:r>
            <a:endParaRPr lang="en-US" sz="1400" dirty="0"/>
          </a:p>
        </p:txBody>
      </p:sp>
      <p:sp>
        <p:nvSpPr>
          <p:cNvPr id="11" name="Text 9"/>
          <p:cNvSpPr/>
          <p:nvPr/>
        </p:nvSpPr>
        <p:spPr>
          <a:xfrm>
            <a:off x="7315200" y="2542032"/>
            <a:ext cx="4343400" cy="292608"/>
          </a:xfrm>
          <a:prstGeom prst="rect">
            <a:avLst/>
          </a:prstGeom>
          <a:noFill/>
          <a:ln/>
        </p:spPr>
        <p:txBody>
          <a:bodyPr wrap="square" rtlCol="0" anchor="ctr"/>
          <a:lstStyle/>
          <a:p>
            <a:pPr marL="0" indent="0">
              <a:buNone/>
            </a:pPr>
            <a:r>
              <a:rPr lang="en-US" sz="1400" b="1" dirty="0">
                <a:solidFill>
                  <a:srgbClr val="FFFFFF"/>
                </a:solidFill>
              </a:rPr>
              <a:t>Agreement template workshop</a:t>
            </a:r>
            <a:endParaRPr lang="en-US" sz="1400" dirty="0"/>
          </a:p>
        </p:txBody>
      </p:sp>
      <p:sp>
        <p:nvSpPr>
          <p:cNvPr id="12" name="Text 10"/>
          <p:cNvSpPr/>
          <p:nvPr/>
        </p:nvSpPr>
        <p:spPr>
          <a:xfrm>
            <a:off x="7315200" y="2852928"/>
            <a:ext cx="4343400" cy="566928"/>
          </a:xfrm>
          <a:prstGeom prst="rect">
            <a:avLst/>
          </a:prstGeom>
          <a:noFill/>
          <a:ln/>
        </p:spPr>
        <p:txBody>
          <a:bodyPr wrap="square" rtlCol="0" anchor="ctr"/>
          <a:lstStyle/>
          <a:p>
            <a:pPr marL="0" indent="0">
              <a:lnSpc>
                <a:spcPts val="1200"/>
              </a:lnSpc>
              <a:buNone/>
            </a:pPr>
            <a:r>
              <a:rPr lang="en-US" sz="1050" dirty="0">
                <a:solidFill>
                  <a:srgbClr val="A8C5DA"/>
                </a:solidFill>
              </a:rPr>
              <a:t>Half-day session to finalise the rental and freight data templates for bulk upload.</a:t>
            </a:r>
            <a:endParaRPr lang="en-US" sz="1050" dirty="0"/>
          </a:p>
        </p:txBody>
      </p:sp>
      <p:sp>
        <p:nvSpPr>
          <p:cNvPr id="13" name="Shape 11"/>
          <p:cNvSpPr/>
          <p:nvPr/>
        </p:nvSpPr>
        <p:spPr>
          <a:xfrm>
            <a:off x="6766560" y="3639312"/>
            <a:ext cx="384048" cy="384048"/>
          </a:xfrm>
          <a:prstGeom prst="roundRect">
            <a:avLst>
              <a:gd name="adj" fmla="val 50000"/>
            </a:avLst>
          </a:prstGeom>
          <a:solidFill>
            <a:srgbClr val="0D9488"/>
          </a:solidFill>
          <a:ln w="12700">
            <a:solidFill>
              <a:srgbClr val="0D9488"/>
            </a:solidFill>
            <a:prstDash val="solid"/>
          </a:ln>
        </p:spPr>
      </p:sp>
      <p:sp>
        <p:nvSpPr>
          <p:cNvPr id="14" name="Text 12"/>
          <p:cNvSpPr/>
          <p:nvPr/>
        </p:nvSpPr>
        <p:spPr>
          <a:xfrm>
            <a:off x="6766560" y="3657600"/>
            <a:ext cx="384048" cy="347472"/>
          </a:xfrm>
          <a:prstGeom prst="rect">
            <a:avLst/>
          </a:prstGeom>
          <a:noFill/>
          <a:ln/>
        </p:spPr>
        <p:txBody>
          <a:bodyPr wrap="square" rtlCol="0" anchor="ctr"/>
          <a:lstStyle/>
          <a:p>
            <a:pPr marL="0" indent="0" algn="ctr">
              <a:buNone/>
            </a:pPr>
            <a:r>
              <a:rPr lang="en-US" sz="1400" b="1" dirty="0">
                <a:solidFill>
                  <a:srgbClr val="0D1B2A"/>
                </a:solidFill>
              </a:rPr>
              <a:t>3</a:t>
            </a:r>
            <a:endParaRPr lang="en-US" sz="1400" dirty="0"/>
          </a:p>
        </p:txBody>
      </p:sp>
      <p:sp>
        <p:nvSpPr>
          <p:cNvPr id="15" name="Text 13"/>
          <p:cNvSpPr/>
          <p:nvPr/>
        </p:nvSpPr>
        <p:spPr>
          <a:xfrm>
            <a:off x="7315200" y="3621024"/>
            <a:ext cx="4343400" cy="292608"/>
          </a:xfrm>
          <a:prstGeom prst="rect">
            <a:avLst/>
          </a:prstGeom>
          <a:noFill/>
          <a:ln/>
        </p:spPr>
        <p:txBody>
          <a:bodyPr wrap="square" rtlCol="0" anchor="ctr"/>
          <a:lstStyle/>
          <a:p>
            <a:pPr marL="0" indent="0">
              <a:buNone/>
            </a:pPr>
            <a:r>
              <a:rPr lang="en-US" sz="1400" b="1" dirty="0">
                <a:solidFill>
                  <a:srgbClr val="FFFFFF"/>
                </a:solidFill>
              </a:rPr>
              <a:t>Security &amp; compliance review</a:t>
            </a:r>
            <a:endParaRPr lang="en-US" sz="1400" dirty="0"/>
          </a:p>
        </p:txBody>
      </p:sp>
      <p:sp>
        <p:nvSpPr>
          <p:cNvPr id="16" name="Text 14"/>
          <p:cNvSpPr/>
          <p:nvPr/>
        </p:nvSpPr>
        <p:spPr>
          <a:xfrm>
            <a:off x="7315200" y="3931920"/>
            <a:ext cx="4343400" cy="566928"/>
          </a:xfrm>
          <a:prstGeom prst="rect">
            <a:avLst/>
          </a:prstGeom>
          <a:noFill/>
          <a:ln/>
        </p:spPr>
        <p:txBody>
          <a:bodyPr wrap="square" rtlCol="0" anchor="ctr"/>
          <a:lstStyle/>
          <a:p>
            <a:pPr marL="0" indent="0">
              <a:lnSpc>
                <a:spcPts val="1200"/>
              </a:lnSpc>
              <a:buNone/>
            </a:pPr>
            <a:r>
              <a:rPr lang="en-US" sz="1050" dirty="0">
                <a:solidFill>
                  <a:srgbClr val="A8C5DA"/>
                </a:solidFill>
              </a:rPr>
              <a:t>Your InfoSec team reviews our controls posture. SOC 2 report shared on issue, as a contractual commitment.</a:t>
            </a:r>
            <a:endParaRPr lang="en-US" sz="1050" dirty="0"/>
          </a:p>
        </p:txBody>
      </p:sp>
      <p:sp>
        <p:nvSpPr>
          <p:cNvPr id="17" name="Shape 15"/>
          <p:cNvSpPr/>
          <p:nvPr/>
        </p:nvSpPr>
        <p:spPr>
          <a:xfrm>
            <a:off x="6766560" y="4718304"/>
            <a:ext cx="384048" cy="384048"/>
          </a:xfrm>
          <a:prstGeom prst="roundRect">
            <a:avLst>
              <a:gd name="adj" fmla="val 50000"/>
            </a:avLst>
          </a:prstGeom>
          <a:solidFill>
            <a:srgbClr val="0D9488"/>
          </a:solidFill>
          <a:ln w="12700">
            <a:solidFill>
              <a:srgbClr val="0D9488"/>
            </a:solidFill>
            <a:prstDash val="solid"/>
          </a:ln>
        </p:spPr>
      </p:sp>
      <p:sp>
        <p:nvSpPr>
          <p:cNvPr id="18" name="Text 16"/>
          <p:cNvSpPr/>
          <p:nvPr/>
        </p:nvSpPr>
        <p:spPr>
          <a:xfrm>
            <a:off x="6766560" y="4736592"/>
            <a:ext cx="384048" cy="347472"/>
          </a:xfrm>
          <a:prstGeom prst="rect">
            <a:avLst/>
          </a:prstGeom>
          <a:noFill/>
          <a:ln/>
        </p:spPr>
        <p:txBody>
          <a:bodyPr wrap="square" rtlCol="0" anchor="ctr"/>
          <a:lstStyle/>
          <a:p>
            <a:pPr marL="0" indent="0" algn="ctr">
              <a:buNone/>
            </a:pPr>
            <a:r>
              <a:rPr lang="en-US" sz="1400" b="1" dirty="0">
                <a:solidFill>
                  <a:srgbClr val="0D1B2A"/>
                </a:solidFill>
              </a:rPr>
              <a:t>4</a:t>
            </a:r>
            <a:endParaRPr lang="en-US" sz="1400" dirty="0"/>
          </a:p>
        </p:txBody>
      </p:sp>
      <p:sp>
        <p:nvSpPr>
          <p:cNvPr id="19" name="Text 17"/>
          <p:cNvSpPr/>
          <p:nvPr/>
        </p:nvSpPr>
        <p:spPr>
          <a:xfrm>
            <a:off x="7315200" y="4700016"/>
            <a:ext cx="4343400" cy="292608"/>
          </a:xfrm>
          <a:prstGeom prst="rect">
            <a:avLst/>
          </a:prstGeom>
          <a:noFill/>
          <a:ln/>
        </p:spPr>
        <p:txBody>
          <a:bodyPr wrap="square" rtlCol="0" anchor="ctr"/>
          <a:lstStyle/>
          <a:p>
            <a:pPr marL="0" indent="0">
              <a:buNone/>
            </a:pPr>
            <a:r>
              <a:rPr lang="en-US" sz="1400" b="1" dirty="0">
                <a:solidFill>
                  <a:srgbClr val="FFFFFF"/>
                </a:solidFill>
              </a:rPr>
              <a:t>Kick-off — Week 1</a:t>
            </a:r>
            <a:endParaRPr lang="en-US" sz="1400" dirty="0"/>
          </a:p>
        </p:txBody>
      </p:sp>
      <p:sp>
        <p:nvSpPr>
          <p:cNvPr id="20" name="Text 18"/>
          <p:cNvSpPr/>
          <p:nvPr/>
        </p:nvSpPr>
        <p:spPr>
          <a:xfrm>
            <a:off x="7315200" y="5010912"/>
            <a:ext cx="4343400" cy="566928"/>
          </a:xfrm>
          <a:prstGeom prst="rect">
            <a:avLst/>
          </a:prstGeom>
          <a:noFill/>
          <a:ln/>
        </p:spPr>
        <p:txBody>
          <a:bodyPr wrap="square" rtlCol="0" anchor="ctr"/>
          <a:lstStyle/>
          <a:p>
            <a:pPr marL="0" indent="0">
              <a:lnSpc>
                <a:spcPts val="1200"/>
              </a:lnSpc>
              <a:buNone/>
            </a:pPr>
            <a:r>
              <a:rPr lang="en-US" sz="1050" dirty="0">
                <a:solidFill>
                  <a:srgbClr val="A8C5DA"/>
                </a:solidFill>
              </a:rPr>
              <a:t>Environment provisioning, agreement template workshop and project governance established.</a:t>
            </a:r>
            <a:endParaRPr lang="en-US" sz="1050" dirty="0"/>
          </a:p>
        </p:txBody>
      </p:sp>
      <p:sp>
        <p:nvSpPr>
          <p:cNvPr id="21" name="Shape 19"/>
          <p:cNvSpPr/>
          <p:nvPr/>
        </p:nvSpPr>
        <p:spPr>
          <a:xfrm>
            <a:off x="685800" y="5943600"/>
            <a:ext cx="10927080" cy="0"/>
          </a:xfrm>
          <a:prstGeom prst="line">
            <a:avLst/>
          </a:prstGeom>
          <a:noFill/>
          <a:ln w="12700">
            <a:solidFill>
              <a:srgbClr val="1A5276"/>
            </a:solidFill>
            <a:prstDash val="solid"/>
          </a:ln>
        </p:spPr>
      </p:sp>
      <p:sp>
        <p:nvSpPr>
          <p:cNvPr id="22" name="Text 20"/>
          <p:cNvSpPr/>
          <p:nvPr/>
        </p:nvSpPr>
        <p:spPr>
          <a:xfrm>
            <a:off x="685800" y="6108192"/>
            <a:ext cx="6858000" cy="274320"/>
          </a:xfrm>
          <a:prstGeom prst="rect">
            <a:avLst/>
          </a:prstGeom>
          <a:noFill/>
          <a:ln/>
        </p:spPr>
        <p:txBody>
          <a:bodyPr wrap="square" rtlCol="0" anchor="ctr"/>
          <a:lstStyle/>
          <a:p>
            <a:pPr marL="0" indent="0">
              <a:buNone/>
            </a:pPr>
            <a:r>
              <a:rPr lang="en-US" sz="950" b="1" dirty="0">
                <a:solidFill>
                  <a:srgbClr val="0D9488"/>
                </a:solidFill>
              </a:rPr>
              <a:t>Rangan Varadan  ·  Co-founder &amp; Director  ·  +91 99801 30240  ·  rangan@billiontech.ai</a:t>
            </a:r>
            <a:endParaRPr lang="en-US" sz="950" dirty="0"/>
          </a:p>
        </p:txBody>
      </p:sp>
      <p:sp>
        <p:nvSpPr>
          <p:cNvPr id="23" name="Text 21"/>
          <p:cNvSpPr/>
          <p:nvPr/>
        </p:nvSpPr>
        <p:spPr>
          <a:xfrm>
            <a:off x="7863840" y="6108192"/>
            <a:ext cx="3749040" cy="274320"/>
          </a:xfrm>
          <a:prstGeom prst="rect">
            <a:avLst/>
          </a:prstGeom>
          <a:noFill/>
          <a:ln/>
        </p:spPr>
        <p:txBody>
          <a:bodyPr wrap="square" rtlCol="0" anchor="ctr"/>
          <a:lstStyle/>
          <a:p>
            <a:pPr marL="0" indent="0" algn="r">
              <a:buNone/>
            </a:pPr>
            <a:r>
              <a:rPr lang="en-US" sz="900" dirty="0">
                <a:solidFill>
                  <a:srgbClr val="64748B"/>
                </a:solidFill>
              </a:rPr>
              <a:t>billiontech.ai  ·  Strictly Confidential  ·  July 2026</a:t>
            </a:r>
            <a:endParaRPr lang="en-US" sz="900" dirty="0"/>
          </a:p>
        </p:txBody>
      </p:sp>
      <p:pic>
        <p:nvPicPr>
          <p:cNvPr id="24" name="Picture 23">
            <a:extLst>
              <a:ext uri="{FF2B5EF4-FFF2-40B4-BE49-F238E27FC236}">
                <a16:creationId xmlns:a16="http://schemas.microsoft.com/office/drawing/2014/main" id="{E9E38435-A1EF-FCA4-03FE-D2F25758C009}"/>
              </a:ext>
            </a:extLst>
          </p:cNvPr>
          <p:cNvPicPr>
            <a:picLocks noChangeAspect="1"/>
          </p:cNvPicPr>
          <p:nvPr/>
        </p:nvPicPr>
        <p:blipFill>
          <a:blip r:embed="rId3"/>
          <a:stretch>
            <a:fillRect/>
          </a:stretch>
        </p:blipFill>
        <p:spPr>
          <a:xfrm>
            <a:off x="753177" y="629399"/>
            <a:ext cx="2016493" cy="35670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3082</Words>
  <Application>Microsoft Office PowerPoint</Application>
  <PresentationFormat>Widescreen</PresentationFormat>
  <Paragraphs>309</Paragraphs>
  <Slides>13</Slides>
  <Notes>13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13</vt:i4>
      </vt:variant>
    </vt:vector>
  </HeadingPairs>
  <TitlesOfParts>
    <vt:vector size="15"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Rangan Varadan</cp:lastModifiedBy>
  <cp:revision>2</cp:revision>
  <dcterms:created xsi:type="dcterms:W3CDTF">2026-07-13T12:19:42Z</dcterms:created>
  <dcterms:modified xsi:type="dcterms:W3CDTF">2026-07-13T12:33:10Z</dcterms:modified>
</cp:coreProperties>
</file>